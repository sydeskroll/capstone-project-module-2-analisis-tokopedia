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Nunito Sans" charset="1" panose="00000500000000000000"/>
      <p:regular r:id="rId19"/>
    </p:embeddedFont>
    <p:embeddedFont>
      <p:font typeface="Nunito Sans Bold" charset="1" panose="00000800000000000000"/>
      <p:regular r:id="rId20"/>
    </p:embeddedFont>
    <p:embeddedFont>
      <p:font typeface="Arimo Bold" charset="1" panose="020B0704020202020204"/>
      <p:regular r:id="rId21"/>
    </p:embeddedFont>
    <p:embeddedFont>
      <p:font typeface="Arimo" charset="1" panose="020B0604020202020204"/>
      <p:regular r:id="rId22"/>
    </p:embeddedFont>
    <p:embeddedFont>
      <p:font typeface="Arimo Italics" charset="1" panose="020B0604020202090204"/>
      <p:regular r:id="rId23"/>
    </p:embeddedFont>
    <p:embeddedFont>
      <p:font typeface="DM Sans Bold" charset="1" panose="00000000000000000000"/>
      <p:regular r:id="rId24"/>
    </p:embeddedFont>
    <p:embeddedFont>
      <p:font typeface="DM Sans" charset="1" panose="00000000000000000000"/>
      <p:regular r:id="rId25"/>
    </p:embeddedFont>
    <p:embeddedFont>
      <p:font typeface="Nunito Sans Expanded Bold" charset="1" panose="00000000000000000000"/>
      <p:regular r:id="rId26"/>
    </p:embeddedFont>
    <p:embeddedFont>
      <p:font typeface="Nunito Sans Expanded" charset="1" panose="00000000000000000000"/>
      <p:regular r:id="rId27"/>
    </p:embeddedFont>
    <p:embeddedFont>
      <p:font typeface="Nunito Bold" charset="1" panose="00000000000000000000"/>
      <p:regular r:id="rId28"/>
    </p:embeddedFont>
    <p:embeddedFont>
      <p:font typeface="Nunito" charset="1" panose="00000000000000000000"/>
      <p:regular r:id="rId29"/>
    </p:embeddedFont>
    <p:embeddedFont>
      <p:font typeface="Lexend Mega" charset="1" panose="00000000000000000000"/>
      <p:regular r:id="rId30"/>
    </p:embeddedFont>
    <p:embeddedFont>
      <p:font typeface="Lexend Deca" charset="1" panose="000000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png" Type="http://schemas.openxmlformats.org/officeDocument/2006/relationships/image"/><Relationship Id="rId12" Target="../media/image14.png" Type="http://schemas.openxmlformats.org/officeDocument/2006/relationships/image"/><Relationship Id="rId13" Target="../media/image15.png" Type="http://schemas.openxmlformats.org/officeDocument/2006/relationships/image"/><Relationship Id="rId14" Target="../media/image16.png" Type="http://schemas.openxmlformats.org/officeDocument/2006/relationships/image"/><Relationship Id="rId15" Target="../media/image17.png" Type="http://schemas.openxmlformats.org/officeDocument/2006/relationships/image"/><Relationship Id="rId16" Target="../media/image18.png" Type="http://schemas.openxmlformats.org/officeDocument/2006/relationships/image"/><Relationship Id="rId17" Target="../media/image19.png" Type="http://schemas.openxmlformats.org/officeDocument/2006/relationships/image"/><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3.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png" Type="http://schemas.openxmlformats.org/officeDocument/2006/relationships/image"/><Relationship Id="rId12" Target="../media/image29.png" Type="http://schemas.openxmlformats.org/officeDocument/2006/relationships/image"/><Relationship Id="rId13" Target="../media/image30.png" Type="http://schemas.openxmlformats.org/officeDocument/2006/relationships/image"/><Relationship Id="rId14" Target="../media/image31.png" Type="http://schemas.openxmlformats.org/officeDocument/2006/relationships/image"/><Relationship Id="rId15" Target="../media/image32.png" Type="http://schemas.openxmlformats.org/officeDocument/2006/relationships/image"/><Relationship Id="rId16" Target="../media/image33.png" Type="http://schemas.openxmlformats.org/officeDocument/2006/relationships/image"/><Relationship Id="rId17" Target="../media/image34.png" Type="http://schemas.openxmlformats.org/officeDocument/2006/relationships/image"/><Relationship Id="rId18" Target="../media/image35.png" Type="http://schemas.openxmlformats.org/officeDocument/2006/relationships/image"/><Relationship Id="rId19" Target="../media/image36.png" Type="http://schemas.openxmlformats.org/officeDocument/2006/relationships/image"/><Relationship Id="rId2" Target="../media/image20.png" Type="http://schemas.openxmlformats.org/officeDocument/2006/relationships/image"/><Relationship Id="rId20" Target="../media/image37.png" Type="http://schemas.openxmlformats.org/officeDocument/2006/relationships/image"/><Relationship Id="rId21" Target="../media/image38.png" Type="http://schemas.openxmlformats.org/officeDocument/2006/relationships/image"/><Relationship Id="rId22" Target="../media/image39.png" Type="http://schemas.openxmlformats.org/officeDocument/2006/relationships/image"/><Relationship Id="rId23" Target="../media/image40.png" Type="http://schemas.openxmlformats.org/officeDocument/2006/relationships/image"/><Relationship Id="rId24" Target="../media/image41.png" Type="http://schemas.openxmlformats.org/officeDocument/2006/relationships/image"/><Relationship Id="rId25" Target="../media/image42.png" Type="http://schemas.openxmlformats.org/officeDocument/2006/relationships/image"/><Relationship Id="rId26" Target="../media/image43.png" Type="http://schemas.openxmlformats.org/officeDocument/2006/relationships/image"/><Relationship Id="rId27" Target="../media/image44.png" Type="http://schemas.openxmlformats.org/officeDocument/2006/relationships/image"/><Relationship Id="rId28" Target="../media/image45.png" Type="http://schemas.openxmlformats.org/officeDocument/2006/relationships/image"/><Relationship Id="rId29" Target="../media/image46.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media/image3.png" Type="http://schemas.openxmlformats.org/officeDocument/2006/relationships/image"/><Relationship Id="rId9" Target="../media/image2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png" Type="http://schemas.openxmlformats.org/officeDocument/2006/relationships/image"/><Relationship Id="rId11" Target="../media/image59.png" Type="http://schemas.openxmlformats.org/officeDocument/2006/relationships/image"/><Relationship Id="rId12" Target="../media/image60.png" Type="http://schemas.openxmlformats.org/officeDocument/2006/relationships/image"/><Relationship Id="rId13" Target="../media/image61.png" Type="http://schemas.openxmlformats.org/officeDocument/2006/relationships/image"/><Relationship Id="rId14" Target="../media/image62.png" Type="http://schemas.openxmlformats.org/officeDocument/2006/relationships/image"/><Relationship Id="rId15" Target="../media/image63.png" Type="http://schemas.openxmlformats.org/officeDocument/2006/relationships/image"/><Relationship Id="rId16" Target="../media/image64.png" Type="http://schemas.openxmlformats.org/officeDocument/2006/relationships/image"/><Relationship Id="rId17" Target="../media/image65.png" Type="http://schemas.openxmlformats.org/officeDocument/2006/relationships/image"/><Relationship Id="rId18" Target="../media/image66.png" Type="http://schemas.openxmlformats.org/officeDocument/2006/relationships/image"/><Relationship Id="rId19" Target="../media/image67.png" Type="http://schemas.openxmlformats.org/officeDocument/2006/relationships/image"/><Relationship Id="rId2" Target="../media/image50.jpeg" Type="http://schemas.openxmlformats.org/officeDocument/2006/relationships/image"/><Relationship Id="rId20" Target="../media/image68.png" Type="http://schemas.openxmlformats.org/officeDocument/2006/relationships/image"/><Relationship Id="rId21" Target="../media/image69.png" Type="http://schemas.openxmlformats.org/officeDocument/2006/relationships/image"/><Relationship Id="rId22" Target="../media/image70.png" Type="http://schemas.openxmlformats.org/officeDocument/2006/relationships/image"/><Relationship Id="rId23" Target="../media/image71.png" Type="http://schemas.openxmlformats.org/officeDocument/2006/relationships/image"/><Relationship Id="rId24" Target="../media/image72.png" Type="http://schemas.openxmlformats.org/officeDocument/2006/relationships/image"/><Relationship Id="rId25" Target="../media/image73.png" Type="http://schemas.openxmlformats.org/officeDocument/2006/relationships/image"/><Relationship Id="rId26" Target="../media/image74.png" Type="http://schemas.openxmlformats.org/officeDocument/2006/relationships/image"/><Relationship Id="rId27" Target="../media/image75.png" Type="http://schemas.openxmlformats.org/officeDocument/2006/relationships/image"/><Relationship Id="rId28" Target="../media/image76.png" Type="http://schemas.openxmlformats.org/officeDocument/2006/relationships/image"/><Relationship Id="rId29" Target="../media/image77.png" Type="http://schemas.openxmlformats.org/officeDocument/2006/relationships/image"/><Relationship Id="rId3" Target="../media/image51.png" Type="http://schemas.openxmlformats.org/officeDocument/2006/relationships/image"/><Relationship Id="rId30" Target="../media/image78.png" Type="http://schemas.openxmlformats.org/officeDocument/2006/relationships/image"/><Relationship Id="rId4" Target="../media/image52.png" Type="http://schemas.openxmlformats.org/officeDocument/2006/relationships/image"/><Relationship Id="rId5" Target="../media/image53.png" Type="http://schemas.openxmlformats.org/officeDocument/2006/relationships/image"/><Relationship Id="rId6" Target="../media/image54.png" Type="http://schemas.openxmlformats.org/officeDocument/2006/relationships/image"/><Relationship Id="rId7" Target="../media/image55.png" Type="http://schemas.openxmlformats.org/officeDocument/2006/relationships/image"/><Relationship Id="rId8" Target="../media/image56.png" Type="http://schemas.openxmlformats.org/officeDocument/2006/relationships/image"/><Relationship Id="rId9" Target="../media/image5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9.png" Type="http://schemas.openxmlformats.org/officeDocument/2006/relationships/image"/><Relationship Id="rId3" Target="../media/image8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1.png" Type="http://schemas.openxmlformats.org/officeDocument/2006/relationships/image"/><Relationship Id="rId3" Target="../media/image8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1.png" Type="http://schemas.openxmlformats.org/officeDocument/2006/relationships/image"/><Relationship Id="rId11" Target="../media/image92.png" Type="http://schemas.openxmlformats.org/officeDocument/2006/relationships/image"/><Relationship Id="rId12" Target="../media/image93.png" Type="http://schemas.openxmlformats.org/officeDocument/2006/relationships/image"/><Relationship Id="rId13" Target="../media/image94.png" Type="http://schemas.openxmlformats.org/officeDocument/2006/relationships/image"/><Relationship Id="rId14" Target="../media/image95.png" Type="http://schemas.openxmlformats.org/officeDocument/2006/relationships/image"/><Relationship Id="rId15" Target="../media/image96.png" Type="http://schemas.openxmlformats.org/officeDocument/2006/relationships/image"/><Relationship Id="rId16" Target="../media/image97.png" Type="http://schemas.openxmlformats.org/officeDocument/2006/relationships/image"/><Relationship Id="rId17" Target="../media/image98.png" Type="http://schemas.openxmlformats.org/officeDocument/2006/relationships/image"/><Relationship Id="rId18" Target="../media/image99.png" Type="http://schemas.openxmlformats.org/officeDocument/2006/relationships/image"/><Relationship Id="rId19" Target="../media/image100.png" Type="http://schemas.openxmlformats.org/officeDocument/2006/relationships/image"/><Relationship Id="rId2" Target="../media/image83.png" Type="http://schemas.openxmlformats.org/officeDocument/2006/relationships/image"/><Relationship Id="rId20" Target="../media/image101.png" Type="http://schemas.openxmlformats.org/officeDocument/2006/relationships/image"/><Relationship Id="rId21" Target="../media/image102.png" Type="http://schemas.openxmlformats.org/officeDocument/2006/relationships/image"/><Relationship Id="rId22" Target="../media/image103.png" Type="http://schemas.openxmlformats.org/officeDocument/2006/relationships/image"/><Relationship Id="rId23" Target="../media/image104.png" Type="http://schemas.openxmlformats.org/officeDocument/2006/relationships/image"/><Relationship Id="rId24" Target="../media/image105.png" Type="http://schemas.openxmlformats.org/officeDocument/2006/relationships/image"/><Relationship Id="rId25" Target="../media/image106.png" Type="http://schemas.openxmlformats.org/officeDocument/2006/relationships/image"/><Relationship Id="rId26" Target="../media/image107.png" Type="http://schemas.openxmlformats.org/officeDocument/2006/relationships/image"/><Relationship Id="rId3" Target="../media/image84.png" Type="http://schemas.openxmlformats.org/officeDocument/2006/relationships/image"/><Relationship Id="rId4" Target="../media/image85.png" Type="http://schemas.openxmlformats.org/officeDocument/2006/relationships/image"/><Relationship Id="rId5" Target="../media/image86.png" Type="http://schemas.openxmlformats.org/officeDocument/2006/relationships/image"/><Relationship Id="rId6" Target="../media/image87.png" Type="http://schemas.openxmlformats.org/officeDocument/2006/relationships/image"/><Relationship Id="rId7" Target="../media/image88.png" Type="http://schemas.openxmlformats.org/officeDocument/2006/relationships/image"/><Relationship Id="rId8" Target="../media/image89.png" Type="http://schemas.openxmlformats.org/officeDocument/2006/relationships/image"/><Relationship Id="rId9" Target="../media/image9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6.png" Type="http://schemas.openxmlformats.org/officeDocument/2006/relationships/image"/><Relationship Id="rId11" Target="../media/image117.png" Type="http://schemas.openxmlformats.org/officeDocument/2006/relationships/image"/><Relationship Id="rId12" Target="../media/image118.png" Type="http://schemas.openxmlformats.org/officeDocument/2006/relationships/image"/><Relationship Id="rId13" Target="../media/image119.png" Type="http://schemas.openxmlformats.org/officeDocument/2006/relationships/image"/><Relationship Id="rId14" Target="../media/image120.png" Type="http://schemas.openxmlformats.org/officeDocument/2006/relationships/image"/><Relationship Id="rId15" Target="../media/image121.png" Type="http://schemas.openxmlformats.org/officeDocument/2006/relationships/image"/><Relationship Id="rId2" Target="../media/image108.png" Type="http://schemas.openxmlformats.org/officeDocument/2006/relationships/image"/><Relationship Id="rId3" Target="../media/image109.png" Type="http://schemas.openxmlformats.org/officeDocument/2006/relationships/image"/><Relationship Id="rId4" Target="../media/image110.png" Type="http://schemas.openxmlformats.org/officeDocument/2006/relationships/image"/><Relationship Id="rId5" Target="../media/image111.png" Type="http://schemas.openxmlformats.org/officeDocument/2006/relationships/image"/><Relationship Id="rId6" Target="../media/image112.png" Type="http://schemas.openxmlformats.org/officeDocument/2006/relationships/image"/><Relationship Id="rId7" Target="../media/image113.png" Type="http://schemas.openxmlformats.org/officeDocument/2006/relationships/image"/><Relationship Id="rId8" Target="../media/image114.png" Type="http://schemas.openxmlformats.org/officeDocument/2006/relationships/image"/><Relationship Id="rId9" Target="../media/image1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2.png" Type="http://schemas.openxmlformats.org/officeDocument/2006/relationships/image"/><Relationship Id="rId3" Target="../media/image123.png" Type="http://schemas.openxmlformats.org/officeDocument/2006/relationships/image"/><Relationship Id="rId4" Target="../media/image124.png" Type="http://schemas.openxmlformats.org/officeDocument/2006/relationships/image"/><Relationship Id="rId5" Target="../media/image125.png" Type="http://schemas.openxmlformats.org/officeDocument/2006/relationships/image"/><Relationship Id="rId6" Target="../media/image126.png" Type="http://schemas.openxmlformats.org/officeDocument/2006/relationships/image"/><Relationship Id="rId7" Target="../media/image127.png" Type="http://schemas.openxmlformats.org/officeDocument/2006/relationships/image"/><Relationship Id="rId8"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0"/>
            <a:ext cx="1962150" cy="10287000"/>
          </a:xfrm>
          <a:custGeom>
            <a:avLst/>
            <a:gdLst/>
            <a:ahLst/>
            <a:cxnLst/>
            <a:rect r="r" b="b" t="t" l="l"/>
            <a:pathLst>
              <a:path h="10287000" w="1962150">
                <a:moveTo>
                  <a:pt x="0" y="0"/>
                </a:moveTo>
                <a:lnTo>
                  <a:pt x="1962150" y="0"/>
                </a:lnTo>
                <a:lnTo>
                  <a:pt x="1962150" y="10287000"/>
                </a:lnTo>
                <a:lnTo>
                  <a:pt x="0" y="10287000"/>
                </a:lnTo>
                <a:lnTo>
                  <a:pt x="0" y="0"/>
                </a:lnTo>
                <a:close/>
              </a:path>
            </a:pathLst>
          </a:custGeom>
          <a:blipFill>
            <a:blip r:embed="rId3"/>
            <a:stretch>
              <a:fillRect l="0" t="0" r="0" b="0"/>
            </a:stretch>
          </a:blipFill>
        </p:spPr>
      </p:sp>
      <p:sp>
        <p:nvSpPr>
          <p:cNvPr name="TextBox 4" id="4"/>
          <p:cNvSpPr txBox="true"/>
          <p:nvPr/>
        </p:nvSpPr>
        <p:spPr>
          <a:xfrm rot="0">
            <a:off x="1920240" y="2134933"/>
            <a:ext cx="6711696" cy="289560"/>
          </a:xfrm>
          <a:prstGeom prst="rect">
            <a:avLst/>
          </a:prstGeom>
        </p:spPr>
        <p:txBody>
          <a:bodyPr anchor="t" rtlCol="false" tIns="0" lIns="0" bIns="0" rIns="0">
            <a:spAutoFit/>
          </a:bodyPr>
          <a:lstStyle/>
          <a:p>
            <a:pPr algn="l">
              <a:lnSpc>
                <a:spcPts val="2415"/>
              </a:lnSpc>
            </a:pPr>
            <a:r>
              <a:rPr lang="en-US" sz="1725" spc="276">
                <a:solidFill>
                  <a:srgbClr val="157A21"/>
                </a:solidFill>
                <a:latin typeface="Nunito Sans"/>
                <a:ea typeface="Nunito Sans"/>
                <a:cs typeface="Nunito Sans"/>
                <a:sym typeface="Nunito Sans"/>
              </a:rPr>
              <a:t>TOKOPEDIA • GROWTH &amp; MARGIN OPTIMIZATION</a:t>
            </a:r>
          </a:p>
        </p:txBody>
      </p:sp>
      <p:sp>
        <p:nvSpPr>
          <p:cNvPr name="TextBox 5" id="5"/>
          <p:cNvSpPr txBox="true"/>
          <p:nvPr/>
        </p:nvSpPr>
        <p:spPr>
          <a:xfrm rot="0">
            <a:off x="1920240" y="3217355"/>
            <a:ext cx="9052560" cy="1857375"/>
          </a:xfrm>
          <a:prstGeom prst="rect">
            <a:avLst/>
          </a:prstGeom>
        </p:spPr>
        <p:txBody>
          <a:bodyPr anchor="t" rtlCol="false" tIns="0" lIns="0" bIns="0" rIns="0">
            <a:spAutoFit/>
          </a:bodyPr>
          <a:lstStyle/>
          <a:p>
            <a:pPr algn="l">
              <a:lnSpc>
                <a:spcPts val="7327"/>
              </a:lnSpc>
            </a:pPr>
            <a:r>
              <a:rPr lang="en-US" sz="6106" b="true">
                <a:solidFill>
                  <a:srgbClr val="157A21"/>
                </a:solidFill>
                <a:latin typeface="Nunito Sans Bold"/>
                <a:ea typeface="Nunito Sans Bold"/>
                <a:cs typeface="Nunito Sans Bold"/>
                <a:sym typeface="Nunito Sans Bold"/>
              </a:rPr>
              <a:t>Strategi Pertumbuhan &amp; Profitabilitas Tokopedia:</a:t>
            </a:r>
          </a:p>
        </p:txBody>
      </p:sp>
      <p:sp>
        <p:nvSpPr>
          <p:cNvPr name="TextBox 6" id="6"/>
          <p:cNvSpPr txBox="true"/>
          <p:nvPr/>
        </p:nvSpPr>
        <p:spPr>
          <a:xfrm rot="0">
            <a:off x="1920240" y="5239682"/>
            <a:ext cx="6345936" cy="438954"/>
          </a:xfrm>
          <a:prstGeom prst="rect">
            <a:avLst/>
          </a:prstGeom>
        </p:spPr>
        <p:txBody>
          <a:bodyPr anchor="t" rtlCol="false" tIns="0" lIns="0" bIns="0" rIns="0">
            <a:spAutoFit/>
          </a:bodyPr>
          <a:lstStyle/>
          <a:p>
            <a:pPr algn="l">
              <a:lnSpc>
                <a:spcPts val="3630"/>
              </a:lnSpc>
            </a:pPr>
            <a:r>
              <a:rPr lang="en-US" sz="2593">
                <a:solidFill>
                  <a:srgbClr val="363636"/>
                </a:solidFill>
                <a:latin typeface="Nunito Sans"/>
                <a:ea typeface="Nunito Sans"/>
                <a:cs typeface="Nunito Sans"/>
                <a:sym typeface="Nunito Sans"/>
              </a:rPr>
              <a:t>Unit Economics, Retensi, dan SLA Logistik</a:t>
            </a:r>
          </a:p>
        </p:txBody>
      </p:sp>
      <p:sp>
        <p:nvSpPr>
          <p:cNvPr name="TextBox 7" id="7"/>
          <p:cNvSpPr txBox="true"/>
          <p:nvPr/>
        </p:nvSpPr>
        <p:spPr>
          <a:xfrm rot="0">
            <a:off x="1975104" y="7994431"/>
            <a:ext cx="1883664" cy="339656"/>
          </a:xfrm>
          <a:prstGeom prst="rect">
            <a:avLst/>
          </a:prstGeom>
        </p:spPr>
        <p:txBody>
          <a:bodyPr anchor="t" rtlCol="false" tIns="0" lIns="0" bIns="0" rIns="0">
            <a:spAutoFit/>
          </a:bodyPr>
          <a:lstStyle/>
          <a:p>
            <a:pPr algn="l">
              <a:lnSpc>
                <a:spcPts val="2803"/>
              </a:lnSpc>
            </a:pPr>
            <a:r>
              <a:rPr lang="en-US" sz="2002">
                <a:solidFill>
                  <a:srgbClr val="157A21"/>
                </a:solidFill>
                <a:latin typeface="Nunito Sans"/>
                <a:ea typeface="Nunito Sans"/>
                <a:cs typeface="Nunito Sans"/>
                <a:sym typeface="Nunito Sans"/>
              </a:rPr>
              <a:t>Firman Christian</a:t>
            </a:r>
          </a:p>
        </p:txBody>
      </p:sp>
      <p:sp>
        <p:nvSpPr>
          <p:cNvPr name="TextBox 8" id="8"/>
          <p:cNvSpPr txBox="true"/>
          <p:nvPr/>
        </p:nvSpPr>
        <p:spPr>
          <a:xfrm rot="0">
            <a:off x="1975104" y="8360610"/>
            <a:ext cx="5120640" cy="595610"/>
          </a:xfrm>
          <a:prstGeom prst="rect">
            <a:avLst/>
          </a:prstGeom>
        </p:spPr>
        <p:txBody>
          <a:bodyPr anchor="t" rtlCol="false" tIns="0" lIns="0" bIns="0" rIns="0">
            <a:spAutoFit/>
          </a:bodyPr>
          <a:lstStyle/>
          <a:p>
            <a:pPr algn="l">
              <a:lnSpc>
                <a:spcPts val="2425"/>
              </a:lnSpc>
            </a:pPr>
            <a:r>
              <a:rPr lang="en-US" sz="1617">
                <a:solidFill>
                  <a:srgbClr val="363636"/>
                </a:solidFill>
                <a:latin typeface="Nunito Sans"/>
                <a:ea typeface="Nunito Sans"/>
                <a:cs typeface="Nunito Sans"/>
                <a:sym typeface="Nunito Sans"/>
              </a:rPr>
              <a:t>JCDSAHSK-006 -  Purwadhika Digital Technology School</a:t>
            </a:r>
          </a:p>
        </p:txBody>
      </p:sp>
      <p:sp>
        <p:nvSpPr>
          <p:cNvPr name="Freeform 9" id="9"/>
          <p:cNvSpPr/>
          <p:nvPr/>
        </p:nvSpPr>
        <p:spPr>
          <a:xfrm flipH="false" flipV="false" rot="0">
            <a:off x="13277850" y="1741962"/>
            <a:ext cx="3276600" cy="3802702"/>
          </a:xfrm>
          <a:custGeom>
            <a:avLst/>
            <a:gdLst/>
            <a:ahLst/>
            <a:cxnLst/>
            <a:rect r="r" b="b" t="t" l="l"/>
            <a:pathLst>
              <a:path h="3802702" w="3276600">
                <a:moveTo>
                  <a:pt x="0" y="0"/>
                </a:moveTo>
                <a:lnTo>
                  <a:pt x="3276600" y="0"/>
                </a:lnTo>
                <a:lnTo>
                  <a:pt x="3276600" y="3802701"/>
                </a:lnTo>
                <a:lnTo>
                  <a:pt x="0" y="3802701"/>
                </a:lnTo>
                <a:lnTo>
                  <a:pt x="0" y="0"/>
                </a:lnTo>
                <a:close/>
              </a:path>
            </a:pathLst>
          </a:custGeom>
          <a:blipFill>
            <a:blip r:embed="rId4"/>
            <a:stretch>
              <a:fillRect l="-15774" t="-15048" r="-12112" b="-18203"/>
            </a:stretch>
          </a:blipFill>
        </p:spPr>
      </p:sp>
      <p:sp>
        <p:nvSpPr>
          <p:cNvPr name="TextBox 10" id="10"/>
          <p:cNvSpPr txBox="true"/>
          <p:nvPr/>
        </p:nvSpPr>
        <p:spPr>
          <a:xfrm rot="0">
            <a:off x="14282928" y="9131695"/>
            <a:ext cx="2359152" cy="670024"/>
          </a:xfrm>
          <a:prstGeom prst="rect">
            <a:avLst/>
          </a:prstGeom>
        </p:spPr>
        <p:txBody>
          <a:bodyPr anchor="t" rtlCol="false" tIns="0" lIns="0" bIns="0" rIns="0">
            <a:spAutoFit/>
          </a:bodyPr>
          <a:lstStyle/>
          <a:p>
            <a:pPr algn="ctr">
              <a:lnSpc>
                <a:spcPts val="5594"/>
              </a:lnSpc>
            </a:pPr>
            <a:r>
              <a:rPr lang="en-US" sz="3996">
                <a:solidFill>
                  <a:srgbClr val="157A21"/>
                </a:solidFill>
                <a:latin typeface="Nunito Sans"/>
                <a:ea typeface="Nunito Sans"/>
                <a:cs typeface="Nunito Sans"/>
                <a:sym typeface="Nunito Sans"/>
              </a:rPr>
              <a:t>tokopedia</a:t>
            </a:r>
          </a:p>
        </p:txBody>
      </p:sp>
      <p:sp>
        <p:nvSpPr>
          <p:cNvPr name="TextBox 11" id="11"/>
          <p:cNvSpPr txBox="true"/>
          <p:nvPr/>
        </p:nvSpPr>
        <p:spPr>
          <a:xfrm rot="0">
            <a:off x="17263872" y="9807232"/>
            <a:ext cx="182880" cy="188773"/>
          </a:xfrm>
          <a:prstGeom prst="rect">
            <a:avLst/>
          </a:prstGeom>
        </p:spPr>
        <p:txBody>
          <a:bodyPr anchor="t" rtlCol="false" tIns="0" lIns="0" bIns="0" rIns="0">
            <a:spAutoFit/>
          </a:bodyPr>
          <a:lstStyle/>
          <a:p>
            <a:pPr algn="r">
              <a:lnSpc>
                <a:spcPts val="1670"/>
              </a:lnSpc>
            </a:pPr>
            <a:r>
              <a:rPr lang="en-US" sz="1192">
                <a:solidFill>
                  <a:srgbClr val="363636"/>
                </a:solidFill>
                <a:latin typeface="Nunito Sans"/>
                <a:ea typeface="Nunito Sans"/>
                <a:cs typeface="Nunito Sans"/>
                <a:sym typeface="Nunito Sans"/>
              </a:rPr>
              <a:t>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FF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76200"/>
            <a:chOff x="0" y="0"/>
            <a:chExt cx="24384000" cy="101600"/>
          </a:xfrm>
        </p:grpSpPr>
        <p:sp>
          <p:nvSpPr>
            <p:cNvPr name="Freeform 3" id="3"/>
            <p:cNvSpPr/>
            <p:nvPr/>
          </p:nvSpPr>
          <p:spPr>
            <a:xfrm flipH="false" flipV="false" rot="0">
              <a:off x="0" y="0"/>
              <a:ext cx="24384000" cy="101600"/>
            </a:xfrm>
            <a:custGeom>
              <a:avLst/>
              <a:gdLst/>
              <a:ahLst/>
              <a:cxnLst/>
              <a:rect r="r" b="b" t="t" l="l"/>
              <a:pathLst>
                <a:path h="101600" w="24384000">
                  <a:moveTo>
                    <a:pt x="0" y="0"/>
                  </a:moveTo>
                  <a:lnTo>
                    <a:pt x="24384000" y="0"/>
                  </a:lnTo>
                  <a:lnTo>
                    <a:pt x="24384000" y="101600"/>
                  </a:lnTo>
                  <a:lnTo>
                    <a:pt x="0" y="101600"/>
                  </a:lnTo>
                  <a:close/>
                </a:path>
              </a:pathLst>
            </a:custGeom>
            <a:solidFill>
              <a:srgbClr val="03AC0E"/>
            </a:solidFill>
          </p:spPr>
        </p:sp>
        <p:sp>
          <p:nvSpPr>
            <p:cNvPr name="TextBox 4" id="4"/>
            <p:cNvSpPr txBox="true"/>
            <p:nvPr/>
          </p:nvSpPr>
          <p:spPr>
            <a:xfrm>
              <a:off x="0" y="-38100"/>
              <a:ext cx="24384000" cy="139700"/>
            </a:xfrm>
            <a:prstGeom prst="rect">
              <a:avLst/>
            </a:prstGeom>
          </p:spPr>
          <p:txBody>
            <a:bodyPr anchor="ctr" rtlCol="false" tIns="50800" lIns="50800" bIns="50800" rIns="50800"/>
            <a:lstStyle/>
            <a:p>
              <a:pPr algn="l">
                <a:lnSpc>
                  <a:spcPts val="1679"/>
                </a:lnSpc>
              </a:pPr>
            </a:p>
          </p:txBody>
        </p:sp>
      </p:grpSp>
      <p:sp>
        <p:nvSpPr>
          <p:cNvPr name="Freeform 5" id="5"/>
          <p:cNvSpPr/>
          <p:nvPr/>
        </p:nvSpPr>
        <p:spPr>
          <a:xfrm flipH="false" flipV="false" rot="0">
            <a:off x="15906750" y="381000"/>
            <a:ext cx="1714500" cy="381000"/>
          </a:xfrm>
          <a:custGeom>
            <a:avLst/>
            <a:gdLst/>
            <a:ahLst/>
            <a:cxnLst/>
            <a:rect r="r" b="b" t="t" l="l"/>
            <a:pathLst>
              <a:path h="381000" w="1714500">
                <a:moveTo>
                  <a:pt x="0" y="0"/>
                </a:moveTo>
                <a:lnTo>
                  <a:pt x="1714500" y="0"/>
                </a:lnTo>
                <a:lnTo>
                  <a:pt x="1714500" y="381000"/>
                </a:lnTo>
                <a:lnTo>
                  <a:pt x="0" y="381000"/>
                </a:lnTo>
                <a:lnTo>
                  <a:pt x="0" y="0"/>
                </a:lnTo>
                <a:close/>
              </a:path>
            </a:pathLst>
          </a:custGeom>
          <a:blipFill>
            <a:blip r:embed="rId2"/>
            <a:stretch>
              <a:fillRect l="-793" t="0" r="-793" b="0"/>
            </a:stretch>
          </a:blipFill>
        </p:spPr>
      </p:sp>
      <p:sp>
        <p:nvSpPr>
          <p:cNvPr name="TextBox 6" id="6"/>
          <p:cNvSpPr txBox="true"/>
          <p:nvPr/>
        </p:nvSpPr>
        <p:spPr>
          <a:xfrm rot="0">
            <a:off x="952500" y="876300"/>
            <a:ext cx="9525000" cy="910590"/>
          </a:xfrm>
          <a:prstGeom prst="rect">
            <a:avLst/>
          </a:prstGeom>
        </p:spPr>
        <p:txBody>
          <a:bodyPr anchor="t" rtlCol="false" tIns="0" lIns="0" bIns="0" rIns="0">
            <a:spAutoFit/>
          </a:bodyPr>
          <a:lstStyle/>
          <a:p>
            <a:pPr algn="l">
              <a:lnSpc>
                <a:spcPts val="7559"/>
              </a:lnSpc>
            </a:pPr>
            <a:r>
              <a:rPr lang="en-US" sz="5400" b="true">
                <a:solidFill>
                  <a:srgbClr val="03AC0E"/>
                </a:solidFill>
                <a:latin typeface="Nunito Sans Bold"/>
                <a:ea typeface="Nunito Sans Bold"/>
                <a:cs typeface="Nunito Sans Bold"/>
                <a:sym typeface="Nunito Sans Bold"/>
              </a:rPr>
              <a:t>Daftar Isi</a:t>
            </a:r>
          </a:p>
        </p:txBody>
      </p:sp>
      <p:grpSp>
        <p:nvGrpSpPr>
          <p:cNvPr name="Group 7" id="7"/>
          <p:cNvGrpSpPr/>
          <p:nvPr/>
        </p:nvGrpSpPr>
        <p:grpSpPr>
          <a:xfrm rot="0">
            <a:off x="952500" y="1847850"/>
            <a:ext cx="16383000" cy="19050"/>
            <a:chOff x="0" y="0"/>
            <a:chExt cx="21844000" cy="25400"/>
          </a:xfrm>
        </p:grpSpPr>
        <p:sp>
          <p:nvSpPr>
            <p:cNvPr name="Freeform 8" id="8"/>
            <p:cNvSpPr/>
            <p:nvPr/>
          </p:nvSpPr>
          <p:spPr>
            <a:xfrm flipH="false" flipV="false" rot="0">
              <a:off x="0" y="0"/>
              <a:ext cx="21844000" cy="25400"/>
            </a:xfrm>
            <a:custGeom>
              <a:avLst/>
              <a:gdLst/>
              <a:ahLst/>
              <a:cxnLst/>
              <a:rect r="r" b="b" t="t" l="l"/>
              <a:pathLst>
                <a:path h="25400" w="21844000">
                  <a:moveTo>
                    <a:pt x="0" y="0"/>
                  </a:moveTo>
                  <a:lnTo>
                    <a:pt x="21844000" y="0"/>
                  </a:lnTo>
                  <a:lnTo>
                    <a:pt x="21844000" y="25400"/>
                  </a:lnTo>
                  <a:lnTo>
                    <a:pt x="0" y="25400"/>
                  </a:lnTo>
                  <a:close/>
                </a:path>
              </a:pathLst>
            </a:custGeom>
            <a:solidFill>
              <a:srgbClr val="80EB93"/>
            </a:solidFill>
          </p:spPr>
        </p:sp>
        <p:sp>
          <p:nvSpPr>
            <p:cNvPr name="TextBox 9" id="9"/>
            <p:cNvSpPr txBox="true"/>
            <p:nvPr/>
          </p:nvSpPr>
          <p:spPr>
            <a:xfrm>
              <a:off x="0" y="-38100"/>
              <a:ext cx="21844000" cy="635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952500" y="2752725"/>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01</a:t>
            </a:r>
          </a:p>
        </p:txBody>
      </p:sp>
      <p:sp>
        <p:nvSpPr>
          <p:cNvPr name="TextBox 11" id="11"/>
          <p:cNvSpPr txBox="true"/>
          <p:nvPr/>
        </p:nvSpPr>
        <p:spPr>
          <a:xfrm rot="0">
            <a:off x="1790700" y="2771775"/>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Business Understanding</a:t>
            </a:r>
          </a:p>
        </p:txBody>
      </p:sp>
      <p:sp>
        <p:nvSpPr>
          <p:cNvPr name="TextBox 12" id="12"/>
          <p:cNvSpPr txBox="true"/>
          <p:nvPr/>
        </p:nvSpPr>
        <p:spPr>
          <a:xfrm rot="0">
            <a:off x="952500" y="3543300"/>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02</a:t>
            </a:r>
          </a:p>
        </p:txBody>
      </p:sp>
      <p:sp>
        <p:nvSpPr>
          <p:cNvPr name="TextBox 13" id="13"/>
          <p:cNvSpPr txBox="true"/>
          <p:nvPr/>
        </p:nvSpPr>
        <p:spPr>
          <a:xfrm rot="0">
            <a:off x="1790700" y="3562350"/>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Business Stakeholders</a:t>
            </a:r>
          </a:p>
        </p:txBody>
      </p:sp>
      <p:sp>
        <p:nvSpPr>
          <p:cNvPr name="TextBox 14" id="14"/>
          <p:cNvSpPr txBox="true"/>
          <p:nvPr/>
        </p:nvSpPr>
        <p:spPr>
          <a:xfrm rot="0">
            <a:off x="952500" y="4333875"/>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03</a:t>
            </a:r>
          </a:p>
        </p:txBody>
      </p:sp>
      <p:sp>
        <p:nvSpPr>
          <p:cNvPr name="TextBox 15" id="15"/>
          <p:cNvSpPr txBox="true"/>
          <p:nvPr/>
        </p:nvSpPr>
        <p:spPr>
          <a:xfrm rot="0">
            <a:off x="1790700" y="4352925"/>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Problem Statement</a:t>
            </a:r>
          </a:p>
        </p:txBody>
      </p:sp>
      <p:sp>
        <p:nvSpPr>
          <p:cNvPr name="TextBox 16" id="16"/>
          <p:cNvSpPr txBox="true"/>
          <p:nvPr/>
        </p:nvSpPr>
        <p:spPr>
          <a:xfrm rot="0">
            <a:off x="952500" y="5124450"/>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04</a:t>
            </a:r>
          </a:p>
        </p:txBody>
      </p:sp>
      <p:sp>
        <p:nvSpPr>
          <p:cNvPr name="TextBox 17" id="17"/>
          <p:cNvSpPr txBox="true"/>
          <p:nvPr/>
        </p:nvSpPr>
        <p:spPr>
          <a:xfrm rot="0">
            <a:off x="1790700" y="5143500"/>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Data Understanding</a:t>
            </a:r>
          </a:p>
        </p:txBody>
      </p:sp>
      <p:sp>
        <p:nvSpPr>
          <p:cNvPr name="TextBox 18" id="18"/>
          <p:cNvSpPr txBox="true"/>
          <p:nvPr/>
        </p:nvSpPr>
        <p:spPr>
          <a:xfrm rot="0">
            <a:off x="952500" y="5915025"/>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05</a:t>
            </a:r>
          </a:p>
        </p:txBody>
      </p:sp>
      <p:sp>
        <p:nvSpPr>
          <p:cNvPr name="TextBox 19" id="19"/>
          <p:cNvSpPr txBox="true"/>
          <p:nvPr/>
        </p:nvSpPr>
        <p:spPr>
          <a:xfrm rot="0">
            <a:off x="1790700" y="5934075"/>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Descriptive Statistics &amp; Sumber Data</a:t>
            </a:r>
          </a:p>
        </p:txBody>
      </p:sp>
      <p:sp>
        <p:nvSpPr>
          <p:cNvPr name="TextBox 20" id="20"/>
          <p:cNvSpPr txBox="true"/>
          <p:nvPr/>
        </p:nvSpPr>
        <p:spPr>
          <a:xfrm rot="0">
            <a:off x="952500" y="6705600"/>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06</a:t>
            </a:r>
          </a:p>
        </p:txBody>
      </p:sp>
      <p:sp>
        <p:nvSpPr>
          <p:cNvPr name="TextBox 21" id="21"/>
          <p:cNvSpPr txBox="true"/>
          <p:nvPr/>
        </p:nvSpPr>
        <p:spPr>
          <a:xfrm rot="0">
            <a:off x="1790700" y="6724650"/>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Data Cleaning</a:t>
            </a:r>
          </a:p>
        </p:txBody>
      </p:sp>
      <p:sp>
        <p:nvSpPr>
          <p:cNvPr name="TextBox 22" id="22"/>
          <p:cNvSpPr txBox="true"/>
          <p:nvPr/>
        </p:nvSpPr>
        <p:spPr>
          <a:xfrm rot="0">
            <a:off x="952500" y="7496175"/>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07</a:t>
            </a:r>
          </a:p>
        </p:txBody>
      </p:sp>
      <p:sp>
        <p:nvSpPr>
          <p:cNvPr name="TextBox 23" id="23"/>
          <p:cNvSpPr txBox="true"/>
          <p:nvPr/>
        </p:nvSpPr>
        <p:spPr>
          <a:xfrm rot="0">
            <a:off x="1790700" y="7515225"/>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EDA (Exploratory Data Analysis)</a:t>
            </a:r>
          </a:p>
        </p:txBody>
      </p:sp>
      <p:sp>
        <p:nvSpPr>
          <p:cNvPr name="TextBox 24" id="24"/>
          <p:cNvSpPr txBox="true"/>
          <p:nvPr/>
        </p:nvSpPr>
        <p:spPr>
          <a:xfrm rot="0">
            <a:off x="9429750" y="2752725"/>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08</a:t>
            </a:r>
          </a:p>
        </p:txBody>
      </p:sp>
      <p:sp>
        <p:nvSpPr>
          <p:cNvPr name="TextBox 25" id="25"/>
          <p:cNvSpPr txBox="true"/>
          <p:nvPr/>
        </p:nvSpPr>
        <p:spPr>
          <a:xfrm rot="0">
            <a:off x="10267950" y="2771775"/>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Diagnostic/Ad-Hoc Analysis</a:t>
            </a:r>
          </a:p>
        </p:txBody>
      </p:sp>
      <p:sp>
        <p:nvSpPr>
          <p:cNvPr name="TextBox 26" id="26"/>
          <p:cNvSpPr txBox="true"/>
          <p:nvPr/>
        </p:nvSpPr>
        <p:spPr>
          <a:xfrm rot="0">
            <a:off x="9429750" y="3543300"/>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09</a:t>
            </a:r>
          </a:p>
        </p:txBody>
      </p:sp>
      <p:sp>
        <p:nvSpPr>
          <p:cNvPr name="TextBox 27" id="27"/>
          <p:cNvSpPr txBox="true"/>
          <p:nvPr/>
        </p:nvSpPr>
        <p:spPr>
          <a:xfrm rot="0">
            <a:off x="10267950" y="3562350"/>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Conclusion</a:t>
            </a:r>
          </a:p>
        </p:txBody>
      </p:sp>
      <p:sp>
        <p:nvSpPr>
          <p:cNvPr name="TextBox 28" id="28"/>
          <p:cNvSpPr txBox="true"/>
          <p:nvPr/>
        </p:nvSpPr>
        <p:spPr>
          <a:xfrm rot="0">
            <a:off x="9429750" y="4333875"/>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10</a:t>
            </a:r>
          </a:p>
        </p:txBody>
      </p:sp>
      <p:sp>
        <p:nvSpPr>
          <p:cNvPr name="TextBox 29" id="29"/>
          <p:cNvSpPr txBox="true"/>
          <p:nvPr/>
        </p:nvSpPr>
        <p:spPr>
          <a:xfrm rot="0">
            <a:off x="10267950" y="4352925"/>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Recommendation</a:t>
            </a:r>
          </a:p>
        </p:txBody>
      </p:sp>
      <p:sp>
        <p:nvSpPr>
          <p:cNvPr name="TextBox 30" id="30"/>
          <p:cNvSpPr txBox="true"/>
          <p:nvPr/>
        </p:nvSpPr>
        <p:spPr>
          <a:xfrm rot="0">
            <a:off x="9429750" y="5124450"/>
            <a:ext cx="66675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11</a:t>
            </a:r>
          </a:p>
        </p:txBody>
      </p:sp>
      <p:sp>
        <p:nvSpPr>
          <p:cNvPr name="TextBox 31" id="31"/>
          <p:cNvSpPr txBox="true"/>
          <p:nvPr/>
        </p:nvSpPr>
        <p:spPr>
          <a:xfrm rot="0">
            <a:off x="10267950" y="5113020"/>
            <a:ext cx="7334250" cy="308610"/>
          </a:xfrm>
          <a:prstGeom prst="rect">
            <a:avLst/>
          </a:prstGeom>
        </p:spPr>
        <p:txBody>
          <a:bodyPr anchor="t" rtlCol="false" tIns="0" lIns="0" bIns="0" rIns="0">
            <a:spAutoFit/>
          </a:bodyPr>
          <a:lstStyle/>
          <a:p>
            <a:pPr algn="l">
              <a:lnSpc>
                <a:spcPts val="2415"/>
              </a:lnSpc>
            </a:pPr>
            <a:r>
              <a:rPr lang="en-US" sz="2100">
                <a:solidFill>
                  <a:srgbClr val="333333"/>
                </a:solidFill>
                <a:latin typeface="Nunito Sans"/>
                <a:ea typeface="Nunito Sans"/>
                <a:cs typeface="Nunito Sans"/>
                <a:sym typeface="Nunito Sans"/>
              </a:rPr>
              <a:t>Penutup</a:t>
            </a:r>
          </a:p>
        </p:txBody>
      </p:sp>
      <p:sp>
        <p:nvSpPr>
          <p:cNvPr name="TextBox 32" id="32"/>
          <p:cNvSpPr txBox="true"/>
          <p:nvPr/>
        </p:nvSpPr>
        <p:spPr>
          <a:xfrm rot="0">
            <a:off x="16668750" y="9801225"/>
            <a:ext cx="762000" cy="188595"/>
          </a:xfrm>
          <a:prstGeom prst="rect">
            <a:avLst/>
          </a:prstGeom>
        </p:spPr>
        <p:txBody>
          <a:bodyPr anchor="t" rtlCol="false" tIns="0" lIns="0" bIns="0" rIns="0">
            <a:spAutoFit/>
          </a:bodyPr>
          <a:lstStyle/>
          <a:p>
            <a:pPr algn="r">
              <a:lnSpc>
                <a:spcPts val="1679"/>
              </a:lnSpc>
            </a:pPr>
            <a:r>
              <a:rPr lang="en-US" sz="1200">
                <a:solidFill>
                  <a:srgbClr val="4D4D4D"/>
                </a:solidFill>
                <a:latin typeface="Nunito Sans"/>
                <a:ea typeface="Nunito Sans"/>
                <a:cs typeface="Nunito Sans"/>
                <a:sym typeface="Nunito Sans"/>
              </a:rPr>
              <a:t>03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582775" y="0"/>
            <a:ext cx="3705225" cy="3000375"/>
          </a:xfrm>
          <a:custGeom>
            <a:avLst/>
            <a:gdLst/>
            <a:ahLst/>
            <a:cxnLst/>
            <a:rect r="r" b="b" t="t" l="l"/>
            <a:pathLst>
              <a:path h="3000375" w="3705225">
                <a:moveTo>
                  <a:pt x="0" y="0"/>
                </a:moveTo>
                <a:lnTo>
                  <a:pt x="3705225" y="0"/>
                </a:lnTo>
                <a:lnTo>
                  <a:pt x="3705225" y="3000375"/>
                </a:lnTo>
                <a:lnTo>
                  <a:pt x="0" y="3000375"/>
                </a:lnTo>
                <a:lnTo>
                  <a:pt x="0" y="0"/>
                </a:lnTo>
                <a:close/>
              </a:path>
            </a:pathLst>
          </a:custGeom>
          <a:blipFill>
            <a:blip r:embed="rId3"/>
            <a:stretch>
              <a:fillRect l="0" t="0" r="0" b="0"/>
            </a:stretch>
          </a:blipFill>
        </p:spPr>
      </p:sp>
      <p:sp>
        <p:nvSpPr>
          <p:cNvPr name="Freeform 4" id="4"/>
          <p:cNvSpPr/>
          <p:nvPr/>
        </p:nvSpPr>
        <p:spPr>
          <a:xfrm flipH="false" flipV="false" rot="0">
            <a:off x="0" y="7067550"/>
            <a:ext cx="3705225" cy="3219450"/>
          </a:xfrm>
          <a:custGeom>
            <a:avLst/>
            <a:gdLst/>
            <a:ahLst/>
            <a:cxnLst/>
            <a:rect r="r" b="b" t="t" l="l"/>
            <a:pathLst>
              <a:path h="3219450" w="3705225">
                <a:moveTo>
                  <a:pt x="0" y="0"/>
                </a:moveTo>
                <a:lnTo>
                  <a:pt x="3705225" y="0"/>
                </a:lnTo>
                <a:lnTo>
                  <a:pt x="3705225" y="3219450"/>
                </a:lnTo>
                <a:lnTo>
                  <a:pt x="0" y="3219450"/>
                </a:lnTo>
                <a:lnTo>
                  <a:pt x="0" y="0"/>
                </a:lnTo>
                <a:close/>
              </a:path>
            </a:pathLst>
          </a:custGeom>
          <a:blipFill>
            <a:blip r:embed="rId4"/>
            <a:stretch>
              <a:fillRect l="0" t="0" r="0" b="0"/>
            </a:stretch>
          </a:blipFill>
        </p:spPr>
      </p:sp>
      <p:sp>
        <p:nvSpPr>
          <p:cNvPr name="Freeform 5" id="5"/>
          <p:cNvSpPr/>
          <p:nvPr/>
        </p:nvSpPr>
        <p:spPr>
          <a:xfrm flipH="false" flipV="false" rot="0">
            <a:off x="14582775" y="7715250"/>
            <a:ext cx="3705225" cy="2571750"/>
          </a:xfrm>
          <a:custGeom>
            <a:avLst/>
            <a:gdLst/>
            <a:ahLst/>
            <a:cxnLst/>
            <a:rect r="r" b="b" t="t" l="l"/>
            <a:pathLst>
              <a:path h="2571750" w="3705225">
                <a:moveTo>
                  <a:pt x="0" y="0"/>
                </a:moveTo>
                <a:lnTo>
                  <a:pt x="3705225" y="0"/>
                </a:lnTo>
                <a:lnTo>
                  <a:pt x="3705225" y="2571750"/>
                </a:lnTo>
                <a:lnTo>
                  <a:pt x="0" y="2571750"/>
                </a:lnTo>
                <a:lnTo>
                  <a:pt x="0" y="0"/>
                </a:lnTo>
                <a:close/>
              </a:path>
            </a:pathLst>
          </a:custGeom>
          <a:blipFill>
            <a:blip r:embed="rId5"/>
            <a:stretch>
              <a:fillRect l="0" t="0" r="0" b="0"/>
            </a:stretch>
          </a:blipFill>
        </p:spPr>
      </p:sp>
      <p:sp>
        <p:nvSpPr>
          <p:cNvPr name="Freeform 6" id="6"/>
          <p:cNvSpPr/>
          <p:nvPr/>
        </p:nvSpPr>
        <p:spPr>
          <a:xfrm flipH="false" flipV="false" rot="0">
            <a:off x="656555" y="428625"/>
            <a:ext cx="1296741" cy="1504950"/>
          </a:xfrm>
          <a:custGeom>
            <a:avLst/>
            <a:gdLst/>
            <a:ahLst/>
            <a:cxnLst/>
            <a:rect r="r" b="b" t="t" l="l"/>
            <a:pathLst>
              <a:path h="1504950" w="1296741">
                <a:moveTo>
                  <a:pt x="0" y="0"/>
                </a:moveTo>
                <a:lnTo>
                  <a:pt x="1296740" y="0"/>
                </a:lnTo>
                <a:lnTo>
                  <a:pt x="1296740" y="1504950"/>
                </a:lnTo>
                <a:lnTo>
                  <a:pt x="0" y="1504950"/>
                </a:lnTo>
                <a:lnTo>
                  <a:pt x="0" y="0"/>
                </a:lnTo>
                <a:close/>
              </a:path>
            </a:pathLst>
          </a:custGeom>
          <a:blipFill>
            <a:blip r:embed="rId6"/>
            <a:stretch>
              <a:fillRect l="-15774" t="-15048" r="-12112" b="-18203"/>
            </a:stretch>
          </a:blipFill>
        </p:spPr>
      </p:sp>
      <p:sp>
        <p:nvSpPr>
          <p:cNvPr name="TextBox 7" id="7"/>
          <p:cNvSpPr txBox="true"/>
          <p:nvPr/>
        </p:nvSpPr>
        <p:spPr>
          <a:xfrm rot="0">
            <a:off x="2414016" y="506159"/>
            <a:ext cx="12417552" cy="1209675"/>
          </a:xfrm>
          <a:prstGeom prst="rect">
            <a:avLst/>
          </a:prstGeom>
        </p:spPr>
        <p:txBody>
          <a:bodyPr anchor="t" rtlCol="false" tIns="0" lIns="0" bIns="0" rIns="0">
            <a:spAutoFit/>
          </a:bodyPr>
          <a:lstStyle/>
          <a:p>
            <a:pPr algn="l">
              <a:lnSpc>
                <a:spcPts val="9595"/>
              </a:lnSpc>
            </a:pPr>
            <a:r>
              <a:rPr lang="en-US" sz="7995" b="true">
                <a:solidFill>
                  <a:srgbClr val="289F37"/>
                </a:solidFill>
                <a:latin typeface="Nunito Sans Bold"/>
                <a:ea typeface="Nunito Sans Bold"/>
                <a:cs typeface="Nunito Sans Bold"/>
                <a:sym typeface="Nunito Sans Bold"/>
              </a:rPr>
              <a:t>Business Understanding</a:t>
            </a:r>
          </a:p>
        </p:txBody>
      </p:sp>
      <p:sp>
        <p:nvSpPr>
          <p:cNvPr name="TextBox 8" id="8"/>
          <p:cNvSpPr txBox="true"/>
          <p:nvPr/>
        </p:nvSpPr>
        <p:spPr>
          <a:xfrm rot="0">
            <a:off x="2414016" y="1759268"/>
            <a:ext cx="13533120" cy="390525"/>
          </a:xfrm>
          <a:prstGeom prst="rect">
            <a:avLst/>
          </a:prstGeom>
        </p:spPr>
        <p:txBody>
          <a:bodyPr anchor="t" rtlCol="false" tIns="0" lIns="0" bIns="0" rIns="0">
            <a:spAutoFit/>
          </a:bodyPr>
          <a:lstStyle/>
          <a:p>
            <a:pPr algn="l">
              <a:lnSpc>
                <a:spcPts val="3112"/>
              </a:lnSpc>
            </a:pPr>
            <a:r>
              <a:rPr lang="en-US" sz="2593">
                <a:solidFill>
                  <a:srgbClr val="289F37"/>
                </a:solidFill>
                <a:latin typeface="Nunito Sans"/>
                <a:ea typeface="Nunito Sans"/>
                <a:cs typeface="Nunito Sans"/>
                <a:sym typeface="Nunito Sans"/>
              </a:rPr>
              <a:t>Memahami konteks bisnis Tokopedia sebelum merancang strategi pertumbuhan</a:t>
            </a:r>
          </a:p>
        </p:txBody>
      </p:sp>
      <p:sp>
        <p:nvSpPr>
          <p:cNvPr name="Freeform 9" id="9"/>
          <p:cNvSpPr/>
          <p:nvPr/>
        </p:nvSpPr>
        <p:spPr>
          <a:xfrm flipH="false" flipV="false" rot="0">
            <a:off x="1085850" y="2352675"/>
            <a:ext cx="5229225" cy="6438900"/>
          </a:xfrm>
          <a:custGeom>
            <a:avLst/>
            <a:gdLst/>
            <a:ahLst/>
            <a:cxnLst/>
            <a:rect r="r" b="b" t="t" l="l"/>
            <a:pathLst>
              <a:path h="6438900" w="5229225">
                <a:moveTo>
                  <a:pt x="0" y="0"/>
                </a:moveTo>
                <a:lnTo>
                  <a:pt x="5229225" y="0"/>
                </a:lnTo>
                <a:lnTo>
                  <a:pt x="5229225" y="6438900"/>
                </a:lnTo>
                <a:lnTo>
                  <a:pt x="0" y="6438900"/>
                </a:lnTo>
                <a:lnTo>
                  <a:pt x="0" y="0"/>
                </a:lnTo>
                <a:close/>
              </a:path>
            </a:pathLst>
          </a:custGeom>
          <a:blipFill>
            <a:blip r:embed="rId7"/>
            <a:stretch>
              <a:fillRect l="0" t="0" r="0" b="0"/>
            </a:stretch>
          </a:blipFill>
        </p:spPr>
      </p:sp>
      <p:sp>
        <p:nvSpPr>
          <p:cNvPr name="Freeform 10" id="10"/>
          <p:cNvSpPr/>
          <p:nvPr/>
        </p:nvSpPr>
        <p:spPr>
          <a:xfrm flipH="false" flipV="false" rot="0">
            <a:off x="2828925" y="2571750"/>
            <a:ext cx="1743075" cy="1504950"/>
          </a:xfrm>
          <a:custGeom>
            <a:avLst/>
            <a:gdLst/>
            <a:ahLst/>
            <a:cxnLst/>
            <a:rect r="r" b="b" t="t" l="l"/>
            <a:pathLst>
              <a:path h="1504950" w="1743075">
                <a:moveTo>
                  <a:pt x="0" y="0"/>
                </a:moveTo>
                <a:lnTo>
                  <a:pt x="1743075" y="0"/>
                </a:lnTo>
                <a:lnTo>
                  <a:pt x="1743075" y="1504950"/>
                </a:lnTo>
                <a:lnTo>
                  <a:pt x="0" y="1504950"/>
                </a:lnTo>
                <a:lnTo>
                  <a:pt x="0" y="0"/>
                </a:lnTo>
                <a:close/>
              </a:path>
            </a:pathLst>
          </a:custGeom>
          <a:blipFill>
            <a:blip r:embed="rId8"/>
            <a:stretch>
              <a:fillRect l="0" t="0" r="0" b="0"/>
            </a:stretch>
          </a:blipFill>
        </p:spPr>
      </p:sp>
      <p:sp>
        <p:nvSpPr>
          <p:cNvPr name="TextBox 11" id="11"/>
          <p:cNvSpPr txBox="true"/>
          <p:nvPr/>
        </p:nvSpPr>
        <p:spPr>
          <a:xfrm rot="0">
            <a:off x="2139696" y="4085272"/>
            <a:ext cx="3163824" cy="419100"/>
          </a:xfrm>
          <a:prstGeom prst="rect">
            <a:avLst/>
          </a:prstGeom>
        </p:spPr>
        <p:txBody>
          <a:bodyPr anchor="t" rtlCol="false" tIns="0" lIns="0" bIns="0" rIns="0">
            <a:spAutoFit/>
          </a:bodyPr>
          <a:lstStyle/>
          <a:p>
            <a:pPr algn="ctr">
              <a:lnSpc>
                <a:spcPts val="3335"/>
              </a:lnSpc>
            </a:pPr>
            <a:r>
              <a:rPr lang="en-US" sz="2779">
                <a:solidFill>
                  <a:srgbClr val="289F37"/>
                </a:solidFill>
                <a:latin typeface="Nunito Sans"/>
                <a:ea typeface="Nunito Sans"/>
                <a:cs typeface="Nunito Sans"/>
                <a:sym typeface="Nunito Sans"/>
              </a:rPr>
              <a:t>Business Context</a:t>
            </a:r>
          </a:p>
        </p:txBody>
      </p:sp>
      <p:sp>
        <p:nvSpPr>
          <p:cNvPr name="Freeform 12" id="12"/>
          <p:cNvSpPr/>
          <p:nvPr/>
        </p:nvSpPr>
        <p:spPr>
          <a:xfrm flipH="false" flipV="false" rot="0">
            <a:off x="3048000" y="4495800"/>
            <a:ext cx="1314450" cy="219075"/>
          </a:xfrm>
          <a:custGeom>
            <a:avLst/>
            <a:gdLst/>
            <a:ahLst/>
            <a:cxnLst/>
            <a:rect r="r" b="b" t="t" l="l"/>
            <a:pathLst>
              <a:path h="219075" w="1314450">
                <a:moveTo>
                  <a:pt x="0" y="0"/>
                </a:moveTo>
                <a:lnTo>
                  <a:pt x="1314450" y="0"/>
                </a:lnTo>
                <a:lnTo>
                  <a:pt x="1314450" y="219075"/>
                </a:lnTo>
                <a:lnTo>
                  <a:pt x="0" y="219075"/>
                </a:lnTo>
                <a:lnTo>
                  <a:pt x="0" y="0"/>
                </a:lnTo>
                <a:close/>
              </a:path>
            </a:pathLst>
          </a:custGeom>
          <a:blipFill>
            <a:blip r:embed="rId9"/>
            <a:stretch>
              <a:fillRect l="0" t="0" r="0" b="0"/>
            </a:stretch>
          </a:blipFill>
        </p:spPr>
      </p:sp>
      <p:sp>
        <p:nvSpPr>
          <p:cNvPr name="TextBox 13" id="13"/>
          <p:cNvSpPr txBox="true"/>
          <p:nvPr/>
        </p:nvSpPr>
        <p:spPr>
          <a:xfrm rot="0">
            <a:off x="1682496" y="5223037"/>
            <a:ext cx="4023360" cy="2806631"/>
          </a:xfrm>
          <a:prstGeom prst="rect">
            <a:avLst/>
          </a:prstGeom>
        </p:spPr>
        <p:txBody>
          <a:bodyPr anchor="t" rtlCol="false" tIns="0" lIns="0" bIns="0" rIns="0">
            <a:spAutoFit/>
          </a:bodyPr>
          <a:lstStyle/>
          <a:p>
            <a:pPr algn="ctr">
              <a:lnSpc>
                <a:spcPts val="2803"/>
              </a:lnSpc>
            </a:pPr>
            <a:r>
              <a:rPr lang="en-US" sz="2002">
                <a:solidFill>
                  <a:srgbClr val="2A2A2A"/>
                </a:solidFill>
                <a:latin typeface="Nunito Sans"/>
                <a:ea typeface="Nunito Sans"/>
                <a:cs typeface="Nunito Sans"/>
                <a:sym typeface="Nunito Sans"/>
              </a:rPr>
              <a:t>Tokopedia adalah platform marketplace digital di Indonesia yang mempertemukan pembeli dan penjual, menyediakan akses ke beragam produk, serta mendukung transaksi dan pemenuhan pesanan melalui ekosistem pembayaran dan logistik.</a:t>
            </a:r>
          </a:p>
        </p:txBody>
      </p:sp>
      <p:sp>
        <p:nvSpPr>
          <p:cNvPr name="Freeform 14" id="14"/>
          <p:cNvSpPr/>
          <p:nvPr/>
        </p:nvSpPr>
        <p:spPr>
          <a:xfrm flipH="false" flipV="false" rot="0">
            <a:off x="6305550" y="2352675"/>
            <a:ext cx="5676900" cy="6438900"/>
          </a:xfrm>
          <a:custGeom>
            <a:avLst/>
            <a:gdLst/>
            <a:ahLst/>
            <a:cxnLst/>
            <a:rect r="r" b="b" t="t" l="l"/>
            <a:pathLst>
              <a:path h="6438900" w="5676900">
                <a:moveTo>
                  <a:pt x="0" y="0"/>
                </a:moveTo>
                <a:lnTo>
                  <a:pt x="5676900" y="0"/>
                </a:lnTo>
                <a:lnTo>
                  <a:pt x="5676900" y="6438900"/>
                </a:lnTo>
                <a:lnTo>
                  <a:pt x="0" y="6438900"/>
                </a:lnTo>
                <a:lnTo>
                  <a:pt x="0" y="0"/>
                </a:lnTo>
                <a:close/>
              </a:path>
            </a:pathLst>
          </a:custGeom>
          <a:blipFill>
            <a:blip r:embed="rId10"/>
            <a:stretch>
              <a:fillRect l="0" t="0" r="0" b="0"/>
            </a:stretch>
          </a:blipFill>
        </p:spPr>
      </p:sp>
      <p:sp>
        <p:nvSpPr>
          <p:cNvPr name="Freeform 15" id="15"/>
          <p:cNvSpPr/>
          <p:nvPr/>
        </p:nvSpPr>
        <p:spPr>
          <a:xfrm flipH="false" flipV="false" rot="0">
            <a:off x="8267700" y="2571750"/>
            <a:ext cx="1752600" cy="1504950"/>
          </a:xfrm>
          <a:custGeom>
            <a:avLst/>
            <a:gdLst/>
            <a:ahLst/>
            <a:cxnLst/>
            <a:rect r="r" b="b" t="t" l="l"/>
            <a:pathLst>
              <a:path h="1504950" w="1752600">
                <a:moveTo>
                  <a:pt x="0" y="0"/>
                </a:moveTo>
                <a:lnTo>
                  <a:pt x="1752600" y="0"/>
                </a:lnTo>
                <a:lnTo>
                  <a:pt x="1752600" y="1504950"/>
                </a:lnTo>
                <a:lnTo>
                  <a:pt x="0" y="1504950"/>
                </a:lnTo>
                <a:lnTo>
                  <a:pt x="0" y="0"/>
                </a:lnTo>
                <a:close/>
              </a:path>
            </a:pathLst>
          </a:custGeom>
          <a:blipFill>
            <a:blip r:embed="rId11"/>
            <a:stretch>
              <a:fillRect l="0" t="0" r="0" b="0"/>
            </a:stretch>
          </a:blipFill>
        </p:spPr>
      </p:sp>
      <p:sp>
        <p:nvSpPr>
          <p:cNvPr name="TextBox 16" id="16"/>
          <p:cNvSpPr txBox="true"/>
          <p:nvPr/>
        </p:nvSpPr>
        <p:spPr>
          <a:xfrm rot="0">
            <a:off x="7114032" y="4085272"/>
            <a:ext cx="4059936" cy="419100"/>
          </a:xfrm>
          <a:prstGeom prst="rect">
            <a:avLst/>
          </a:prstGeom>
        </p:spPr>
        <p:txBody>
          <a:bodyPr anchor="t" rtlCol="false" tIns="0" lIns="0" bIns="0" rIns="0">
            <a:spAutoFit/>
          </a:bodyPr>
          <a:lstStyle/>
          <a:p>
            <a:pPr algn="ctr">
              <a:lnSpc>
                <a:spcPts val="3335"/>
              </a:lnSpc>
            </a:pPr>
            <a:r>
              <a:rPr lang="en-US" sz="2779">
                <a:solidFill>
                  <a:srgbClr val="289F37"/>
                </a:solidFill>
                <a:latin typeface="Nunito Sans"/>
                <a:ea typeface="Nunito Sans"/>
                <a:cs typeface="Nunito Sans"/>
                <a:sym typeface="Nunito Sans"/>
              </a:rPr>
              <a:t>Why Tokopedia Exists</a:t>
            </a:r>
          </a:p>
        </p:txBody>
      </p:sp>
      <p:sp>
        <p:nvSpPr>
          <p:cNvPr name="Freeform 17" id="17"/>
          <p:cNvSpPr/>
          <p:nvPr/>
        </p:nvSpPr>
        <p:spPr>
          <a:xfrm flipH="false" flipV="false" rot="0">
            <a:off x="8486775" y="4495800"/>
            <a:ext cx="1314450" cy="219075"/>
          </a:xfrm>
          <a:custGeom>
            <a:avLst/>
            <a:gdLst/>
            <a:ahLst/>
            <a:cxnLst/>
            <a:rect r="r" b="b" t="t" l="l"/>
            <a:pathLst>
              <a:path h="219075" w="1314450">
                <a:moveTo>
                  <a:pt x="0" y="0"/>
                </a:moveTo>
                <a:lnTo>
                  <a:pt x="1314450" y="0"/>
                </a:lnTo>
                <a:lnTo>
                  <a:pt x="1314450" y="219075"/>
                </a:lnTo>
                <a:lnTo>
                  <a:pt x="0" y="219075"/>
                </a:lnTo>
                <a:lnTo>
                  <a:pt x="0" y="0"/>
                </a:lnTo>
                <a:close/>
              </a:path>
            </a:pathLst>
          </a:custGeom>
          <a:blipFill>
            <a:blip r:embed="rId12"/>
            <a:stretch>
              <a:fillRect l="0" t="0" r="0" b="0"/>
            </a:stretch>
          </a:blipFill>
        </p:spPr>
      </p:sp>
      <p:sp>
        <p:nvSpPr>
          <p:cNvPr name="TextBox 18" id="18"/>
          <p:cNvSpPr txBox="true"/>
          <p:nvPr/>
        </p:nvSpPr>
        <p:spPr>
          <a:xfrm rot="0">
            <a:off x="7022592" y="5201129"/>
            <a:ext cx="4242816" cy="3159056"/>
          </a:xfrm>
          <a:prstGeom prst="rect">
            <a:avLst/>
          </a:prstGeom>
        </p:spPr>
        <p:txBody>
          <a:bodyPr anchor="t" rtlCol="false" tIns="0" lIns="0" bIns="0" rIns="0">
            <a:spAutoFit/>
          </a:bodyPr>
          <a:lstStyle/>
          <a:p>
            <a:pPr algn="ctr">
              <a:lnSpc>
                <a:spcPts val="2803"/>
              </a:lnSpc>
            </a:pPr>
            <a:r>
              <a:rPr lang="en-US" sz="2002">
                <a:solidFill>
                  <a:srgbClr val="2A2A2A"/>
                </a:solidFill>
                <a:latin typeface="Nunito Sans"/>
                <a:ea typeface="Nunito Sans"/>
                <a:cs typeface="Nunito Sans"/>
                <a:sym typeface="Nunito Sans"/>
              </a:rPr>
              <a:t>Tokopedia dibutuhkan untuk membantu konsumen menemukan produk dengan mudah, membandingkan pilihan, dan bertransaksi secara praktis, sekaligus membantu UMKM dan penjual menjangkau pelanggan yang lebih luas tanpa harus membangun infrastruktur digital sendiri.</a:t>
            </a:r>
          </a:p>
        </p:txBody>
      </p:sp>
      <p:sp>
        <p:nvSpPr>
          <p:cNvPr name="Freeform 19" id="19"/>
          <p:cNvSpPr/>
          <p:nvPr/>
        </p:nvSpPr>
        <p:spPr>
          <a:xfrm flipH="false" flipV="false" rot="0">
            <a:off x="11753850" y="2352675"/>
            <a:ext cx="5448300" cy="6438900"/>
          </a:xfrm>
          <a:custGeom>
            <a:avLst/>
            <a:gdLst/>
            <a:ahLst/>
            <a:cxnLst/>
            <a:rect r="r" b="b" t="t" l="l"/>
            <a:pathLst>
              <a:path h="6438900" w="5448300">
                <a:moveTo>
                  <a:pt x="0" y="0"/>
                </a:moveTo>
                <a:lnTo>
                  <a:pt x="5448300" y="0"/>
                </a:lnTo>
                <a:lnTo>
                  <a:pt x="5448300" y="6438900"/>
                </a:lnTo>
                <a:lnTo>
                  <a:pt x="0" y="6438900"/>
                </a:lnTo>
                <a:lnTo>
                  <a:pt x="0" y="0"/>
                </a:lnTo>
                <a:close/>
              </a:path>
            </a:pathLst>
          </a:custGeom>
          <a:blipFill>
            <a:blip r:embed="rId13"/>
            <a:stretch>
              <a:fillRect l="0" t="0" r="0" b="0"/>
            </a:stretch>
          </a:blipFill>
        </p:spPr>
      </p:sp>
      <p:sp>
        <p:nvSpPr>
          <p:cNvPr name="Freeform 20" id="20"/>
          <p:cNvSpPr/>
          <p:nvPr/>
        </p:nvSpPr>
        <p:spPr>
          <a:xfrm flipH="false" flipV="false" rot="0">
            <a:off x="13716000" y="2571750"/>
            <a:ext cx="1743075" cy="1504950"/>
          </a:xfrm>
          <a:custGeom>
            <a:avLst/>
            <a:gdLst/>
            <a:ahLst/>
            <a:cxnLst/>
            <a:rect r="r" b="b" t="t" l="l"/>
            <a:pathLst>
              <a:path h="1504950" w="1743075">
                <a:moveTo>
                  <a:pt x="0" y="0"/>
                </a:moveTo>
                <a:lnTo>
                  <a:pt x="1743075" y="0"/>
                </a:lnTo>
                <a:lnTo>
                  <a:pt x="1743075" y="1504950"/>
                </a:lnTo>
                <a:lnTo>
                  <a:pt x="0" y="1504950"/>
                </a:lnTo>
                <a:lnTo>
                  <a:pt x="0" y="0"/>
                </a:lnTo>
                <a:close/>
              </a:path>
            </a:pathLst>
          </a:custGeom>
          <a:blipFill>
            <a:blip r:embed="rId14"/>
            <a:stretch>
              <a:fillRect l="0" t="0" r="0" b="0"/>
            </a:stretch>
          </a:blipFill>
        </p:spPr>
      </p:sp>
      <p:sp>
        <p:nvSpPr>
          <p:cNvPr name="TextBox 21" id="21"/>
          <p:cNvSpPr txBox="true"/>
          <p:nvPr/>
        </p:nvSpPr>
        <p:spPr>
          <a:xfrm rot="0">
            <a:off x="13112496" y="4085272"/>
            <a:ext cx="2962656" cy="419100"/>
          </a:xfrm>
          <a:prstGeom prst="rect">
            <a:avLst/>
          </a:prstGeom>
        </p:spPr>
        <p:txBody>
          <a:bodyPr anchor="t" rtlCol="false" tIns="0" lIns="0" bIns="0" rIns="0">
            <a:spAutoFit/>
          </a:bodyPr>
          <a:lstStyle/>
          <a:p>
            <a:pPr algn="ctr">
              <a:lnSpc>
                <a:spcPts val="3335"/>
              </a:lnSpc>
            </a:pPr>
            <a:r>
              <a:rPr lang="en-US" sz="2779">
                <a:solidFill>
                  <a:srgbClr val="289F37"/>
                </a:solidFill>
                <a:latin typeface="Nunito Sans"/>
                <a:ea typeface="Nunito Sans"/>
                <a:cs typeface="Nunito Sans"/>
                <a:sym typeface="Nunito Sans"/>
              </a:rPr>
              <a:t>Revenue Engine</a:t>
            </a:r>
          </a:p>
        </p:txBody>
      </p:sp>
      <p:sp>
        <p:nvSpPr>
          <p:cNvPr name="Freeform 22" id="22"/>
          <p:cNvSpPr/>
          <p:nvPr/>
        </p:nvSpPr>
        <p:spPr>
          <a:xfrm flipH="false" flipV="false" rot="0">
            <a:off x="13925550" y="4495800"/>
            <a:ext cx="1314450" cy="219075"/>
          </a:xfrm>
          <a:custGeom>
            <a:avLst/>
            <a:gdLst/>
            <a:ahLst/>
            <a:cxnLst/>
            <a:rect r="r" b="b" t="t" l="l"/>
            <a:pathLst>
              <a:path h="219075" w="1314450">
                <a:moveTo>
                  <a:pt x="0" y="0"/>
                </a:moveTo>
                <a:lnTo>
                  <a:pt x="1314450" y="0"/>
                </a:lnTo>
                <a:lnTo>
                  <a:pt x="1314450" y="219075"/>
                </a:lnTo>
                <a:lnTo>
                  <a:pt x="0" y="219075"/>
                </a:lnTo>
                <a:lnTo>
                  <a:pt x="0" y="0"/>
                </a:lnTo>
                <a:close/>
              </a:path>
            </a:pathLst>
          </a:custGeom>
          <a:blipFill>
            <a:blip r:embed="rId15"/>
            <a:stretch>
              <a:fillRect l="0" t="0" r="0" b="0"/>
            </a:stretch>
          </a:blipFill>
        </p:spPr>
      </p:sp>
      <p:sp>
        <p:nvSpPr>
          <p:cNvPr name="TextBox 23" id="23"/>
          <p:cNvSpPr txBox="true"/>
          <p:nvPr/>
        </p:nvSpPr>
        <p:spPr>
          <a:xfrm rot="0">
            <a:off x="12399264" y="5223037"/>
            <a:ext cx="4389120" cy="2806631"/>
          </a:xfrm>
          <a:prstGeom prst="rect">
            <a:avLst/>
          </a:prstGeom>
        </p:spPr>
        <p:txBody>
          <a:bodyPr anchor="t" rtlCol="false" tIns="0" lIns="0" bIns="0" rIns="0">
            <a:spAutoFit/>
          </a:bodyPr>
          <a:lstStyle/>
          <a:p>
            <a:pPr algn="ctr">
              <a:lnSpc>
                <a:spcPts val="2803"/>
              </a:lnSpc>
            </a:pPr>
            <a:r>
              <a:rPr lang="en-US" sz="2002">
                <a:solidFill>
                  <a:srgbClr val="2A2A2A"/>
                </a:solidFill>
                <a:latin typeface="Nunito Sans"/>
                <a:ea typeface="Nunito Sans"/>
                <a:cs typeface="Nunito Sans"/>
                <a:sym typeface="Nunito Sans"/>
              </a:rPr>
              <a:t>Pendapatan terutama berasal dari monetisasi transaksi dan layanan dalam ekosistem, termasuk biaya atau komisi layanan marketplace, layanan promosi dan iklan bagi penjual, serta layanan bernilai tambah yang mendukung pembayaran, logistik, dan pertumbuhan merchant.</a:t>
            </a:r>
          </a:p>
        </p:txBody>
      </p:sp>
      <p:sp>
        <p:nvSpPr>
          <p:cNvPr name="Freeform 24" id="24"/>
          <p:cNvSpPr/>
          <p:nvPr/>
        </p:nvSpPr>
        <p:spPr>
          <a:xfrm flipH="false" flipV="false" rot="0">
            <a:off x="2828925" y="8782050"/>
            <a:ext cx="12630150" cy="1295400"/>
          </a:xfrm>
          <a:custGeom>
            <a:avLst/>
            <a:gdLst/>
            <a:ahLst/>
            <a:cxnLst/>
            <a:rect r="r" b="b" t="t" l="l"/>
            <a:pathLst>
              <a:path h="1295400" w="12630150">
                <a:moveTo>
                  <a:pt x="0" y="0"/>
                </a:moveTo>
                <a:lnTo>
                  <a:pt x="12630150" y="0"/>
                </a:lnTo>
                <a:lnTo>
                  <a:pt x="12630150" y="1295400"/>
                </a:lnTo>
                <a:lnTo>
                  <a:pt x="0" y="1295400"/>
                </a:lnTo>
                <a:lnTo>
                  <a:pt x="0" y="0"/>
                </a:lnTo>
                <a:close/>
              </a:path>
            </a:pathLst>
          </a:custGeom>
          <a:blipFill>
            <a:blip r:embed="rId16"/>
            <a:stretch>
              <a:fillRect l="0" t="0" r="0" b="0"/>
            </a:stretch>
          </a:blipFill>
        </p:spPr>
      </p:sp>
      <p:sp>
        <p:nvSpPr>
          <p:cNvPr name="Freeform 25" id="25"/>
          <p:cNvSpPr/>
          <p:nvPr/>
        </p:nvSpPr>
        <p:spPr>
          <a:xfrm flipH="false" flipV="false" rot="0">
            <a:off x="3048000" y="9001125"/>
            <a:ext cx="1095375" cy="857250"/>
          </a:xfrm>
          <a:custGeom>
            <a:avLst/>
            <a:gdLst/>
            <a:ahLst/>
            <a:cxnLst/>
            <a:rect r="r" b="b" t="t" l="l"/>
            <a:pathLst>
              <a:path h="857250" w="1095375">
                <a:moveTo>
                  <a:pt x="0" y="0"/>
                </a:moveTo>
                <a:lnTo>
                  <a:pt x="1095375" y="0"/>
                </a:lnTo>
                <a:lnTo>
                  <a:pt x="1095375" y="857250"/>
                </a:lnTo>
                <a:lnTo>
                  <a:pt x="0" y="857250"/>
                </a:lnTo>
                <a:lnTo>
                  <a:pt x="0" y="0"/>
                </a:lnTo>
                <a:close/>
              </a:path>
            </a:pathLst>
          </a:custGeom>
          <a:blipFill>
            <a:blip r:embed="rId17"/>
            <a:stretch>
              <a:fillRect l="0" t="0" r="0" b="0"/>
            </a:stretch>
          </a:blipFill>
        </p:spPr>
      </p:sp>
      <p:sp>
        <p:nvSpPr>
          <p:cNvPr name="TextBox 26" id="26"/>
          <p:cNvSpPr txBox="true"/>
          <p:nvPr/>
        </p:nvSpPr>
        <p:spPr>
          <a:xfrm rot="0">
            <a:off x="4242816" y="9065407"/>
            <a:ext cx="10826496" cy="718780"/>
          </a:xfrm>
          <a:prstGeom prst="rect">
            <a:avLst/>
          </a:prstGeom>
        </p:spPr>
        <p:txBody>
          <a:bodyPr anchor="t" rtlCol="false" tIns="0" lIns="0" bIns="0" rIns="0">
            <a:spAutoFit/>
          </a:bodyPr>
          <a:lstStyle/>
          <a:p>
            <a:pPr algn="l">
              <a:lnSpc>
                <a:spcPts val="2907"/>
              </a:lnSpc>
            </a:pPr>
            <a:r>
              <a:rPr lang="en-US" sz="2076">
                <a:solidFill>
                  <a:srgbClr val="289F37"/>
                </a:solidFill>
                <a:latin typeface="Nunito Sans"/>
                <a:ea typeface="Nunito Sans"/>
                <a:cs typeface="Nunito Sans"/>
                <a:sym typeface="Nunito Sans"/>
              </a:rPr>
              <a:t>Pertumbuhan yang sehat berarti memperbesar GMV sekaligus meningkatkan kualitas revenue, retensi pelanggan, dan efisiensi ekosistem.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801850" y="0"/>
            <a:ext cx="3486150" cy="3648075"/>
          </a:xfrm>
          <a:custGeom>
            <a:avLst/>
            <a:gdLst/>
            <a:ahLst/>
            <a:cxnLst/>
            <a:rect r="r" b="b" t="t" l="l"/>
            <a:pathLst>
              <a:path h="3648075" w="3486150">
                <a:moveTo>
                  <a:pt x="0" y="0"/>
                </a:moveTo>
                <a:lnTo>
                  <a:pt x="3486150" y="0"/>
                </a:lnTo>
                <a:lnTo>
                  <a:pt x="3486150" y="3648075"/>
                </a:lnTo>
                <a:lnTo>
                  <a:pt x="0" y="3648075"/>
                </a:lnTo>
                <a:lnTo>
                  <a:pt x="0" y="0"/>
                </a:lnTo>
                <a:close/>
              </a:path>
            </a:pathLst>
          </a:custGeom>
          <a:blipFill>
            <a:blip r:embed="rId3"/>
            <a:stretch>
              <a:fillRect l="0" t="0" r="0" b="0"/>
            </a:stretch>
          </a:blipFill>
        </p:spPr>
      </p:sp>
      <p:sp>
        <p:nvSpPr>
          <p:cNvPr name="Freeform 4" id="4"/>
          <p:cNvSpPr/>
          <p:nvPr/>
        </p:nvSpPr>
        <p:spPr>
          <a:xfrm flipH="false" flipV="false" rot="0">
            <a:off x="0" y="4924425"/>
            <a:ext cx="3048000" cy="5362575"/>
          </a:xfrm>
          <a:custGeom>
            <a:avLst/>
            <a:gdLst/>
            <a:ahLst/>
            <a:cxnLst/>
            <a:rect r="r" b="b" t="t" l="l"/>
            <a:pathLst>
              <a:path h="5362575" w="3048000">
                <a:moveTo>
                  <a:pt x="0" y="0"/>
                </a:moveTo>
                <a:lnTo>
                  <a:pt x="3048000" y="0"/>
                </a:lnTo>
                <a:lnTo>
                  <a:pt x="3048000" y="5362575"/>
                </a:lnTo>
                <a:lnTo>
                  <a:pt x="0" y="5362575"/>
                </a:lnTo>
                <a:lnTo>
                  <a:pt x="0" y="0"/>
                </a:lnTo>
                <a:close/>
              </a:path>
            </a:pathLst>
          </a:custGeom>
          <a:blipFill>
            <a:blip r:embed="rId4"/>
            <a:stretch>
              <a:fillRect l="0" t="0" r="0" b="0"/>
            </a:stretch>
          </a:blipFill>
        </p:spPr>
      </p:sp>
      <p:sp>
        <p:nvSpPr>
          <p:cNvPr name="Freeform 5" id="5"/>
          <p:cNvSpPr/>
          <p:nvPr/>
        </p:nvSpPr>
        <p:spPr>
          <a:xfrm flipH="false" flipV="false" rot="0">
            <a:off x="15240000" y="9210675"/>
            <a:ext cx="3048000" cy="1076325"/>
          </a:xfrm>
          <a:custGeom>
            <a:avLst/>
            <a:gdLst/>
            <a:ahLst/>
            <a:cxnLst/>
            <a:rect r="r" b="b" t="t" l="l"/>
            <a:pathLst>
              <a:path h="1076325" w="3048000">
                <a:moveTo>
                  <a:pt x="0" y="0"/>
                </a:moveTo>
                <a:lnTo>
                  <a:pt x="3048000" y="0"/>
                </a:lnTo>
                <a:lnTo>
                  <a:pt x="3048000" y="1076325"/>
                </a:lnTo>
                <a:lnTo>
                  <a:pt x="0" y="1076325"/>
                </a:lnTo>
                <a:lnTo>
                  <a:pt x="0" y="0"/>
                </a:lnTo>
                <a:close/>
              </a:path>
            </a:pathLst>
          </a:custGeom>
          <a:blipFill>
            <a:blip r:embed="rId5"/>
            <a:stretch>
              <a:fillRect l="0" t="0" r="0" b="0"/>
            </a:stretch>
          </a:blipFill>
        </p:spPr>
      </p:sp>
      <p:sp>
        <p:nvSpPr>
          <p:cNvPr name="Freeform 6" id="6"/>
          <p:cNvSpPr/>
          <p:nvPr/>
        </p:nvSpPr>
        <p:spPr>
          <a:xfrm flipH="false" flipV="false" rot="0">
            <a:off x="209550" y="2352675"/>
            <a:ext cx="1104900" cy="1076325"/>
          </a:xfrm>
          <a:custGeom>
            <a:avLst/>
            <a:gdLst/>
            <a:ahLst/>
            <a:cxnLst/>
            <a:rect r="r" b="b" t="t" l="l"/>
            <a:pathLst>
              <a:path h="1076325" w="1104900">
                <a:moveTo>
                  <a:pt x="0" y="0"/>
                </a:moveTo>
                <a:lnTo>
                  <a:pt x="1104900" y="0"/>
                </a:lnTo>
                <a:lnTo>
                  <a:pt x="1104900" y="1076325"/>
                </a:lnTo>
                <a:lnTo>
                  <a:pt x="0" y="1076325"/>
                </a:lnTo>
                <a:lnTo>
                  <a:pt x="0" y="0"/>
                </a:lnTo>
                <a:close/>
              </a:path>
            </a:pathLst>
          </a:custGeom>
          <a:blipFill>
            <a:blip r:embed="rId6"/>
            <a:stretch>
              <a:fillRect l="0" t="0" r="0" b="0"/>
            </a:stretch>
          </a:blipFill>
        </p:spPr>
      </p:sp>
      <p:sp>
        <p:nvSpPr>
          <p:cNvPr name="Freeform 7" id="7"/>
          <p:cNvSpPr/>
          <p:nvPr/>
        </p:nvSpPr>
        <p:spPr>
          <a:xfrm flipH="false" flipV="false" rot="0">
            <a:off x="17192625" y="7924800"/>
            <a:ext cx="1095375" cy="1295400"/>
          </a:xfrm>
          <a:custGeom>
            <a:avLst/>
            <a:gdLst/>
            <a:ahLst/>
            <a:cxnLst/>
            <a:rect r="r" b="b" t="t" l="l"/>
            <a:pathLst>
              <a:path h="1295400" w="1095375">
                <a:moveTo>
                  <a:pt x="0" y="0"/>
                </a:moveTo>
                <a:lnTo>
                  <a:pt x="1095375" y="0"/>
                </a:lnTo>
                <a:lnTo>
                  <a:pt x="1095375" y="1295400"/>
                </a:lnTo>
                <a:lnTo>
                  <a:pt x="0" y="1295400"/>
                </a:lnTo>
                <a:lnTo>
                  <a:pt x="0" y="0"/>
                </a:lnTo>
                <a:close/>
              </a:path>
            </a:pathLst>
          </a:custGeom>
          <a:blipFill>
            <a:blip r:embed="rId7"/>
            <a:stretch>
              <a:fillRect l="0" t="0" r="0" b="0"/>
            </a:stretch>
          </a:blipFill>
        </p:spPr>
      </p:sp>
      <p:sp>
        <p:nvSpPr>
          <p:cNvPr name="Freeform 8" id="8"/>
          <p:cNvSpPr/>
          <p:nvPr/>
        </p:nvSpPr>
        <p:spPr>
          <a:xfrm flipH="false" flipV="false" rot="0">
            <a:off x="298292" y="209550"/>
            <a:ext cx="927416" cy="1076325"/>
          </a:xfrm>
          <a:custGeom>
            <a:avLst/>
            <a:gdLst/>
            <a:ahLst/>
            <a:cxnLst/>
            <a:rect r="r" b="b" t="t" l="l"/>
            <a:pathLst>
              <a:path h="1076325" w="927416">
                <a:moveTo>
                  <a:pt x="0" y="0"/>
                </a:moveTo>
                <a:lnTo>
                  <a:pt x="927416" y="0"/>
                </a:lnTo>
                <a:lnTo>
                  <a:pt x="927416" y="1076325"/>
                </a:lnTo>
                <a:lnTo>
                  <a:pt x="0" y="1076325"/>
                </a:lnTo>
                <a:lnTo>
                  <a:pt x="0" y="0"/>
                </a:lnTo>
                <a:close/>
              </a:path>
            </a:pathLst>
          </a:custGeom>
          <a:blipFill>
            <a:blip r:embed="rId8"/>
            <a:stretch>
              <a:fillRect l="-15774" t="-15048" r="-12112" b="-18203"/>
            </a:stretch>
          </a:blipFill>
        </p:spPr>
      </p:sp>
      <p:sp>
        <p:nvSpPr>
          <p:cNvPr name="TextBox 9" id="9"/>
          <p:cNvSpPr txBox="true"/>
          <p:nvPr/>
        </p:nvSpPr>
        <p:spPr>
          <a:xfrm rot="0">
            <a:off x="1225296" y="645331"/>
            <a:ext cx="2359152" cy="462320"/>
          </a:xfrm>
          <a:prstGeom prst="rect">
            <a:avLst/>
          </a:prstGeom>
        </p:spPr>
        <p:txBody>
          <a:bodyPr anchor="t" rtlCol="false" tIns="0" lIns="0" bIns="0" rIns="0">
            <a:spAutoFit/>
          </a:bodyPr>
          <a:lstStyle/>
          <a:p>
            <a:pPr algn="l">
              <a:lnSpc>
                <a:spcPts val="3576"/>
              </a:lnSpc>
            </a:pPr>
            <a:r>
              <a:rPr lang="en-US" sz="3576">
                <a:solidFill>
                  <a:srgbClr val="18A824"/>
                </a:solidFill>
                <a:latin typeface="Nunito Sans"/>
                <a:ea typeface="Nunito Sans"/>
                <a:cs typeface="Nunito Sans"/>
                <a:sym typeface="Nunito Sans"/>
              </a:rPr>
              <a:t>tokopedia</a:t>
            </a:r>
          </a:p>
        </p:txBody>
      </p:sp>
      <p:sp>
        <p:nvSpPr>
          <p:cNvPr name="TextBox 10" id="10"/>
          <p:cNvSpPr txBox="true"/>
          <p:nvPr/>
        </p:nvSpPr>
        <p:spPr>
          <a:xfrm rot="0">
            <a:off x="3566160" y="1387399"/>
            <a:ext cx="11155680" cy="1060348"/>
          </a:xfrm>
          <a:prstGeom prst="rect">
            <a:avLst/>
          </a:prstGeom>
        </p:spPr>
        <p:txBody>
          <a:bodyPr anchor="t" rtlCol="false" tIns="0" lIns="0" bIns="0" rIns="0">
            <a:spAutoFit/>
          </a:bodyPr>
          <a:lstStyle/>
          <a:p>
            <a:pPr algn="ctr">
              <a:lnSpc>
                <a:spcPts val="7995"/>
              </a:lnSpc>
            </a:pPr>
            <a:r>
              <a:rPr lang="en-US" b="true" sz="7995">
                <a:solidFill>
                  <a:srgbClr val="18A824"/>
                </a:solidFill>
                <a:latin typeface="Nunito Sans Bold"/>
                <a:ea typeface="Nunito Sans Bold"/>
                <a:cs typeface="Nunito Sans Bold"/>
                <a:sym typeface="Nunito Sans Bold"/>
              </a:rPr>
              <a:t>Business Stakeholders</a:t>
            </a:r>
          </a:p>
        </p:txBody>
      </p:sp>
      <p:sp>
        <p:nvSpPr>
          <p:cNvPr name="TextBox 11" id="11"/>
          <p:cNvSpPr txBox="true"/>
          <p:nvPr/>
        </p:nvSpPr>
        <p:spPr>
          <a:xfrm rot="0">
            <a:off x="4169664" y="2498839"/>
            <a:ext cx="9948672" cy="707797"/>
          </a:xfrm>
          <a:prstGeom prst="rect">
            <a:avLst/>
          </a:prstGeom>
        </p:spPr>
        <p:txBody>
          <a:bodyPr anchor="t" rtlCol="false" tIns="0" lIns="0" bIns="0" rIns="0">
            <a:spAutoFit/>
          </a:bodyPr>
          <a:lstStyle/>
          <a:p>
            <a:pPr algn="ctr">
              <a:lnSpc>
                <a:spcPts val="2741"/>
              </a:lnSpc>
            </a:pPr>
            <a:r>
              <a:rPr lang="en-US" sz="2741">
                <a:solidFill>
                  <a:srgbClr val="18A824"/>
                </a:solidFill>
                <a:latin typeface="Nunito Sans"/>
                <a:ea typeface="Nunito Sans"/>
                <a:cs typeface="Nunito Sans"/>
                <a:sym typeface="Nunito Sans"/>
              </a:rPr>
              <a:t>Pihak yang menggunakan rekomendasi analisis untuk mendorong pertumbuhan dan profitabilitas Tokopedia</a:t>
            </a:r>
          </a:p>
        </p:txBody>
      </p:sp>
      <p:sp>
        <p:nvSpPr>
          <p:cNvPr name="Freeform 12" id="12"/>
          <p:cNvSpPr/>
          <p:nvPr/>
        </p:nvSpPr>
        <p:spPr>
          <a:xfrm flipH="false" flipV="false" rot="0">
            <a:off x="6743700" y="3638550"/>
            <a:ext cx="4800600" cy="1724025"/>
          </a:xfrm>
          <a:custGeom>
            <a:avLst/>
            <a:gdLst/>
            <a:ahLst/>
            <a:cxnLst/>
            <a:rect r="r" b="b" t="t" l="l"/>
            <a:pathLst>
              <a:path h="1724025" w="4800600">
                <a:moveTo>
                  <a:pt x="0" y="0"/>
                </a:moveTo>
                <a:lnTo>
                  <a:pt x="4800600" y="0"/>
                </a:lnTo>
                <a:lnTo>
                  <a:pt x="4800600" y="1724025"/>
                </a:lnTo>
                <a:lnTo>
                  <a:pt x="0" y="1724025"/>
                </a:lnTo>
                <a:lnTo>
                  <a:pt x="0" y="0"/>
                </a:lnTo>
                <a:close/>
              </a:path>
            </a:pathLst>
          </a:custGeom>
          <a:blipFill>
            <a:blip r:embed="rId9"/>
            <a:stretch>
              <a:fillRect l="0" t="0" r="0" b="0"/>
            </a:stretch>
          </a:blipFill>
        </p:spPr>
      </p:sp>
      <p:sp>
        <p:nvSpPr>
          <p:cNvPr name="Freeform 13" id="13"/>
          <p:cNvSpPr/>
          <p:nvPr/>
        </p:nvSpPr>
        <p:spPr>
          <a:xfrm flipH="false" flipV="false" rot="0">
            <a:off x="8486775" y="3209925"/>
            <a:ext cx="1095375" cy="866775"/>
          </a:xfrm>
          <a:custGeom>
            <a:avLst/>
            <a:gdLst/>
            <a:ahLst/>
            <a:cxnLst/>
            <a:rect r="r" b="b" t="t" l="l"/>
            <a:pathLst>
              <a:path h="866775" w="1095375">
                <a:moveTo>
                  <a:pt x="0" y="0"/>
                </a:moveTo>
                <a:lnTo>
                  <a:pt x="1095375" y="0"/>
                </a:lnTo>
                <a:lnTo>
                  <a:pt x="1095375" y="866775"/>
                </a:lnTo>
                <a:lnTo>
                  <a:pt x="0" y="866775"/>
                </a:lnTo>
                <a:lnTo>
                  <a:pt x="0" y="0"/>
                </a:lnTo>
                <a:close/>
              </a:path>
            </a:pathLst>
          </a:custGeom>
          <a:blipFill>
            <a:blip r:embed="rId10"/>
            <a:stretch>
              <a:fillRect l="0" t="0" r="0" b="0"/>
            </a:stretch>
          </a:blipFill>
        </p:spPr>
      </p:sp>
      <p:sp>
        <p:nvSpPr>
          <p:cNvPr name="TextBox 14" id="14"/>
          <p:cNvSpPr txBox="true"/>
          <p:nvPr/>
        </p:nvSpPr>
        <p:spPr>
          <a:xfrm rot="0">
            <a:off x="7132320" y="4181993"/>
            <a:ext cx="4023360" cy="294620"/>
          </a:xfrm>
          <a:prstGeom prst="rect">
            <a:avLst/>
          </a:prstGeom>
        </p:spPr>
        <p:txBody>
          <a:bodyPr anchor="t" rtlCol="false" tIns="0" lIns="0" bIns="0" rIns="0">
            <a:spAutoFit/>
          </a:bodyPr>
          <a:lstStyle/>
          <a:p>
            <a:pPr algn="ctr">
              <a:lnSpc>
                <a:spcPts val="2224"/>
              </a:lnSpc>
            </a:pPr>
            <a:r>
              <a:rPr lang="en-US" sz="2224">
                <a:solidFill>
                  <a:srgbClr val="FFFFFF"/>
                </a:solidFill>
                <a:latin typeface="Nunito Sans"/>
                <a:ea typeface="Nunito Sans"/>
                <a:cs typeface="Nunito Sans"/>
                <a:sym typeface="Nunito Sans"/>
              </a:rPr>
              <a:t>Growth Strategy Management</a:t>
            </a:r>
          </a:p>
        </p:txBody>
      </p:sp>
      <p:sp>
        <p:nvSpPr>
          <p:cNvPr name="TextBox 15" id="15"/>
          <p:cNvSpPr txBox="true"/>
          <p:nvPr/>
        </p:nvSpPr>
        <p:spPr>
          <a:xfrm rot="0">
            <a:off x="7516368" y="4704778"/>
            <a:ext cx="3255264" cy="476250"/>
          </a:xfrm>
          <a:prstGeom prst="rect">
            <a:avLst/>
          </a:prstGeom>
        </p:spPr>
        <p:txBody>
          <a:bodyPr anchor="t" rtlCol="false" tIns="0" lIns="0" bIns="0" rIns="0">
            <a:spAutoFit/>
          </a:bodyPr>
          <a:lstStyle/>
          <a:p>
            <a:pPr algn="ctr">
              <a:lnSpc>
                <a:spcPts val="1940"/>
              </a:lnSpc>
            </a:pPr>
            <a:r>
              <a:rPr lang="en-US" sz="1617">
                <a:solidFill>
                  <a:srgbClr val="FFFFFF"/>
                </a:solidFill>
                <a:latin typeface="Nunito Sans"/>
                <a:ea typeface="Nunito Sans"/>
                <a:cs typeface="Nunito Sans"/>
                <a:sym typeface="Nunito Sans"/>
              </a:rPr>
              <a:t>Mengintegrasikan insight menjadi keputusan pertumbuhan</a:t>
            </a:r>
          </a:p>
        </p:txBody>
      </p:sp>
      <p:sp>
        <p:nvSpPr>
          <p:cNvPr name="Freeform 16" id="16"/>
          <p:cNvSpPr/>
          <p:nvPr/>
        </p:nvSpPr>
        <p:spPr>
          <a:xfrm flipH="false" flipV="false" rot="0">
            <a:off x="2171700" y="5572125"/>
            <a:ext cx="13944600" cy="219075"/>
          </a:xfrm>
          <a:custGeom>
            <a:avLst/>
            <a:gdLst/>
            <a:ahLst/>
            <a:cxnLst/>
            <a:rect r="r" b="b" t="t" l="l"/>
            <a:pathLst>
              <a:path h="219075" w="13944600">
                <a:moveTo>
                  <a:pt x="0" y="0"/>
                </a:moveTo>
                <a:lnTo>
                  <a:pt x="13944600" y="0"/>
                </a:lnTo>
                <a:lnTo>
                  <a:pt x="13944600" y="219075"/>
                </a:lnTo>
                <a:lnTo>
                  <a:pt x="0" y="219075"/>
                </a:lnTo>
                <a:lnTo>
                  <a:pt x="0" y="0"/>
                </a:lnTo>
                <a:close/>
              </a:path>
            </a:pathLst>
          </a:custGeom>
          <a:blipFill>
            <a:blip r:embed="rId11"/>
            <a:stretch>
              <a:fillRect l="0" t="0" r="0" b="0"/>
            </a:stretch>
          </a:blipFill>
        </p:spPr>
      </p:sp>
      <p:sp>
        <p:nvSpPr>
          <p:cNvPr name="Freeform 17" id="17"/>
          <p:cNvSpPr/>
          <p:nvPr/>
        </p:nvSpPr>
        <p:spPr>
          <a:xfrm flipH="false" flipV="false" rot="0">
            <a:off x="866775" y="6000750"/>
            <a:ext cx="2619375" cy="3000375"/>
          </a:xfrm>
          <a:custGeom>
            <a:avLst/>
            <a:gdLst/>
            <a:ahLst/>
            <a:cxnLst/>
            <a:rect r="r" b="b" t="t" l="l"/>
            <a:pathLst>
              <a:path h="3000375" w="2619375">
                <a:moveTo>
                  <a:pt x="0" y="0"/>
                </a:moveTo>
                <a:lnTo>
                  <a:pt x="2619375" y="0"/>
                </a:lnTo>
                <a:lnTo>
                  <a:pt x="2619375" y="3000375"/>
                </a:lnTo>
                <a:lnTo>
                  <a:pt x="0" y="3000375"/>
                </a:lnTo>
                <a:lnTo>
                  <a:pt x="0" y="0"/>
                </a:lnTo>
                <a:close/>
              </a:path>
            </a:pathLst>
          </a:custGeom>
          <a:blipFill>
            <a:blip r:embed="rId12"/>
            <a:stretch>
              <a:fillRect l="0" t="0" r="0" b="0"/>
            </a:stretch>
          </a:blipFill>
        </p:spPr>
      </p:sp>
      <p:sp>
        <p:nvSpPr>
          <p:cNvPr name="Freeform 18" id="18"/>
          <p:cNvSpPr/>
          <p:nvPr/>
        </p:nvSpPr>
        <p:spPr>
          <a:xfrm flipH="false" flipV="false" rot="0">
            <a:off x="1733550" y="5781675"/>
            <a:ext cx="1104900" cy="1076325"/>
          </a:xfrm>
          <a:custGeom>
            <a:avLst/>
            <a:gdLst/>
            <a:ahLst/>
            <a:cxnLst/>
            <a:rect r="r" b="b" t="t" l="l"/>
            <a:pathLst>
              <a:path h="1076325" w="1104900">
                <a:moveTo>
                  <a:pt x="0" y="0"/>
                </a:moveTo>
                <a:lnTo>
                  <a:pt x="1104900" y="0"/>
                </a:lnTo>
                <a:lnTo>
                  <a:pt x="1104900" y="1076325"/>
                </a:lnTo>
                <a:lnTo>
                  <a:pt x="0" y="1076325"/>
                </a:lnTo>
                <a:lnTo>
                  <a:pt x="0" y="0"/>
                </a:lnTo>
                <a:close/>
              </a:path>
            </a:pathLst>
          </a:custGeom>
          <a:blipFill>
            <a:blip r:embed="rId13"/>
            <a:stretch>
              <a:fillRect l="0" t="0" r="0" b="0"/>
            </a:stretch>
          </a:blipFill>
        </p:spPr>
      </p:sp>
      <p:sp>
        <p:nvSpPr>
          <p:cNvPr name="TextBox 19" id="19"/>
          <p:cNvSpPr txBox="true"/>
          <p:nvPr/>
        </p:nvSpPr>
        <p:spPr>
          <a:xfrm rot="0">
            <a:off x="1609344" y="6939344"/>
            <a:ext cx="1225296" cy="533400"/>
          </a:xfrm>
          <a:prstGeom prst="rect">
            <a:avLst/>
          </a:prstGeom>
        </p:spPr>
        <p:txBody>
          <a:bodyPr anchor="t" rtlCol="false" tIns="0" lIns="0" bIns="0" rIns="0">
            <a:spAutoFit/>
          </a:bodyPr>
          <a:lstStyle/>
          <a:p>
            <a:pPr algn="ctr">
              <a:lnSpc>
                <a:spcPts val="2115"/>
              </a:lnSpc>
            </a:pPr>
            <a:r>
              <a:rPr lang="en-US" sz="1762">
                <a:solidFill>
                  <a:srgbClr val="18A824"/>
                </a:solidFill>
                <a:latin typeface="Nunito Sans"/>
                <a:ea typeface="Nunito Sans"/>
                <a:cs typeface="Nunito Sans"/>
                <a:sym typeface="Nunito Sans"/>
              </a:rPr>
              <a:t>Executive Leadership</a:t>
            </a:r>
          </a:p>
        </p:txBody>
      </p:sp>
      <p:sp>
        <p:nvSpPr>
          <p:cNvPr name="TextBox 20" id="20"/>
          <p:cNvSpPr txBox="true"/>
          <p:nvPr/>
        </p:nvSpPr>
        <p:spPr>
          <a:xfrm rot="0">
            <a:off x="1371600" y="7733782"/>
            <a:ext cx="1737360" cy="983635"/>
          </a:xfrm>
          <a:prstGeom prst="rect">
            <a:avLst/>
          </a:prstGeom>
        </p:spPr>
        <p:txBody>
          <a:bodyPr anchor="t" rtlCol="false" tIns="0" lIns="0" bIns="0" rIns="0">
            <a:spAutoFit/>
          </a:bodyPr>
          <a:lstStyle/>
          <a:p>
            <a:pPr algn="ctr">
              <a:lnSpc>
                <a:spcPts val="1958"/>
              </a:lnSpc>
            </a:pPr>
            <a:r>
              <a:rPr lang="en-US" sz="1399">
                <a:solidFill>
                  <a:srgbClr val="005001"/>
                </a:solidFill>
                <a:latin typeface="Nunito Sans"/>
                <a:ea typeface="Nunito Sans"/>
                <a:cs typeface="Nunito Sans"/>
                <a:sym typeface="Nunito Sans"/>
              </a:rPr>
              <a:t>menetapkan prioritas bisnis, target profitabilitas, dan keputusan investasi.</a:t>
            </a:r>
          </a:p>
        </p:txBody>
      </p:sp>
      <p:sp>
        <p:nvSpPr>
          <p:cNvPr name="Freeform 21" id="21"/>
          <p:cNvSpPr/>
          <p:nvPr/>
        </p:nvSpPr>
        <p:spPr>
          <a:xfrm flipH="false" flipV="false" rot="0">
            <a:off x="3695700" y="6000750"/>
            <a:ext cx="2619375" cy="3000375"/>
          </a:xfrm>
          <a:custGeom>
            <a:avLst/>
            <a:gdLst/>
            <a:ahLst/>
            <a:cxnLst/>
            <a:rect r="r" b="b" t="t" l="l"/>
            <a:pathLst>
              <a:path h="3000375" w="2619375">
                <a:moveTo>
                  <a:pt x="0" y="0"/>
                </a:moveTo>
                <a:lnTo>
                  <a:pt x="2619375" y="0"/>
                </a:lnTo>
                <a:lnTo>
                  <a:pt x="2619375" y="3000375"/>
                </a:lnTo>
                <a:lnTo>
                  <a:pt x="0" y="3000375"/>
                </a:lnTo>
                <a:lnTo>
                  <a:pt x="0" y="0"/>
                </a:lnTo>
                <a:close/>
              </a:path>
            </a:pathLst>
          </a:custGeom>
          <a:blipFill>
            <a:blip r:embed="rId14"/>
            <a:stretch>
              <a:fillRect l="0" t="0" r="0" b="0"/>
            </a:stretch>
          </a:blipFill>
        </p:spPr>
      </p:sp>
      <p:sp>
        <p:nvSpPr>
          <p:cNvPr name="Freeform 22" id="22"/>
          <p:cNvSpPr/>
          <p:nvPr/>
        </p:nvSpPr>
        <p:spPr>
          <a:xfrm flipH="false" flipV="false" rot="0">
            <a:off x="4352925" y="5781675"/>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15"/>
            <a:stretch>
              <a:fillRect l="0" t="0" r="0" b="0"/>
            </a:stretch>
          </a:blipFill>
        </p:spPr>
      </p:sp>
      <p:sp>
        <p:nvSpPr>
          <p:cNvPr name="TextBox 23" id="23"/>
          <p:cNvSpPr txBox="true"/>
          <p:nvPr/>
        </p:nvSpPr>
        <p:spPr>
          <a:xfrm rot="0">
            <a:off x="4261104" y="6939344"/>
            <a:ext cx="1444752" cy="533400"/>
          </a:xfrm>
          <a:prstGeom prst="rect">
            <a:avLst/>
          </a:prstGeom>
        </p:spPr>
        <p:txBody>
          <a:bodyPr anchor="t" rtlCol="false" tIns="0" lIns="0" bIns="0" rIns="0">
            <a:spAutoFit/>
          </a:bodyPr>
          <a:lstStyle/>
          <a:p>
            <a:pPr algn="ctr">
              <a:lnSpc>
                <a:spcPts val="2115"/>
              </a:lnSpc>
            </a:pPr>
            <a:r>
              <a:rPr lang="en-US" sz="1762">
                <a:solidFill>
                  <a:srgbClr val="18A824"/>
                </a:solidFill>
                <a:latin typeface="Nunito Sans"/>
                <a:ea typeface="Nunito Sans"/>
                <a:cs typeface="Nunito Sans"/>
                <a:sym typeface="Nunito Sans"/>
              </a:rPr>
              <a:t>Marketing &amp; CRM</a:t>
            </a:r>
          </a:p>
        </p:txBody>
      </p:sp>
      <p:sp>
        <p:nvSpPr>
          <p:cNvPr name="TextBox 24" id="24"/>
          <p:cNvSpPr txBox="true"/>
          <p:nvPr/>
        </p:nvSpPr>
        <p:spPr>
          <a:xfrm rot="0">
            <a:off x="3950208" y="7739307"/>
            <a:ext cx="2084832" cy="735985"/>
          </a:xfrm>
          <a:prstGeom prst="rect">
            <a:avLst/>
          </a:prstGeom>
        </p:spPr>
        <p:txBody>
          <a:bodyPr anchor="t" rtlCol="false" tIns="0" lIns="0" bIns="0" rIns="0">
            <a:spAutoFit/>
          </a:bodyPr>
          <a:lstStyle/>
          <a:p>
            <a:pPr algn="ctr">
              <a:lnSpc>
                <a:spcPts val="1958"/>
              </a:lnSpc>
            </a:pPr>
            <a:r>
              <a:rPr lang="en-US" sz="1399">
                <a:solidFill>
                  <a:srgbClr val="005001"/>
                </a:solidFill>
                <a:latin typeface="Nunito Sans"/>
                <a:ea typeface="Nunito Sans"/>
                <a:cs typeface="Nunito Sans"/>
                <a:sym typeface="Nunito Sans"/>
              </a:rPr>
              <a:t>menerapkan segmentasi RFM, promo hiper-target, dan program retensi.</a:t>
            </a:r>
          </a:p>
        </p:txBody>
      </p:sp>
      <p:sp>
        <p:nvSpPr>
          <p:cNvPr name="Freeform 25" id="25"/>
          <p:cNvSpPr/>
          <p:nvPr/>
        </p:nvSpPr>
        <p:spPr>
          <a:xfrm flipH="false" flipV="false" rot="0">
            <a:off x="6305550" y="6000750"/>
            <a:ext cx="2628900" cy="3000375"/>
          </a:xfrm>
          <a:custGeom>
            <a:avLst/>
            <a:gdLst/>
            <a:ahLst/>
            <a:cxnLst/>
            <a:rect r="r" b="b" t="t" l="l"/>
            <a:pathLst>
              <a:path h="3000375" w="2628900">
                <a:moveTo>
                  <a:pt x="0" y="0"/>
                </a:moveTo>
                <a:lnTo>
                  <a:pt x="2628900" y="0"/>
                </a:lnTo>
                <a:lnTo>
                  <a:pt x="2628900" y="3000375"/>
                </a:lnTo>
                <a:lnTo>
                  <a:pt x="0" y="3000375"/>
                </a:lnTo>
                <a:lnTo>
                  <a:pt x="0" y="0"/>
                </a:lnTo>
                <a:close/>
              </a:path>
            </a:pathLst>
          </a:custGeom>
          <a:blipFill>
            <a:blip r:embed="rId16"/>
            <a:stretch>
              <a:fillRect l="0" t="0" r="0" b="0"/>
            </a:stretch>
          </a:blipFill>
        </p:spPr>
      </p:sp>
      <p:sp>
        <p:nvSpPr>
          <p:cNvPr name="Freeform 26" id="26"/>
          <p:cNvSpPr/>
          <p:nvPr/>
        </p:nvSpPr>
        <p:spPr>
          <a:xfrm flipH="false" flipV="false" rot="0">
            <a:off x="7181850" y="5781675"/>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17"/>
            <a:stretch>
              <a:fillRect l="0" t="0" r="0" b="0"/>
            </a:stretch>
          </a:blipFill>
        </p:spPr>
      </p:sp>
      <p:sp>
        <p:nvSpPr>
          <p:cNvPr name="TextBox 27" id="27"/>
          <p:cNvSpPr txBox="true"/>
          <p:nvPr/>
        </p:nvSpPr>
        <p:spPr>
          <a:xfrm rot="0">
            <a:off x="7132320" y="6939344"/>
            <a:ext cx="1133856" cy="533400"/>
          </a:xfrm>
          <a:prstGeom prst="rect">
            <a:avLst/>
          </a:prstGeom>
        </p:spPr>
        <p:txBody>
          <a:bodyPr anchor="t" rtlCol="false" tIns="0" lIns="0" bIns="0" rIns="0">
            <a:spAutoFit/>
          </a:bodyPr>
          <a:lstStyle/>
          <a:p>
            <a:pPr algn="ctr">
              <a:lnSpc>
                <a:spcPts val="2115"/>
              </a:lnSpc>
            </a:pPr>
            <a:r>
              <a:rPr lang="en-US" sz="1762">
                <a:solidFill>
                  <a:srgbClr val="18A824"/>
                </a:solidFill>
                <a:latin typeface="Nunito Sans"/>
                <a:ea typeface="Nunito Sans"/>
                <a:cs typeface="Nunito Sans"/>
                <a:sym typeface="Nunito Sans"/>
              </a:rPr>
              <a:t>Finance &amp; Pricing</a:t>
            </a:r>
          </a:p>
        </p:txBody>
      </p:sp>
      <p:sp>
        <p:nvSpPr>
          <p:cNvPr name="TextBox 28" id="28"/>
          <p:cNvSpPr txBox="true"/>
          <p:nvPr/>
        </p:nvSpPr>
        <p:spPr>
          <a:xfrm rot="0">
            <a:off x="6675120" y="7733782"/>
            <a:ext cx="2084832" cy="983635"/>
          </a:xfrm>
          <a:prstGeom prst="rect">
            <a:avLst/>
          </a:prstGeom>
        </p:spPr>
        <p:txBody>
          <a:bodyPr anchor="t" rtlCol="false" tIns="0" lIns="0" bIns="0" rIns="0">
            <a:spAutoFit/>
          </a:bodyPr>
          <a:lstStyle/>
          <a:p>
            <a:pPr algn="ctr">
              <a:lnSpc>
                <a:spcPts val="1958"/>
              </a:lnSpc>
            </a:pPr>
            <a:r>
              <a:rPr lang="en-US" sz="1399">
                <a:solidFill>
                  <a:srgbClr val="005001"/>
                </a:solidFill>
                <a:latin typeface="Nunito Sans"/>
                <a:ea typeface="Nunito Sans"/>
                <a:cs typeface="Nunito Sans"/>
                <a:sym typeface="Nunito Sans"/>
              </a:rPr>
              <a:t>mengawasi Net Revenue, unit economics, CAC vs CLV, dan burn rate promo.</a:t>
            </a:r>
          </a:p>
        </p:txBody>
      </p:sp>
      <p:sp>
        <p:nvSpPr>
          <p:cNvPr name="Freeform 29" id="29"/>
          <p:cNvSpPr/>
          <p:nvPr/>
        </p:nvSpPr>
        <p:spPr>
          <a:xfrm flipH="false" flipV="false" rot="0">
            <a:off x="9144000" y="6000750"/>
            <a:ext cx="2619375" cy="3000375"/>
          </a:xfrm>
          <a:custGeom>
            <a:avLst/>
            <a:gdLst/>
            <a:ahLst/>
            <a:cxnLst/>
            <a:rect r="r" b="b" t="t" l="l"/>
            <a:pathLst>
              <a:path h="3000375" w="2619375">
                <a:moveTo>
                  <a:pt x="0" y="0"/>
                </a:moveTo>
                <a:lnTo>
                  <a:pt x="2619375" y="0"/>
                </a:lnTo>
                <a:lnTo>
                  <a:pt x="2619375" y="3000375"/>
                </a:lnTo>
                <a:lnTo>
                  <a:pt x="0" y="3000375"/>
                </a:lnTo>
                <a:lnTo>
                  <a:pt x="0" y="0"/>
                </a:lnTo>
                <a:close/>
              </a:path>
            </a:pathLst>
          </a:custGeom>
          <a:blipFill>
            <a:blip r:embed="rId18"/>
            <a:stretch>
              <a:fillRect l="0" t="0" r="0" b="0"/>
            </a:stretch>
          </a:blipFill>
        </p:spPr>
      </p:sp>
      <p:sp>
        <p:nvSpPr>
          <p:cNvPr name="Freeform 30" id="30"/>
          <p:cNvSpPr/>
          <p:nvPr/>
        </p:nvSpPr>
        <p:spPr>
          <a:xfrm flipH="false" flipV="false" rot="0">
            <a:off x="10010775" y="5781675"/>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19"/>
            <a:stretch>
              <a:fillRect l="0" t="0" r="0" b="0"/>
            </a:stretch>
          </a:blipFill>
        </p:spPr>
      </p:sp>
      <p:sp>
        <p:nvSpPr>
          <p:cNvPr name="TextBox 31" id="31"/>
          <p:cNvSpPr txBox="true"/>
          <p:nvPr/>
        </p:nvSpPr>
        <p:spPr>
          <a:xfrm rot="0">
            <a:off x="9692640" y="6939344"/>
            <a:ext cx="1554480" cy="533400"/>
          </a:xfrm>
          <a:prstGeom prst="rect">
            <a:avLst/>
          </a:prstGeom>
        </p:spPr>
        <p:txBody>
          <a:bodyPr anchor="t" rtlCol="false" tIns="0" lIns="0" bIns="0" rIns="0">
            <a:spAutoFit/>
          </a:bodyPr>
          <a:lstStyle/>
          <a:p>
            <a:pPr algn="ctr">
              <a:lnSpc>
                <a:spcPts val="2115"/>
              </a:lnSpc>
            </a:pPr>
            <a:r>
              <a:rPr lang="en-US" sz="1762">
                <a:solidFill>
                  <a:srgbClr val="18A824"/>
                </a:solidFill>
                <a:latin typeface="Nunito Sans"/>
                <a:ea typeface="Nunito Sans"/>
                <a:cs typeface="Nunito Sans"/>
                <a:sym typeface="Nunito Sans"/>
              </a:rPr>
              <a:t>Operations &amp; Logistics</a:t>
            </a:r>
          </a:p>
        </p:txBody>
      </p:sp>
      <p:sp>
        <p:nvSpPr>
          <p:cNvPr name="TextBox 32" id="32"/>
          <p:cNvSpPr txBox="true"/>
          <p:nvPr/>
        </p:nvSpPr>
        <p:spPr>
          <a:xfrm rot="0">
            <a:off x="9564624" y="7733782"/>
            <a:ext cx="1938528" cy="983635"/>
          </a:xfrm>
          <a:prstGeom prst="rect">
            <a:avLst/>
          </a:prstGeom>
        </p:spPr>
        <p:txBody>
          <a:bodyPr anchor="t" rtlCol="false" tIns="0" lIns="0" bIns="0" rIns="0">
            <a:spAutoFit/>
          </a:bodyPr>
          <a:lstStyle/>
          <a:p>
            <a:pPr algn="ctr">
              <a:lnSpc>
                <a:spcPts val="1958"/>
              </a:lnSpc>
            </a:pPr>
            <a:r>
              <a:rPr lang="en-US" sz="1399">
                <a:solidFill>
                  <a:srgbClr val="005001"/>
                </a:solidFill>
                <a:latin typeface="Nunito Sans"/>
                <a:ea typeface="Nunito Sans"/>
                <a:cs typeface="Nunito Sans"/>
                <a:sym typeface="Nunito Sans"/>
              </a:rPr>
              <a:t>menindaklanjuti SLA, P90 Delivery Days, alokasi kurir, dan risiko churn.</a:t>
            </a:r>
          </a:p>
        </p:txBody>
      </p:sp>
      <p:sp>
        <p:nvSpPr>
          <p:cNvPr name="Freeform 33" id="33"/>
          <p:cNvSpPr/>
          <p:nvPr/>
        </p:nvSpPr>
        <p:spPr>
          <a:xfrm flipH="false" flipV="false" rot="0">
            <a:off x="11753850" y="6000750"/>
            <a:ext cx="2838450" cy="3000375"/>
          </a:xfrm>
          <a:custGeom>
            <a:avLst/>
            <a:gdLst/>
            <a:ahLst/>
            <a:cxnLst/>
            <a:rect r="r" b="b" t="t" l="l"/>
            <a:pathLst>
              <a:path h="3000375" w="2838450">
                <a:moveTo>
                  <a:pt x="0" y="0"/>
                </a:moveTo>
                <a:lnTo>
                  <a:pt x="2838450" y="0"/>
                </a:lnTo>
                <a:lnTo>
                  <a:pt x="2838450" y="3000375"/>
                </a:lnTo>
                <a:lnTo>
                  <a:pt x="0" y="3000375"/>
                </a:lnTo>
                <a:lnTo>
                  <a:pt x="0" y="0"/>
                </a:lnTo>
                <a:close/>
              </a:path>
            </a:pathLst>
          </a:custGeom>
          <a:blipFill>
            <a:blip r:embed="rId20"/>
            <a:stretch>
              <a:fillRect l="0" t="0" r="0" b="0"/>
            </a:stretch>
          </a:blipFill>
        </p:spPr>
      </p:sp>
      <p:sp>
        <p:nvSpPr>
          <p:cNvPr name="Freeform 34" id="34"/>
          <p:cNvSpPr/>
          <p:nvPr/>
        </p:nvSpPr>
        <p:spPr>
          <a:xfrm flipH="false" flipV="false" rot="0">
            <a:off x="12620625" y="5781675"/>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21"/>
            <a:stretch>
              <a:fillRect l="0" t="0" r="0" b="0"/>
            </a:stretch>
          </a:blipFill>
        </p:spPr>
      </p:sp>
      <p:sp>
        <p:nvSpPr>
          <p:cNvPr name="TextBox 35" id="35"/>
          <p:cNvSpPr txBox="true"/>
          <p:nvPr/>
        </p:nvSpPr>
        <p:spPr>
          <a:xfrm rot="0">
            <a:off x="12673584" y="6939344"/>
            <a:ext cx="1060704" cy="533400"/>
          </a:xfrm>
          <a:prstGeom prst="rect">
            <a:avLst/>
          </a:prstGeom>
        </p:spPr>
        <p:txBody>
          <a:bodyPr anchor="t" rtlCol="false" tIns="0" lIns="0" bIns="0" rIns="0">
            <a:spAutoFit/>
          </a:bodyPr>
          <a:lstStyle/>
          <a:p>
            <a:pPr algn="ctr">
              <a:lnSpc>
                <a:spcPts val="2115"/>
              </a:lnSpc>
            </a:pPr>
            <a:r>
              <a:rPr lang="en-US" sz="1762">
                <a:solidFill>
                  <a:srgbClr val="18A824"/>
                </a:solidFill>
                <a:latin typeface="Nunito Sans"/>
                <a:ea typeface="Nunito Sans"/>
                <a:cs typeface="Nunito Sans"/>
                <a:sym typeface="Nunito Sans"/>
              </a:rPr>
              <a:t>Data &amp; Analytics</a:t>
            </a:r>
          </a:p>
        </p:txBody>
      </p:sp>
      <p:sp>
        <p:nvSpPr>
          <p:cNvPr name="TextBox 36" id="36"/>
          <p:cNvSpPr txBox="true"/>
          <p:nvPr/>
        </p:nvSpPr>
        <p:spPr>
          <a:xfrm rot="0">
            <a:off x="12271248" y="7733782"/>
            <a:ext cx="1847088" cy="983635"/>
          </a:xfrm>
          <a:prstGeom prst="rect">
            <a:avLst/>
          </a:prstGeom>
        </p:spPr>
        <p:txBody>
          <a:bodyPr anchor="t" rtlCol="false" tIns="0" lIns="0" bIns="0" rIns="0">
            <a:spAutoFit/>
          </a:bodyPr>
          <a:lstStyle/>
          <a:p>
            <a:pPr algn="ctr">
              <a:lnSpc>
                <a:spcPts val="1958"/>
              </a:lnSpc>
            </a:pPr>
            <a:r>
              <a:rPr lang="en-US" sz="1399">
                <a:solidFill>
                  <a:srgbClr val="005001"/>
                </a:solidFill>
                <a:latin typeface="Nunito Sans"/>
                <a:ea typeface="Nunito Sans"/>
                <a:cs typeface="Nunito Sans"/>
                <a:sym typeface="Nunito Sans"/>
              </a:rPr>
              <a:t>menjaga kualitas data, pipeline cleaning, dashboard, dan validasi statistik.</a:t>
            </a:r>
          </a:p>
        </p:txBody>
      </p:sp>
      <p:sp>
        <p:nvSpPr>
          <p:cNvPr name="Freeform 37" id="37"/>
          <p:cNvSpPr/>
          <p:nvPr/>
        </p:nvSpPr>
        <p:spPr>
          <a:xfrm flipH="false" flipV="false" rot="0">
            <a:off x="14582775" y="6000750"/>
            <a:ext cx="2619375" cy="3000375"/>
          </a:xfrm>
          <a:custGeom>
            <a:avLst/>
            <a:gdLst/>
            <a:ahLst/>
            <a:cxnLst/>
            <a:rect r="r" b="b" t="t" l="l"/>
            <a:pathLst>
              <a:path h="3000375" w="2619375">
                <a:moveTo>
                  <a:pt x="0" y="0"/>
                </a:moveTo>
                <a:lnTo>
                  <a:pt x="2619375" y="0"/>
                </a:lnTo>
                <a:lnTo>
                  <a:pt x="2619375" y="3000375"/>
                </a:lnTo>
                <a:lnTo>
                  <a:pt x="0" y="3000375"/>
                </a:lnTo>
                <a:lnTo>
                  <a:pt x="0" y="0"/>
                </a:lnTo>
                <a:close/>
              </a:path>
            </a:pathLst>
          </a:custGeom>
          <a:blipFill>
            <a:blip r:embed="rId22"/>
            <a:stretch>
              <a:fillRect l="0" t="0" r="0" b="0"/>
            </a:stretch>
          </a:blipFill>
        </p:spPr>
      </p:sp>
      <p:sp>
        <p:nvSpPr>
          <p:cNvPr name="Freeform 38" id="38"/>
          <p:cNvSpPr/>
          <p:nvPr/>
        </p:nvSpPr>
        <p:spPr>
          <a:xfrm flipH="false" flipV="false" rot="0">
            <a:off x="15449550" y="5781675"/>
            <a:ext cx="1104900" cy="1076325"/>
          </a:xfrm>
          <a:custGeom>
            <a:avLst/>
            <a:gdLst/>
            <a:ahLst/>
            <a:cxnLst/>
            <a:rect r="r" b="b" t="t" l="l"/>
            <a:pathLst>
              <a:path h="1076325" w="1104900">
                <a:moveTo>
                  <a:pt x="0" y="0"/>
                </a:moveTo>
                <a:lnTo>
                  <a:pt x="1104900" y="0"/>
                </a:lnTo>
                <a:lnTo>
                  <a:pt x="1104900" y="1076325"/>
                </a:lnTo>
                <a:lnTo>
                  <a:pt x="0" y="1076325"/>
                </a:lnTo>
                <a:lnTo>
                  <a:pt x="0" y="0"/>
                </a:lnTo>
                <a:close/>
              </a:path>
            </a:pathLst>
          </a:custGeom>
          <a:blipFill>
            <a:blip r:embed="rId23"/>
            <a:stretch>
              <a:fillRect l="0" t="0" r="0" b="0"/>
            </a:stretch>
          </a:blipFill>
        </p:spPr>
      </p:sp>
      <p:sp>
        <p:nvSpPr>
          <p:cNvPr name="TextBox 39" id="39"/>
          <p:cNvSpPr txBox="true"/>
          <p:nvPr/>
        </p:nvSpPr>
        <p:spPr>
          <a:xfrm rot="0">
            <a:off x="15233904" y="6939344"/>
            <a:ext cx="1389888" cy="533400"/>
          </a:xfrm>
          <a:prstGeom prst="rect">
            <a:avLst/>
          </a:prstGeom>
        </p:spPr>
        <p:txBody>
          <a:bodyPr anchor="t" rtlCol="false" tIns="0" lIns="0" bIns="0" rIns="0">
            <a:spAutoFit/>
          </a:bodyPr>
          <a:lstStyle/>
          <a:p>
            <a:pPr algn="ctr">
              <a:lnSpc>
                <a:spcPts val="2115"/>
              </a:lnSpc>
            </a:pPr>
            <a:r>
              <a:rPr lang="en-US" sz="1762">
                <a:solidFill>
                  <a:srgbClr val="18A824"/>
                </a:solidFill>
                <a:latin typeface="Nunito Sans"/>
                <a:ea typeface="Nunito Sans"/>
                <a:cs typeface="Nunito Sans"/>
                <a:sym typeface="Nunito Sans"/>
              </a:rPr>
              <a:t>Merchant &amp; Commercial</a:t>
            </a:r>
          </a:p>
        </p:txBody>
      </p:sp>
      <p:sp>
        <p:nvSpPr>
          <p:cNvPr name="TextBox 40" id="40"/>
          <p:cNvSpPr txBox="true"/>
          <p:nvPr/>
        </p:nvSpPr>
        <p:spPr>
          <a:xfrm rot="0">
            <a:off x="14868144" y="7733782"/>
            <a:ext cx="2176272" cy="983635"/>
          </a:xfrm>
          <a:prstGeom prst="rect">
            <a:avLst/>
          </a:prstGeom>
        </p:spPr>
        <p:txBody>
          <a:bodyPr anchor="t" rtlCol="false" tIns="0" lIns="0" bIns="0" rIns="0">
            <a:spAutoFit/>
          </a:bodyPr>
          <a:lstStyle/>
          <a:p>
            <a:pPr algn="ctr">
              <a:lnSpc>
                <a:spcPts val="1958"/>
              </a:lnSpc>
            </a:pPr>
            <a:r>
              <a:rPr lang="en-US" sz="1399">
                <a:solidFill>
                  <a:srgbClr val="005001"/>
                </a:solidFill>
                <a:latin typeface="Nunito Sans"/>
                <a:ea typeface="Nunito Sans"/>
                <a:cs typeface="Nunito Sans"/>
                <a:sym typeface="Nunito Sans"/>
              </a:rPr>
              <a:t>mengoptimalkan kategori, produk bernilai margin tinggi, dan strategi merchant.</a:t>
            </a:r>
          </a:p>
        </p:txBody>
      </p:sp>
      <p:sp>
        <p:nvSpPr>
          <p:cNvPr name="Freeform 41" id="41"/>
          <p:cNvSpPr/>
          <p:nvPr/>
        </p:nvSpPr>
        <p:spPr>
          <a:xfrm flipH="false" flipV="false" rot="0">
            <a:off x="2828925" y="9001125"/>
            <a:ext cx="12630150" cy="1285875"/>
          </a:xfrm>
          <a:custGeom>
            <a:avLst/>
            <a:gdLst/>
            <a:ahLst/>
            <a:cxnLst/>
            <a:rect r="r" b="b" t="t" l="l"/>
            <a:pathLst>
              <a:path h="1285875" w="12630150">
                <a:moveTo>
                  <a:pt x="0" y="0"/>
                </a:moveTo>
                <a:lnTo>
                  <a:pt x="12630150" y="0"/>
                </a:lnTo>
                <a:lnTo>
                  <a:pt x="12630150" y="1285875"/>
                </a:lnTo>
                <a:lnTo>
                  <a:pt x="0" y="1285875"/>
                </a:lnTo>
                <a:lnTo>
                  <a:pt x="0" y="0"/>
                </a:lnTo>
                <a:close/>
              </a:path>
            </a:pathLst>
          </a:custGeom>
          <a:blipFill>
            <a:blip r:embed="rId24"/>
            <a:stretch>
              <a:fillRect l="0" t="0" r="0" b="0"/>
            </a:stretch>
          </a:blipFill>
        </p:spPr>
      </p:sp>
      <p:sp>
        <p:nvSpPr>
          <p:cNvPr name="Freeform 42" id="42"/>
          <p:cNvSpPr/>
          <p:nvPr/>
        </p:nvSpPr>
        <p:spPr>
          <a:xfrm flipH="false" flipV="false" rot="0">
            <a:off x="3476625" y="9210675"/>
            <a:ext cx="885825" cy="866775"/>
          </a:xfrm>
          <a:custGeom>
            <a:avLst/>
            <a:gdLst/>
            <a:ahLst/>
            <a:cxnLst/>
            <a:rect r="r" b="b" t="t" l="l"/>
            <a:pathLst>
              <a:path h="866775" w="885825">
                <a:moveTo>
                  <a:pt x="0" y="0"/>
                </a:moveTo>
                <a:lnTo>
                  <a:pt x="885825" y="0"/>
                </a:lnTo>
                <a:lnTo>
                  <a:pt x="885825" y="866775"/>
                </a:lnTo>
                <a:lnTo>
                  <a:pt x="0" y="866775"/>
                </a:lnTo>
                <a:lnTo>
                  <a:pt x="0" y="0"/>
                </a:lnTo>
                <a:close/>
              </a:path>
            </a:pathLst>
          </a:custGeom>
          <a:blipFill>
            <a:blip r:embed="rId25"/>
            <a:stretch>
              <a:fillRect l="0" t="0" r="0" b="0"/>
            </a:stretch>
          </a:blipFill>
        </p:spPr>
      </p:sp>
      <p:sp>
        <p:nvSpPr>
          <p:cNvPr name="TextBox 43" id="43"/>
          <p:cNvSpPr txBox="true"/>
          <p:nvPr/>
        </p:nvSpPr>
        <p:spPr>
          <a:xfrm rot="0">
            <a:off x="4425696" y="9544788"/>
            <a:ext cx="1024128" cy="307896"/>
          </a:xfrm>
          <a:prstGeom prst="rect">
            <a:avLst/>
          </a:prstGeom>
        </p:spPr>
        <p:txBody>
          <a:bodyPr anchor="t" rtlCol="false" tIns="0" lIns="0" bIns="0" rIns="0">
            <a:spAutoFit/>
          </a:bodyPr>
          <a:lstStyle/>
          <a:p>
            <a:pPr algn="l">
              <a:lnSpc>
                <a:spcPts val="2371"/>
              </a:lnSpc>
            </a:pPr>
            <a:r>
              <a:rPr lang="en-US" sz="2371">
                <a:solidFill>
                  <a:srgbClr val="18A824"/>
                </a:solidFill>
                <a:latin typeface="Nunito Sans"/>
                <a:ea typeface="Nunito Sans"/>
                <a:cs typeface="Nunito Sans"/>
                <a:sym typeface="Nunito Sans"/>
              </a:rPr>
              <a:t>Insight</a:t>
            </a:r>
          </a:p>
        </p:txBody>
      </p:sp>
      <p:sp>
        <p:nvSpPr>
          <p:cNvPr name="Freeform 44" id="44"/>
          <p:cNvSpPr/>
          <p:nvPr/>
        </p:nvSpPr>
        <p:spPr>
          <a:xfrm flipH="false" flipV="false" rot="0">
            <a:off x="5657850" y="9429750"/>
            <a:ext cx="438150" cy="428625"/>
          </a:xfrm>
          <a:custGeom>
            <a:avLst/>
            <a:gdLst/>
            <a:ahLst/>
            <a:cxnLst/>
            <a:rect r="r" b="b" t="t" l="l"/>
            <a:pathLst>
              <a:path h="428625" w="438150">
                <a:moveTo>
                  <a:pt x="0" y="0"/>
                </a:moveTo>
                <a:lnTo>
                  <a:pt x="438150" y="0"/>
                </a:lnTo>
                <a:lnTo>
                  <a:pt x="438150" y="428625"/>
                </a:lnTo>
                <a:lnTo>
                  <a:pt x="0" y="428625"/>
                </a:lnTo>
                <a:lnTo>
                  <a:pt x="0" y="0"/>
                </a:lnTo>
                <a:close/>
              </a:path>
            </a:pathLst>
          </a:custGeom>
          <a:blipFill>
            <a:blip r:embed="rId26"/>
            <a:stretch>
              <a:fillRect l="0" t="0" r="0" b="0"/>
            </a:stretch>
          </a:blipFill>
        </p:spPr>
      </p:sp>
      <p:sp>
        <p:nvSpPr>
          <p:cNvPr name="Freeform 45" id="45"/>
          <p:cNvSpPr/>
          <p:nvPr/>
        </p:nvSpPr>
        <p:spPr>
          <a:xfrm flipH="false" flipV="false" rot="0">
            <a:off x="6305550" y="9210675"/>
            <a:ext cx="666750" cy="866775"/>
          </a:xfrm>
          <a:custGeom>
            <a:avLst/>
            <a:gdLst/>
            <a:ahLst/>
            <a:cxnLst/>
            <a:rect r="r" b="b" t="t" l="l"/>
            <a:pathLst>
              <a:path h="866775" w="666750">
                <a:moveTo>
                  <a:pt x="0" y="0"/>
                </a:moveTo>
                <a:lnTo>
                  <a:pt x="666750" y="0"/>
                </a:lnTo>
                <a:lnTo>
                  <a:pt x="666750" y="866775"/>
                </a:lnTo>
                <a:lnTo>
                  <a:pt x="0" y="866775"/>
                </a:lnTo>
                <a:lnTo>
                  <a:pt x="0" y="0"/>
                </a:lnTo>
                <a:close/>
              </a:path>
            </a:pathLst>
          </a:custGeom>
          <a:blipFill>
            <a:blip r:embed="rId27"/>
            <a:stretch>
              <a:fillRect l="0" t="0" r="0" b="0"/>
            </a:stretch>
          </a:blipFill>
        </p:spPr>
      </p:sp>
      <p:sp>
        <p:nvSpPr>
          <p:cNvPr name="TextBox 46" id="46"/>
          <p:cNvSpPr txBox="true"/>
          <p:nvPr/>
        </p:nvSpPr>
        <p:spPr>
          <a:xfrm rot="0">
            <a:off x="7132320" y="9544788"/>
            <a:ext cx="3474720" cy="307896"/>
          </a:xfrm>
          <a:prstGeom prst="rect">
            <a:avLst/>
          </a:prstGeom>
        </p:spPr>
        <p:txBody>
          <a:bodyPr anchor="t" rtlCol="false" tIns="0" lIns="0" bIns="0" rIns="0">
            <a:spAutoFit/>
          </a:bodyPr>
          <a:lstStyle/>
          <a:p>
            <a:pPr algn="l">
              <a:lnSpc>
                <a:spcPts val="2371"/>
              </a:lnSpc>
            </a:pPr>
            <a:r>
              <a:rPr lang="en-US" sz="2371">
                <a:solidFill>
                  <a:srgbClr val="18A824"/>
                </a:solidFill>
                <a:latin typeface="Nunito Sans"/>
                <a:ea typeface="Nunito Sans"/>
                <a:cs typeface="Nunito Sans"/>
                <a:sym typeface="Nunito Sans"/>
              </a:rPr>
              <a:t>Keputusan lintas fungsi</a:t>
            </a:r>
          </a:p>
        </p:txBody>
      </p:sp>
      <p:sp>
        <p:nvSpPr>
          <p:cNvPr name="Freeform 47" id="47"/>
          <p:cNvSpPr/>
          <p:nvPr/>
        </p:nvSpPr>
        <p:spPr>
          <a:xfrm flipH="false" flipV="false" rot="0">
            <a:off x="10668000" y="9429750"/>
            <a:ext cx="657225" cy="428625"/>
          </a:xfrm>
          <a:custGeom>
            <a:avLst/>
            <a:gdLst/>
            <a:ahLst/>
            <a:cxnLst/>
            <a:rect r="r" b="b" t="t" l="l"/>
            <a:pathLst>
              <a:path h="428625" w="657225">
                <a:moveTo>
                  <a:pt x="0" y="0"/>
                </a:moveTo>
                <a:lnTo>
                  <a:pt x="657225" y="0"/>
                </a:lnTo>
                <a:lnTo>
                  <a:pt x="657225" y="428625"/>
                </a:lnTo>
                <a:lnTo>
                  <a:pt x="0" y="428625"/>
                </a:lnTo>
                <a:lnTo>
                  <a:pt x="0" y="0"/>
                </a:lnTo>
                <a:close/>
              </a:path>
            </a:pathLst>
          </a:custGeom>
          <a:blipFill>
            <a:blip r:embed="rId28"/>
            <a:stretch>
              <a:fillRect l="0" t="0" r="0" b="0"/>
            </a:stretch>
          </a:blipFill>
        </p:spPr>
      </p:sp>
      <p:sp>
        <p:nvSpPr>
          <p:cNvPr name="Freeform 48" id="48"/>
          <p:cNvSpPr/>
          <p:nvPr/>
        </p:nvSpPr>
        <p:spPr>
          <a:xfrm flipH="false" flipV="false" rot="0">
            <a:off x="11315700" y="9210675"/>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29"/>
            <a:stretch>
              <a:fillRect l="0" t="0" r="0" b="0"/>
            </a:stretch>
          </a:blipFill>
        </p:spPr>
      </p:sp>
      <p:sp>
        <p:nvSpPr>
          <p:cNvPr name="TextBox 49" id="49"/>
          <p:cNvSpPr txBox="true"/>
          <p:nvPr/>
        </p:nvSpPr>
        <p:spPr>
          <a:xfrm rot="0">
            <a:off x="12271248" y="9397937"/>
            <a:ext cx="2560320" cy="533400"/>
          </a:xfrm>
          <a:prstGeom prst="rect">
            <a:avLst/>
          </a:prstGeom>
        </p:spPr>
        <p:txBody>
          <a:bodyPr anchor="t" rtlCol="false" tIns="0" lIns="0" bIns="0" rIns="0">
            <a:spAutoFit/>
          </a:bodyPr>
          <a:lstStyle/>
          <a:p>
            <a:pPr algn="l">
              <a:lnSpc>
                <a:spcPts val="2115"/>
              </a:lnSpc>
            </a:pPr>
            <a:r>
              <a:rPr lang="en-US" sz="1762">
                <a:solidFill>
                  <a:srgbClr val="18A824"/>
                </a:solidFill>
                <a:latin typeface="Nunito Sans"/>
                <a:ea typeface="Nunito Sans"/>
                <a:cs typeface="Nunito Sans"/>
                <a:sym typeface="Nunito Sans"/>
              </a:rPr>
              <a:t>Dampak pada revenue, retensi, dan efisiensi</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23900" y="428625"/>
            <a:ext cx="8572500" cy="283210"/>
          </a:xfrm>
          <a:prstGeom prst="rect">
            <a:avLst/>
          </a:prstGeom>
        </p:spPr>
        <p:txBody>
          <a:bodyPr anchor="t" rtlCol="false" tIns="0" lIns="0" bIns="0" rIns="0">
            <a:spAutoFit/>
          </a:bodyPr>
          <a:lstStyle/>
          <a:p>
            <a:pPr algn="l">
              <a:lnSpc>
                <a:spcPts val="2239"/>
              </a:lnSpc>
            </a:pPr>
            <a:r>
              <a:rPr lang="en-US" sz="1599" spc="191" b="true">
                <a:solidFill>
                  <a:srgbClr val="187B3B"/>
                </a:solidFill>
                <a:latin typeface="Arimo Bold"/>
                <a:ea typeface="Arimo Bold"/>
                <a:cs typeface="Arimo Bold"/>
                <a:sym typeface="Arimo Bold"/>
              </a:rPr>
              <a:t>BUSINESS UNDERSTANDING</a:t>
            </a:r>
          </a:p>
        </p:txBody>
      </p:sp>
      <p:sp>
        <p:nvSpPr>
          <p:cNvPr name="TextBox 3" id="3"/>
          <p:cNvSpPr txBox="true"/>
          <p:nvPr/>
        </p:nvSpPr>
        <p:spPr>
          <a:xfrm rot="0">
            <a:off x="723900" y="628650"/>
            <a:ext cx="10477500" cy="962660"/>
          </a:xfrm>
          <a:prstGeom prst="rect">
            <a:avLst/>
          </a:prstGeom>
        </p:spPr>
        <p:txBody>
          <a:bodyPr anchor="t" rtlCol="false" tIns="0" lIns="0" bIns="0" rIns="0">
            <a:spAutoFit/>
          </a:bodyPr>
          <a:lstStyle/>
          <a:p>
            <a:pPr algn="l">
              <a:lnSpc>
                <a:spcPts val="7840"/>
              </a:lnSpc>
            </a:pPr>
            <a:r>
              <a:rPr lang="en-US" sz="5600" b="true">
                <a:solidFill>
                  <a:srgbClr val="16352A"/>
                </a:solidFill>
                <a:latin typeface="Nunito Sans Bold"/>
                <a:ea typeface="Nunito Sans Bold"/>
                <a:cs typeface="Nunito Sans Bold"/>
                <a:sym typeface="Nunito Sans Bold"/>
              </a:rPr>
              <a:t>Problem Statement</a:t>
            </a:r>
          </a:p>
        </p:txBody>
      </p:sp>
      <p:grpSp>
        <p:nvGrpSpPr>
          <p:cNvPr name="Group 4" id="4"/>
          <p:cNvGrpSpPr/>
          <p:nvPr/>
        </p:nvGrpSpPr>
        <p:grpSpPr>
          <a:xfrm rot="0">
            <a:off x="723900" y="1714500"/>
            <a:ext cx="10572750" cy="3143250"/>
            <a:chOff x="0" y="0"/>
            <a:chExt cx="14097000" cy="4191000"/>
          </a:xfrm>
        </p:grpSpPr>
        <p:sp>
          <p:nvSpPr>
            <p:cNvPr name="Freeform 5" id="5"/>
            <p:cNvSpPr/>
            <p:nvPr/>
          </p:nvSpPr>
          <p:spPr>
            <a:xfrm flipH="false" flipV="false" rot="0">
              <a:off x="0" y="0"/>
              <a:ext cx="14097000" cy="4191000"/>
            </a:xfrm>
            <a:custGeom>
              <a:avLst/>
              <a:gdLst/>
              <a:ahLst/>
              <a:cxnLst/>
              <a:rect r="r" b="b" t="t" l="l"/>
              <a:pathLst>
                <a:path h="4191000" w="14097000">
                  <a:moveTo>
                    <a:pt x="279400" y="0"/>
                  </a:moveTo>
                  <a:lnTo>
                    <a:pt x="13817600" y="0"/>
                  </a:lnTo>
                  <a:cubicBezTo>
                    <a:pt x="13971908" y="0"/>
                    <a:pt x="14097000" y="125092"/>
                    <a:pt x="14097000" y="279400"/>
                  </a:cubicBezTo>
                  <a:lnTo>
                    <a:pt x="14097000" y="3911600"/>
                  </a:lnTo>
                  <a:cubicBezTo>
                    <a:pt x="14097000" y="4065908"/>
                    <a:pt x="13971908" y="4191000"/>
                    <a:pt x="13817600" y="4191000"/>
                  </a:cubicBezTo>
                  <a:lnTo>
                    <a:pt x="279400" y="4191000"/>
                  </a:lnTo>
                  <a:cubicBezTo>
                    <a:pt x="125092" y="4191000"/>
                    <a:pt x="0" y="4065908"/>
                    <a:pt x="0" y="3911600"/>
                  </a:cubicBezTo>
                  <a:lnTo>
                    <a:pt x="0" y="279400"/>
                  </a:lnTo>
                  <a:cubicBezTo>
                    <a:pt x="0" y="125092"/>
                    <a:pt x="125092" y="0"/>
                    <a:pt x="279400" y="0"/>
                  </a:cubicBezTo>
                  <a:close/>
                </a:path>
              </a:pathLst>
            </a:custGeom>
            <a:solidFill>
              <a:srgbClr val="187B3B"/>
            </a:solidFill>
          </p:spPr>
        </p:sp>
        <p:sp>
          <p:nvSpPr>
            <p:cNvPr name="TextBox 6" id="6"/>
            <p:cNvSpPr txBox="true"/>
            <p:nvPr/>
          </p:nvSpPr>
          <p:spPr>
            <a:xfrm>
              <a:off x="0" y="-38100"/>
              <a:ext cx="14097000" cy="42291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1085850" y="1933575"/>
            <a:ext cx="3810000" cy="299720"/>
          </a:xfrm>
          <a:prstGeom prst="rect">
            <a:avLst/>
          </a:prstGeom>
        </p:spPr>
        <p:txBody>
          <a:bodyPr anchor="t" rtlCol="false" tIns="0" lIns="0" bIns="0" rIns="0">
            <a:spAutoFit/>
          </a:bodyPr>
          <a:lstStyle/>
          <a:p>
            <a:pPr algn="l">
              <a:lnSpc>
                <a:spcPts val="2380"/>
              </a:lnSpc>
            </a:pPr>
            <a:r>
              <a:rPr lang="en-US" sz="1700" spc="255" b="true">
                <a:solidFill>
                  <a:srgbClr val="FFFFFF"/>
                </a:solidFill>
                <a:latin typeface="Arimo Bold"/>
                <a:ea typeface="Arimo Bold"/>
                <a:cs typeface="Arimo Bold"/>
                <a:sym typeface="Arimo Bold"/>
              </a:rPr>
              <a:t>CORE PROBLEM</a:t>
            </a:r>
          </a:p>
        </p:txBody>
      </p:sp>
      <p:sp>
        <p:nvSpPr>
          <p:cNvPr name="TextBox 8" id="8"/>
          <p:cNvSpPr txBox="true"/>
          <p:nvPr/>
        </p:nvSpPr>
        <p:spPr>
          <a:xfrm rot="0">
            <a:off x="1085850" y="2419350"/>
            <a:ext cx="9848850" cy="2041017"/>
          </a:xfrm>
          <a:prstGeom prst="rect">
            <a:avLst/>
          </a:prstGeom>
        </p:spPr>
        <p:txBody>
          <a:bodyPr anchor="t" rtlCol="false" tIns="0" lIns="0" bIns="0" rIns="0">
            <a:spAutoFit/>
          </a:bodyPr>
          <a:lstStyle/>
          <a:p>
            <a:pPr algn="l">
              <a:lnSpc>
                <a:spcPts val="3294"/>
              </a:lnSpc>
            </a:pPr>
            <a:r>
              <a:rPr lang="en-US" sz="2700" b="true">
                <a:solidFill>
                  <a:srgbClr val="FFFFFF"/>
                </a:solidFill>
                <a:latin typeface="Nunito Sans Bold"/>
                <a:ea typeface="Nunito Sans Bold"/>
                <a:cs typeface="Nunito Sans Bold"/>
                <a:sym typeface="Nunito Sans Bold"/>
              </a:rPr>
              <a:t>Tokopedia belum memiliki dasar analitis yang cukup untuk menentukan segmen demografi dan wilayah yang paling tepat diprioritaskan dalam strategi pertumbuhan, karena volume order, AOV, frekuensi pembelian, dan GMV wilayah belum dibaca secara terpadu.</a:t>
            </a:r>
          </a:p>
        </p:txBody>
      </p:sp>
      <p:grpSp>
        <p:nvGrpSpPr>
          <p:cNvPr name="Group 9" id="9"/>
          <p:cNvGrpSpPr/>
          <p:nvPr/>
        </p:nvGrpSpPr>
        <p:grpSpPr>
          <a:xfrm rot="0">
            <a:off x="11715750" y="1714500"/>
            <a:ext cx="5848350" cy="3143250"/>
            <a:chOff x="0" y="0"/>
            <a:chExt cx="7797800" cy="4191000"/>
          </a:xfrm>
        </p:grpSpPr>
        <p:sp>
          <p:nvSpPr>
            <p:cNvPr name="Freeform 10" id="10"/>
            <p:cNvSpPr/>
            <p:nvPr/>
          </p:nvSpPr>
          <p:spPr>
            <a:xfrm flipH="false" flipV="false" rot="0">
              <a:off x="0" y="0"/>
              <a:ext cx="7797800" cy="4191000"/>
            </a:xfrm>
            <a:custGeom>
              <a:avLst/>
              <a:gdLst/>
              <a:ahLst/>
              <a:cxnLst/>
              <a:rect r="r" b="b" t="t" l="l"/>
              <a:pathLst>
                <a:path h="4191000" w="7797800">
                  <a:moveTo>
                    <a:pt x="279400" y="0"/>
                  </a:moveTo>
                  <a:lnTo>
                    <a:pt x="7518400" y="0"/>
                  </a:lnTo>
                  <a:cubicBezTo>
                    <a:pt x="7672708" y="0"/>
                    <a:pt x="7797800" y="125092"/>
                    <a:pt x="7797800" y="279400"/>
                  </a:cubicBezTo>
                  <a:lnTo>
                    <a:pt x="7797800" y="3911600"/>
                  </a:lnTo>
                  <a:cubicBezTo>
                    <a:pt x="7797800" y="4065908"/>
                    <a:pt x="7672708" y="4191000"/>
                    <a:pt x="7518400" y="4191000"/>
                  </a:cubicBezTo>
                  <a:lnTo>
                    <a:pt x="279400" y="4191000"/>
                  </a:lnTo>
                  <a:cubicBezTo>
                    <a:pt x="125092" y="4191000"/>
                    <a:pt x="0" y="4065908"/>
                    <a:pt x="0" y="3911600"/>
                  </a:cubicBezTo>
                  <a:lnTo>
                    <a:pt x="0" y="279400"/>
                  </a:lnTo>
                  <a:cubicBezTo>
                    <a:pt x="0" y="125092"/>
                    <a:pt x="125092" y="0"/>
                    <a:pt x="279400" y="0"/>
                  </a:cubicBezTo>
                  <a:close/>
                </a:path>
              </a:pathLst>
            </a:custGeom>
            <a:solidFill>
              <a:srgbClr val="F2F8F3"/>
            </a:solidFill>
            <a:ln w="19050" cap="sq">
              <a:solidFill>
                <a:srgbClr val="CFE5D3"/>
              </a:solidFill>
              <a:prstDash val="solid"/>
              <a:miter/>
            </a:ln>
          </p:spPr>
        </p:sp>
        <p:sp>
          <p:nvSpPr>
            <p:cNvPr name="TextBox 11" id="11"/>
            <p:cNvSpPr txBox="true"/>
            <p:nvPr/>
          </p:nvSpPr>
          <p:spPr>
            <a:xfrm>
              <a:off x="0" y="-38100"/>
              <a:ext cx="7797800" cy="422910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12001500" y="1933575"/>
            <a:ext cx="4762500" cy="299720"/>
          </a:xfrm>
          <a:prstGeom prst="rect">
            <a:avLst/>
          </a:prstGeom>
        </p:spPr>
        <p:txBody>
          <a:bodyPr anchor="t" rtlCol="false" tIns="0" lIns="0" bIns="0" rIns="0">
            <a:spAutoFit/>
          </a:bodyPr>
          <a:lstStyle/>
          <a:p>
            <a:pPr algn="l">
              <a:lnSpc>
                <a:spcPts val="2380"/>
              </a:lnSpc>
            </a:pPr>
            <a:r>
              <a:rPr lang="en-US" sz="1700" spc="204" b="true">
                <a:solidFill>
                  <a:srgbClr val="187B3B"/>
                </a:solidFill>
                <a:latin typeface="Arimo Bold"/>
                <a:ea typeface="Arimo Bold"/>
                <a:cs typeface="Arimo Bold"/>
                <a:sym typeface="Arimo Bold"/>
              </a:rPr>
              <a:t>KONDISI SAAT INI</a:t>
            </a:r>
          </a:p>
        </p:txBody>
      </p:sp>
      <p:sp>
        <p:nvSpPr>
          <p:cNvPr name="TextBox 13" id="13"/>
          <p:cNvSpPr txBox="true"/>
          <p:nvPr/>
        </p:nvSpPr>
        <p:spPr>
          <a:xfrm rot="0">
            <a:off x="12001500" y="2343150"/>
            <a:ext cx="5276850" cy="1738367"/>
          </a:xfrm>
          <a:prstGeom prst="rect">
            <a:avLst/>
          </a:prstGeom>
        </p:spPr>
        <p:txBody>
          <a:bodyPr anchor="t" rtlCol="false" tIns="0" lIns="0" bIns="0" rIns="0">
            <a:spAutoFit/>
          </a:bodyPr>
          <a:lstStyle/>
          <a:p>
            <a:pPr algn="l">
              <a:lnSpc>
                <a:spcPts val="2009"/>
              </a:lnSpc>
            </a:pPr>
            <a:r>
              <a:rPr lang="en-US" sz="1455">
                <a:solidFill>
                  <a:srgbClr val="1F2933"/>
                </a:solidFill>
                <a:latin typeface="Arimo"/>
                <a:ea typeface="Arimo"/>
                <a:cs typeface="Arimo"/>
                <a:sym typeface="Arimo"/>
              </a:rPr>
              <a:t>• Usia &gt;50 menghasilkan volume order tertinggi: 83.168 order.</a:t>
            </a:r>
          </a:p>
          <a:p>
            <a:pPr algn="l">
              <a:lnSpc>
                <a:spcPts val="2009"/>
              </a:lnSpc>
            </a:pPr>
            <a:r>
              <a:rPr lang="en-US" sz="1455">
                <a:solidFill>
                  <a:srgbClr val="1F2933"/>
                </a:solidFill>
                <a:latin typeface="Arimo"/>
                <a:ea typeface="Arimo"/>
                <a:cs typeface="Arimo"/>
                <a:sym typeface="Arimo"/>
              </a:rPr>
              <a:t>• AOV antar kelompok usia relatif stabil: Rp1,02–1,03 juta.</a:t>
            </a:r>
          </a:p>
          <a:p>
            <a:pPr algn="l">
              <a:lnSpc>
                <a:spcPts val="2009"/>
              </a:lnSpc>
            </a:pPr>
            <a:r>
              <a:rPr lang="en-US" sz="1455">
                <a:solidFill>
                  <a:srgbClr val="1F2933"/>
                </a:solidFill>
                <a:latin typeface="Arimo"/>
                <a:ea typeface="Arimo"/>
                <a:cs typeface="Arimo"/>
                <a:sym typeface="Arimo"/>
              </a:rPr>
              <a:t>• GMV wilayah relatif berdekatan: Surabaya Rp50,7 miliar dan Yogyakarta Rp49,5 miliar.</a:t>
            </a:r>
          </a:p>
          <a:p>
            <a:pPr algn="l">
              <a:lnSpc>
                <a:spcPts val="2009"/>
              </a:lnSpc>
            </a:pPr>
            <a:r>
              <a:rPr lang="en-US" sz="1455">
                <a:solidFill>
                  <a:srgbClr val="1F2933"/>
                </a:solidFill>
                <a:latin typeface="Arimo"/>
                <a:ea typeface="Arimo"/>
                <a:cs typeface="Arimo"/>
                <a:sym typeface="Arimo"/>
              </a:rPr>
              <a:t>• Jumlah users per lokasi juga konsisten: 8.217–8.415.</a:t>
            </a:r>
          </a:p>
          <a:p>
            <a:pPr algn="l">
              <a:lnSpc>
                <a:spcPts val="2009"/>
              </a:lnSpc>
            </a:pPr>
            <a:r>
              <a:rPr lang="en-US" sz="1455">
                <a:solidFill>
                  <a:srgbClr val="1F2933"/>
                </a:solidFill>
                <a:latin typeface="Arimo"/>
                <a:ea typeface="Arimo"/>
                <a:cs typeface="Arimo"/>
                <a:sym typeface="Arimo"/>
              </a:rPr>
              <a:t>• Dataset mencakup 50.000 users, 300.000 transactions, dan 300.000 deliveries di 6 wilayah.</a:t>
            </a:r>
          </a:p>
        </p:txBody>
      </p:sp>
      <p:grpSp>
        <p:nvGrpSpPr>
          <p:cNvPr name="Group 14" id="14"/>
          <p:cNvGrpSpPr/>
          <p:nvPr/>
        </p:nvGrpSpPr>
        <p:grpSpPr>
          <a:xfrm rot="0">
            <a:off x="723900" y="5191125"/>
            <a:ext cx="16840200" cy="3619500"/>
            <a:chOff x="0" y="0"/>
            <a:chExt cx="22453600" cy="4826000"/>
          </a:xfrm>
        </p:grpSpPr>
        <p:sp>
          <p:nvSpPr>
            <p:cNvPr name="Freeform 15" id="15"/>
            <p:cNvSpPr/>
            <p:nvPr/>
          </p:nvSpPr>
          <p:spPr>
            <a:xfrm flipH="false" flipV="false" rot="0">
              <a:off x="0" y="0"/>
              <a:ext cx="22453600" cy="4826000"/>
            </a:xfrm>
            <a:custGeom>
              <a:avLst/>
              <a:gdLst/>
              <a:ahLst/>
              <a:cxnLst/>
              <a:rect r="r" b="b" t="t" l="l"/>
              <a:pathLst>
                <a:path h="4826000" w="22453600">
                  <a:moveTo>
                    <a:pt x="279400" y="0"/>
                  </a:moveTo>
                  <a:lnTo>
                    <a:pt x="22174200" y="0"/>
                  </a:lnTo>
                  <a:cubicBezTo>
                    <a:pt x="22328508" y="0"/>
                    <a:pt x="22453600" y="125092"/>
                    <a:pt x="22453600" y="279400"/>
                  </a:cubicBezTo>
                  <a:lnTo>
                    <a:pt x="22453600" y="4546600"/>
                  </a:lnTo>
                  <a:cubicBezTo>
                    <a:pt x="22453600" y="4700908"/>
                    <a:pt x="22328508" y="4826000"/>
                    <a:pt x="22174200" y="4826000"/>
                  </a:cubicBezTo>
                  <a:lnTo>
                    <a:pt x="279400" y="4826000"/>
                  </a:lnTo>
                  <a:cubicBezTo>
                    <a:pt x="125092" y="4826000"/>
                    <a:pt x="0" y="4700908"/>
                    <a:pt x="0" y="4546600"/>
                  </a:cubicBezTo>
                  <a:lnTo>
                    <a:pt x="0" y="279400"/>
                  </a:lnTo>
                  <a:cubicBezTo>
                    <a:pt x="0" y="125092"/>
                    <a:pt x="125092" y="0"/>
                    <a:pt x="279400" y="0"/>
                  </a:cubicBezTo>
                  <a:close/>
                </a:path>
              </a:pathLst>
            </a:custGeom>
            <a:solidFill>
              <a:srgbClr val="FFFFFF"/>
            </a:solidFill>
            <a:ln w="19050" cap="sq">
              <a:solidFill>
                <a:srgbClr val="CFE5D3"/>
              </a:solidFill>
              <a:prstDash val="solid"/>
              <a:miter/>
            </a:ln>
          </p:spPr>
        </p:sp>
        <p:sp>
          <p:nvSpPr>
            <p:cNvPr name="TextBox 16" id="16"/>
            <p:cNvSpPr txBox="true"/>
            <p:nvPr/>
          </p:nvSpPr>
          <p:spPr>
            <a:xfrm>
              <a:off x="0" y="-38100"/>
              <a:ext cx="22453600" cy="48641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1047750" y="5410200"/>
            <a:ext cx="5715000" cy="299720"/>
          </a:xfrm>
          <a:prstGeom prst="rect">
            <a:avLst/>
          </a:prstGeom>
        </p:spPr>
        <p:txBody>
          <a:bodyPr anchor="t" rtlCol="false" tIns="0" lIns="0" bIns="0" rIns="0">
            <a:spAutoFit/>
          </a:bodyPr>
          <a:lstStyle/>
          <a:p>
            <a:pPr algn="l">
              <a:lnSpc>
                <a:spcPts val="2380"/>
              </a:lnSpc>
            </a:pPr>
            <a:r>
              <a:rPr lang="en-US" sz="1700" spc="204" b="true">
                <a:solidFill>
                  <a:srgbClr val="187B3B"/>
                </a:solidFill>
                <a:latin typeface="Arimo Bold"/>
                <a:ea typeface="Arimo Bold"/>
                <a:cs typeface="Arimo Bold"/>
                <a:sym typeface="Arimo Bold"/>
              </a:rPr>
              <a:t>BUSINESS QUESTIONS</a:t>
            </a:r>
          </a:p>
        </p:txBody>
      </p:sp>
      <p:grpSp>
        <p:nvGrpSpPr>
          <p:cNvPr name="Group 18" id="18"/>
          <p:cNvGrpSpPr/>
          <p:nvPr/>
        </p:nvGrpSpPr>
        <p:grpSpPr>
          <a:xfrm rot="0">
            <a:off x="1047750" y="5972175"/>
            <a:ext cx="495300" cy="495300"/>
            <a:chOff x="0" y="0"/>
            <a:chExt cx="660400" cy="660400"/>
          </a:xfrm>
        </p:grpSpPr>
        <p:sp>
          <p:nvSpPr>
            <p:cNvPr name="Freeform 19" id="19"/>
            <p:cNvSpPr/>
            <p:nvPr/>
          </p:nvSpPr>
          <p:spPr>
            <a:xfrm flipH="false" flipV="false" rot="0">
              <a:off x="0" y="0"/>
              <a:ext cx="660400" cy="660400"/>
            </a:xfrm>
            <a:custGeom>
              <a:avLst/>
              <a:gdLst/>
              <a:ahLst/>
              <a:cxnLst/>
              <a:rect r="r" b="b" t="t" l="l"/>
              <a:pathLst>
                <a:path h="660400" w="660400">
                  <a:moveTo>
                    <a:pt x="0" y="330200"/>
                  </a:moveTo>
                  <a:cubicBezTo>
                    <a:pt x="0" y="512564"/>
                    <a:pt x="147836" y="660400"/>
                    <a:pt x="330200" y="660400"/>
                  </a:cubicBezTo>
                  <a:cubicBezTo>
                    <a:pt x="512564" y="660400"/>
                    <a:pt x="660400" y="512564"/>
                    <a:pt x="660400" y="330200"/>
                  </a:cubicBezTo>
                  <a:cubicBezTo>
                    <a:pt x="660400" y="147836"/>
                    <a:pt x="512564" y="0"/>
                    <a:pt x="330200" y="0"/>
                  </a:cubicBezTo>
                  <a:cubicBezTo>
                    <a:pt x="147836" y="0"/>
                    <a:pt x="0" y="147836"/>
                    <a:pt x="0" y="330200"/>
                  </a:cubicBezTo>
                  <a:close/>
                </a:path>
              </a:pathLst>
            </a:custGeom>
            <a:solidFill>
              <a:srgbClr val="187B3B"/>
            </a:solidFill>
          </p:spPr>
        </p:sp>
        <p:sp>
          <p:nvSpPr>
            <p:cNvPr name="TextBox 20" id="20"/>
            <p:cNvSpPr txBox="true"/>
            <p:nvPr/>
          </p:nvSpPr>
          <p:spPr>
            <a:xfrm>
              <a:off x="0" y="-38100"/>
              <a:ext cx="660400" cy="6985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1047750" y="6000750"/>
            <a:ext cx="495300" cy="415290"/>
          </a:xfrm>
          <a:prstGeom prst="rect">
            <a:avLst/>
          </a:prstGeom>
        </p:spPr>
        <p:txBody>
          <a:bodyPr anchor="t" rtlCol="false" tIns="0" lIns="0" bIns="0" rIns="0">
            <a:spAutoFit/>
          </a:bodyPr>
          <a:lstStyle/>
          <a:p>
            <a:pPr algn="ctr">
              <a:lnSpc>
                <a:spcPts val="3359"/>
              </a:lnSpc>
            </a:pPr>
            <a:r>
              <a:rPr lang="en-US" sz="2400" b="true">
                <a:solidFill>
                  <a:srgbClr val="FFFFFF"/>
                </a:solidFill>
                <a:latin typeface="Arimo Bold"/>
                <a:ea typeface="Arimo Bold"/>
                <a:cs typeface="Arimo Bold"/>
                <a:sym typeface="Arimo Bold"/>
              </a:rPr>
              <a:t>1</a:t>
            </a:r>
          </a:p>
        </p:txBody>
      </p:sp>
      <p:sp>
        <p:nvSpPr>
          <p:cNvPr name="TextBox 22" id="22"/>
          <p:cNvSpPr txBox="true"/>
          <p:nvPr/>
        </p:nvSpPr>
        <p:spPr>
          <a:xfrm rot="0">
            <a:off x="1047750" y="6600825"/>
            <a:ext cx="5143500" cy="949325"/>
          </a:xfrm>
          <a:prstGeom prst="rect">
            <a:avLst/>
          </a:prstGeom>
        </p:spPr>
        <p:txBody>
          <a:bodyPr anchor="t" rtlCol="false" tIns="0" lIns="0" bIns="0" rIns="0">
            <a:spAutoFit/>
          </a:bodyPr>
          <a:lstStyle/>
          <a:p>
            <a:pPr algn="l">
              <a:lnSpc>
                <a:spcPts val="2500"/>
              </a:lnSpc>
            </a:pPr>
            <a:r>
              <a:rPr lang="en-US" sz="2000" b="true">
                <a:solidFill>
                  <a:srgbClr val="1F2933"/>
                </a:solidFill>
                <a:latin typeface="Arimo Bold"/>
                <a:ea typeface="Arimo Bold"/>
                <a:cs typeface="Arimo Bold"/>
                <a:sym typeface="Arimo Bold"/>
              </a:rPr>
              <a:t>Segmen demografi mana yang paling bernilai berdasarkan volume order, frekuensi, dan AOV?</a:t>
            </a:r>
          </a:p>
        </p:txBody>
      </p:sp>
      <p:sp>
        <p:nvSpPr>
          <p:cNvPr name="TextBox 23" id="23"/>
          <p:cNvSpPr txBox="true"/>
          <p:nvPr/>
        </p:nvSpPr>
        <p:spPr>
          <a:xfrm rot="0">
            <a:off x="1047750" y="8096250"/>
            <a:ext cx="5143500" cy="259715"/>
          </a:xfrm>
          <a:prstGeom prst="rect">
            <a:avLst/>
          </a:prstGeom>
        </p:spPr>
        <p:txBody>
          <a:bodyPr anchor="t" rtlCol="false" tIns="0" lIns="0" bIns="0" rIns="0">
            <a:spAutoFit/>
          </a:bodyPr>
          <a:lstStyle/>
          <a:p>
            <a:pPr algn="l">
              <a:lnSpc>
                <a:spcPts val="1960"/>
              </a:lnSpc>
            </a:pPr>
            <a:r>
              <a:rPr lang="en-US" sz="1400" spc="42">
                <a:solidFill>
                  <a:srgbClr val="187B3B"/>
                </a:solidFill>
                <a:latin typeface="Arimo"/>
                <a:ea typeface="Arimo"/>
                <a:cs typeface="Arimo"/>
                <a:sym typeface="Arimo"/>
              </a:rPr>
              <a:t>Charts · Statistics · Analisis</a:t>
            </a:r>
          </a:p>
        </p:txBody>
      </p:sp>
      <p:grpSp>
        <p:nvGrpSpPr>
          <p:cNvPr name="Group 24" id="24"/>
          <p:cNvGrpSpPr/>
          <p:nvPr/>
        </p:nvGrpSpPr>
        <p:grpSpPr>
          <a:xfrm rot="0">
            <a:off x="6343650" y="5972175"/>
            <a:ext cx="19050" cy="2333625"/>
            <a:chOff x="0" y="0"/>
            <a:chExt cx="25400" cy="3111500"/>
          </a:xfrm>
        </p:grpSpPr>
        <p:sp>
          <p:nvSpPr>
            <p:cNvPr name="Freeform 25" id="25"/>
            <p:cNvSpPr/>
            <p:nvPr/>
          </p:nvSpPr>
          <p:spPr>
            <a:xfrm flipH="false" flipV="false" rot="0">
              <a:off x="0" y="0"/>
              <a:ext cx="25400" cy="3111500"/>
            </a:xfrm>
            <a:custGeom>
              <a:avLst/>
              <a:gdLst/>
              <a:ahLst/>
              <a:cxnLst/>
              <a:rect r="r" b="b" t="t" l="l"/>
              <a:pathLst>
                <a:path h="3111500" w="25400">
                  <a:moveTo>
                    <a:pt x="0" y="0"/>
                  </a:moveTo>
                  <a:lnTo>
                    <a:pt x="25400" y="0"/>
                  </a:lnTo>
                  <a:lnTo>
                    <a:pt x="25400" y="3111500"/>
                  </a:lnTo>
                  <a:lnTo>
                    <a:pt x="0" y="3111500"/>
                  </a:lnTo>
                  <a:close/>
                </a:path>
              </a:pathLst>
            </a:custGeom>
            <a:solidFill>
              <a:srgbClr val="CFE5D3"/>
            </a:solidFill>
          </p:spPr>
        </p:sp>
        <p:sp>
          <p:nvSpPr>
            <p:cNvPr name="TextBox 26" id="26"/>
            <p:cNvSpPr txBox="true"/>
            <p:nvPr/>
          </p:nvSpPr>
          <p:spPr>
            <a:xfrm>
              <a:off x="0" y="-38100"/>
              <a:ext cx="25400" cy="31496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6515100" y="5972175"/>
            <a:ext cx="495300" cy="495300"/>
            <a:chOff x="0" y="0"/>
            <a:chExt cx="660400" cy="660400"/>
          </a:xfrm>
        </p:grpSpPr>
        <p:sp>
          <p:nvSpPr>
            <p:cNvPr name="Freeform 28" id="28"/>
            <p:cNvSpPr/>
            <p:nvPr/>
          </p:nvSpPr>
          <p:spPr>
            <a:xfrm flipH="false" flipV="false" rot="0">
              <a:off x="0" y="0"/>
              <a:ext cx="660400" cy="660400"/>
            </a:xfrm>
            <a:custGeom>
              <a:avLst/>
              <a:gdLst/>
              <a:ahLst/>
              <a:cxnLst/>
              <a:rect r="r" b="b" t="t" l="l"/>
              <a:pathLst>
                <a:path h="660400" w="660400">
                  <a:moveTo>
                    <a:pt x="0" y="330200"/>
                  </a:moveTo>
                  <a:cubicBezTo>
                    <a:pt x="0" y="512564"/>
                    <a:pt x="147836" y="660400"/>
                    <a:pt x="330200" y="660400"/>
                  </a:cubicBezTo>
                  <a:cubicBezTo>
                    <a:pt x="512564" y="660400"/>
                    <a:pt x="660400" y="512564"/>
                    <a:pt x="660400" y="330200"/>
                  </a:cubicBezTo>
                  <a:cubicBezTo>
                    <a:pt x="660400" y="147836"/>
                    <a:pt x="512564" y="0"/>
                    <a:pt x="330200" y="0"/>
                  </a:cubicBezTo>
                  <a:cubicBezTo>
                    <a:pt x="147836" y="0"/>
                    <a:pt x="0" y="147836"/>
                    <a:pt x="0" y="330200"/>
                  </a:cubicBezTo>
                  <a:close/>
                </a:path>
              </a:pathLst>
            </a:custGeom>
            <a:solidFill>
              <a:srgbClr val="187B3B"/>
            </a:solidFill>
          </p:spPr>
        </p:sp>
        <p:sp>
          <p:nvSpPr>
            <p:cNvPr name="TextBox 29" id="29"/>
            <p:cNvSpPr txBox="true"/>
            <p:nvPr/>
          </p:nvSpPr>
          <p:spPr>
            <a:xfrm>
              <a:off x="0" y="-38100"/>
              <a:ext cx="660400" cy="6985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6515100" y="6000750"/>
            <a:ext cx="495300" cy="415290"/>
          </a:xfrm>
          <a:prstGeom prst="rect">
            <a:avLst/>
          </a:prstGeom>
        </p:spPr>
        <p:txBody>
          <a:bodyPr anchor="t" rtlCol="false" tIns="0" lIns="0" bIns="0" rIns="0">
            <a:spAutoFit/>
          </a:bodyPr>
          <a:lstStyle/>
          <a:p>
            <a:pPr algn="ctr">
              <a:lnSpc>
                <a:spcPts val="3359"/>
              </a:lnSpc>
            </a:pPr>
            <a:r>
              <a:rPr lang="en-US" sz="2400" b="true">
                <a:solidFill>
                  <a:srgbClr val="FFFFFF"/>
                </a:solidFill>
                <a:latin typeface="Arimo Bold"/>
                <a:ea typeface="Arimo Bold"/>
                <a:cs typeface="Arimo Bold"/>
                <a:sym typeface="Arimo Bold"/>
              </a:rPr>
              <a:t>2</a:t>
            </a:r>
          </a:p>
        </p:txBody>
      </p:sp>
      <p:sp>
        <p:nvSpPr>
          <p:cNvPr name="TextBox 31" id="31"/>
          <p:cNvSpPr txBox="true"/>
          <p:nvPr/>
        </p:nvSpPr>
        <p:spPr>
          <a:xfrm rot="0">
            <a:off x="6515100" y="6600825"/>
            <a:ext cx="5143500" cy="1263650"/>
          </a:xfrm>
          <a:prstGeom prst="rect">
            <a:avLst/>
          </a:prstGeom>
        </p:spPr>
        <p:txBody>
          <a:bodyPr anchor="t" rtlCol="false" tIns="0" lIns="0" bIns="0" rIns="0">
            <a:spAutoFit/>
          </a:bodyPr>
          <a:lstStyle/>
          <a:p>
            <a:pPr algn="l">
              <a:lnSpc>
                <a:spcPts val="2500"/>
              </a:lnSpc>
            </a:pPr>
            <a:r>
              <a:rPr lang="en-US" sz="2000" b="true">
                <a:solidFill>
                  <a:srgbClr val="1F2933"/>
                </a:solidFill>
                <a:latin typeface="Arimo Bold"/>
                <a:ea typeface="Arimo Bold"/>
                <a:cs typeface="Arimo Bold"/>
                <a:sym typeface="Arimo Bold"/>
              </a:rPr>
              <a:t>Mengapa customer usia &gt;50 menghasilkan order terbanyak, dan apakah pola frekuensi ini dapat direplikasi pada kelompok usia lain?</a:t>
            </a:r>
          </a:p>
        </p:txBody>
      </p:sp>
      <p:sp>
        <p:nvSpPr>
          <p:cNvPr name="TextBox 32" id="32"/>
          <p:cNvSpPr txBox="true"/>
          <p:nvPr/>
        </p:nvSpPr>
        <p:spPr>
          <a:xfrm rot="0">
            <a:off x="6515100" y="8096250"/>
            <a:ext cx="5143500" cy="259715"/>
          </a:xfrm>
          <a:prstGeom prst="rect">
            <a:avLst/>
          </a:prstGeom>
        </p:spPr>
        <p:txBody>
          <a:bodyPr anchor="t" rtlCol="false" tIns="0" lIns="0" bIns="0" rIns="0">
            <a:spAutoFit/>
          </a:bodyPr>
          <a:lstStyle/>
          <a:p>
            <a:pPr algn="l">
              <a:lnSpc>
                <a:spcPts val="1960"/>
              </a:lnSpc>
            </a:pPr>
            <a:r>
              <a:rPr lang="en-US" sz="1400" spc="42">
                <a:solidFill>
                  <a:srgbClr val="187B3B"/>
                </a:solidFill>
                <a:latin typeface="Arimo"/>
                <a:ea typeface="Arimo"/>
                <a:cs typeface="Arimo"/>
                <a:sym typeface="Arimo"/>
              </a:rPr>
              <a:t>Charts · Statistics · Analisis</a:t>
            </a:r>
          </a:p>
        </p:txBody>
      </p:sp>
      <p:grpSp>
        <p:nvGrpSpPr>
          <p:cNvPr name="Group 33" id="33"/>
          <p:cNvGrpSpPr/>
          <p:nvPr/>
        </p:nvGrpSpPr>
        <p:grpSpPr>
          <a:xfrm rot="0">
            <a:off x="11811000" y="5972175"/>
            <a:ext cx="19050" cy="2333625"/>
            <a:chOff x="0" y="0"/>
            <a:chExt cx="25400" cy="3111500"/>
          </a:xfrm>
        </p:grpSpPr>
        <p:sp>
          <p:nvSpPr>
            <p:cNvPr name="Freeform 34" id="34"/>
            <p:cNvSpPr/>
            <p:nvPr/>
          </p:nvSpPr>
          <p:spPr>
            <a:xfrm flipH="false" flipV="false" rot="0">
              <a:off x="0" y="0"/>
              <a:ext cx="25400" cy="3111500"/>
            </a:xfrm>
            <a:custGeom>
              <a:avLst/>
              <a:gdLst/>
              <a:ahLst/>
              <a:cxnLst/>
              <a:rect r="r" b="b" t="t" l="l"/>
              <a:pathLst>
                <a:path h="3111500" w="25400">
                  <a:moveTo>
                    <a:pt x="0" y="0"/>
                  </a:moveTo>
                  <a:lnTo>
                    <a:pt x="25400" y="0"/>
                  </a:lnTo>
                  <a:lnTo>
                    <a:pt x="25400" y="3111500"/>
                  </a:lnTo>
                  <a:lnTo>
                    <a:pt x="0" y="3111500"/>
                  </a:lnTo>
                  <a:close/>
                </a:path>
              </a:pathLst>
            </a:custGeom>
            <a:solidFill>
              <a:srgbClr val="CFE5D3"/>
            </a:solidFill>
          </p:spPr>
        </p:sp>
        <p:sp>
          <p:nvSpPr>
            <p:cNvPr name="TextBox 35" id="35"/>
            <p:cNvSpPr txBox="true"/>
            <p:nvPr/>
          </p:nvSpPr>
          <p:spPr>
            <a:xfrm>
              <a:off x="0" y="-38100"/>
              <a:ext cx="25400" cy="31496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11982450" y="5972175"/>
            <a:ext cx="495300" cy="495300"/>
            <a:chOff x="0" y="0"/>
            <a:chExt cx="660400" cy="660400"/>
          </a:xfrm>
        </p:grpSpPr>
        <p:sp>
          <p:nvSpPr>
            <p:cNvPr name="Freeform 37" id="37"/>
            <p:cNvSpPr/>
            <p:nvPr/>
          </p:nvSpPr>
          <p:spPr>
            <a:xfrm flipH="false" flipV="false" rot="0">
              <a:off x="0" y="0"/>
              <a:ext cx="660400" cy="660400"/>
            </a:xfrm>
            <a:custGeom>
              <a:avLst/>
              <a:gdLst/>
              <a:ahLst/>
              <a:cxnLst/>
              <a:rect r="r" b="b" t="t" l="l"/>
              <a:pathLst>
                <a:path h="660400" w="660400">
                  <a:moveTo>
                    <a:pt x="0" y="330200"/>
                  </a:moveTo>
                  <a:cubicBezTo>
                    <a:pt x="0" y="512564"/>
                    <a:pt x="147836" y="660400"/>
                    <a:pt x="330200" y="660400"/>
                  </a:cubicBezTo>
                  <a:cubicBezTo>
                    <a:pt x="512564" y="660400"/>
                    <a:pt x="660400" y="512564"/>
                    <a:pt x="660400" y="330200"/>
                  </a:cubicBezTo>
                  <a:cubicBezTo>
                    <a:pt x="660400" y="147836"/>
                    <a:pt x="512564" y="0"/>
                    <a:pt x="330200" y="0"/>
                  </a:cubicBezTo>
                  <a:cubicBezTo>
                    <a:pt x="147836" y="0"/>
                    <a:pt x="0" y="147836"/>
                    <a:pt x="0" y="330200"/>
                  </a:cubicBezTo>
                  <a:close/>
                </a:path>
              </a:pathLst>
            </a:custGeom>
            <a:solidFill>
              <a:srgbClr val="187B3B"/>
            </a:solidFill>
          </p:spPr>
        </p:sp>
        <p:sp>
          <p:nvSpPr>
            <p:cNvPr name="TextBox 38" id="38"/>
            <p:cNvSpPr txBox="true"/>
            <p:nvPr/>
          </p:nvSpPr>
          <p:spPr>
            <a:xfrm>
              <a:off x="0" y="-38100"/>
              <a:ext cx="660400" cy="6985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11982450" y="6000750"/>
            <a:ext cx="495300" cy="415290"/>
          </a:xfrm>
          <a:prstGeom prst="rect">
            <a:avLst/>
          </a:prstGeom>
        </p:spPr>
        <p:txBody>
          <a:bodyPr anchor="t" rtlCol="false" tIns="0" lIns="0" bIns="0" rIns="0">
            <a:spAutoFit/>
          </a:bodyPr>
          <a:lstStyle/>
          <a:p>
            <a:pPr algn="ctr">
              <a:lnSpc>
                <a:spcPts val="3359"/>
              </a:lnSpc>
            </a:pPr>
            <a:r>
              <a:rPr lang="en-US" sz="2400" b="true">
                <a:solidFill>
                  <a:srgbClr val="FFFFFF"/>
                </a:solidFill>
                <a:latin typeface="Arimo Bold"/>
                <a:ea typeface="Arimo Bold"/>
                <a:cs typeface="Arimo Bold"/>
                <a:sym typeface="Arimo Bold"/>
              </a:rPr>
              <a:t>3</a:t>
            </a:r>
          </a:p>
        </p:txBody>
      </p:sp>
      <p:sp>
        <p:nvSpPr>
          <p:cNvPr name="TextBox 40" id="40"/>
          <p:cNvSpPr txBox="true"/>
          <p:nvPr/>
        </p:nvSpPr>
        <p:spPr>
          <a:xfrm rot="0">
            <a:off x="11982450" y="6600825"/>
            <a:ext cx="5143500" cy="1263650"/>
          </a:xfrm>
          <a:prstGeom prst="rect">
            <a:avLst/>
          </a:prstGeom>
        </p:spPr>
        <p:txBody>
          <a:bodyPr anchor="t" rtlCol="false" tIns="0" lIns="0" bIns="0" rIns="0">
            <a:spAutoFit/>
          </a:bodyPr>
          <a:lstStyle/>
          <a:p>
            <a:pPr algn="l">
              <a:lnSpc>
                <a:spcPts val="2500"/>
              </a:lnSpc>
            </a:pPr>
            <a:r>
              <a:rPr lang="en-US" sz="2000" b="true">
                <a:solidFill>
                  <a:srgbClr val="1F2933"/>
                </a:solidFill>
                <a:latin typeface="Arimo Bold"/>
                <a:ea typeface="Arimo Bold"/>
                <a:cs typeface="Arimo Bold"/>
                <a:sym typeface="Arimo Bold"/>
              </a:rPr>
              <a:t>Jika GMV antar wilayah relatif berdekatan, faktor apa yang paling membedakan performa: jumlah users, frekuensi order, atau AOV?</a:t>
            </a:r>
          </a:p>
        </p:txBody>
      </p:sp>
      <p:sp>
        <p:nvSpPr>
          <p:cNvPr name="TextBox 41" id="41"/>
          <p:cNvSpPr txBox="true"/>
          <p:nvPr/>
        </p:nvSpPr>
        <p:spPr>
          <a:xfrm rot="0">
            <a:off x="11982450" y="8096250"/>
            <a:ext cx="5143500" cy="259715"/>
          </a:xfrm>
          <a:prstGeom prst="rect">
            <a:avLst/>
          </a:prstGeom>
        </p:spPr>
        <p:txBody>
          <a:bodyPr anchor="t" rtlCol="false" tIns="0" lIns="0" bIns="0" rIns="0">
            <a:spAutoFit/>
          </a:bodyPr>
          <a:lstStyle/>
          <a:p>
            <a:pPr algn="l">
              <a:lnSpc>
                <a:spcPts val="1960"/>
              </a:lnSpc>
            </a:pPr>
            <a:r>
              <a:rPr lang="en-US" sz="1400" spc="42">
                <a:solidFill>
                  <a:srgbClr val="187B3B"/>
                </a:solidFill>
                <a:latin typeface="Arimo"/>
                <a:ea typeface="Arimo"/>
                <a:cs typeface="Arimo"/>
                <a:sym typeface="Arimo"/>
              </a:rPr>
              <a:t>Charts · Statistics · Analisis</a:t>
            </a:r>
          </a:p>
        </p:txBody>
      </p:sp>
      <p:sp>
        <p:nvSpPr>
          <p:cNvPr name="TextBox 42" id="42"/>
          <p:cNvSpPr txBox="true"/>
          <p:nvPr/>
        </p:nvSpPr>
        <p:spPr>
          <a:xfrm rot="0">
            <a:off x="723900" y="9382125"/>
            <a:ext cx="16840200" cy="283210"/>
          </a:xfrm>
          <a:prstGeom prst="rect">
            <a:avLst/>
          </a:prstGeom>
        </p:spPr>
        <p:txBody>
          <a:bodyPr anchor="t" rtlCol="false" tIns="0" lIns="0" bIns="0" rIns="0">
            <a:spAutoFit/>
          </a:bodyPr>
          <a:lstStyle/>
          <a:p>
            <a:pPr algn="ctr">
              <a:lnSpc>
                <a:spcPts val="2239"/>
              </a:lnSpc>
            </a:pPr>
            <a:r>
              <a:rPr lang="en-US" sz="1599" i="true">
                <a:solidFill>
                  <a:srgbClr val="5D6B63"/>
                </a:solidFill>
                <a:latin typeface="Arimo Italics"/>
                <a:ea typeface="Arimo Italics"/>
                <a:cs typeface="Arimo Italics"/>
                <a:sym typeface="Arimo Italics"/>
              </a:rPr>
              <a:t>Tujuan analisis: mengubah pola transaksi dan demografi menjadi prioritas strategi pertumbuhan yang berbasis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363700" y="0"/>
            <a:ext cx="3924300" cy="2790825"/>
          </a:xfrm>
          <a:custGeom>
            <a:avLst/>
            <a:gdLst/>
            <a:ahLst/>
            <a:cxnLst/>
            <a:rect r="r" b="b" t="t" l="l"/>
            <a:pathLst>
              <a:path h="2790825" w="3924300">
                <a:moveTo>
                  <a:pt x="0" y="0"/>
                </a:moveTo>
                <a:lnTo>
                  <a:pt x="3924300" y="0"/>
                </a:lnTo>
                <a:lnTo>
                  <a:pt x="3924300" y="2790825"/>
                </a:lnTo>
                <a:lnTo>
                  <a:pt x="0" y="2790825"/>
                </a:lnTo>
                <a:lnTo>
                  <a:pt x="0" y="0"/>
                </a:lnTo>
                <a:close/>
              </a:path>
            </a:pathLst>
          </a:custGeom>
          <a:blipFill>
            <a:blip r:embed="rId3"/>
            <a:stretch>
              <a:fillRect l="0" t="0" r="0" b="0"/>
            </a:stretch>
          </a:blipFill>
        </p:spPr>
      </p:sp>
      <p:sp>
        <p:nvSpPr>
          <p:cNvPr name="Freeform 4" id="4"/>
          <p:cNvSpPr/>
          <p:nvPr/>
        </p:nvSpPr>
        <p:spPr>
          <a:xfrm flipH="false" flipV="false" rot="0">
            <a:off x="209550" y="209550"/>
            <a:ext cx="1104900" cy="1295400"/>
          </a:xfrm>
          <a:custGeom>
            <a:avLst/>
            <a:gdLst/>
            <a:ahLst/>
            <a:cxnLst/>
            <a:rect r="r" b="b" t="t" l="l"/>
            <a:pathLst>
              <a:path h="1295400" w="1104900">
                <a:moveTo>
                  <a:pt x="0" y="0"/>
                </a:moveTo>
                <a:lnTo>
                  <a:pt x="1104900" y="0"/>
                </a:lnTo>
                <a:lnTo>
                  <a:pt x="1104900" y="1295400"/>
                </a:lnTo>
                <a:lnTo>
                  <a:pt x="0" y="1295400"/>
                </a:lnTo>
                <a:lnTo>
                  <a:pt x="0" y="0"/>
                </a:lnTo>
                <a:close/>
              </a:path>
            </a:pathLst>
          </a:custGeom>
          <a:blipFill>
            <a:blip r:embed="rId4"/>
            <a:stretch>
              <a:fillRect l="0" t="0" r="0" b="0"/>
            </a:stretch>
          </a:blipFill>
        </p:spPr>
      </p:sp>
      <p:sp>
        <p:nvSpPr>
          <p:cNvPr name="TextBox 5" id="5"/>
          <p:cNvSpPr txBox="true"/>
          <p:nvPr/>
        </p:nvSpPr>
        <p:spPr>
          <a:xfrm rot="0">
            <a:off x="1353312" y="580644"/>
            <a:ext cx="2633472" cy="628650"/>
          </a:xfrm>
          <a:prstGeom prst="rect">
            <a:avLst/>
          </a:prstGeom>
        </p:spPr>
        <p:txBody>
          <a:bodyPr anchor="t" rtlCol="false" tIns="0" lIns="0" bIns="0" rIns="0">
            <a:spAutoFit/>
          </a:bodyPr>
          <a:lstStyle/>
          <a:p>
            <a:pPr algn="l">
              <a:lnSpc>
                <a:spcPts val="5006"/>
              </a:lnSpc>
            </a:pPr>
            <a:r>
              <a:rPr lang="en-US" sz="4171">
                <a:solidFill>
                  <a:srgbClr val="18A234"/>
                </a:solidFill>
                <a:latin typeface="Nunito Sans"/>
                <a:ea typeface="Nunito Sans"/>
                <a:cs typeface="Nunito Sans"/>
                <a:sym typeface="Nunito Sans"/>
              </a:rPr>
              <a:t>tokopedia</a:t>
            </a:r>
          </a:p>
        </p:txBody>
      </p:sp>
      <p:sp>
        <p:nvSpPr>
          <p:cNvPr name="TextBox 6" id="6"/>
          <p:cNvSpPr txBox="true"/>
          <p:nvPr/>
        </p:nvSpPr>
        <p:spPr>
          <a:xfrm rot="0">
            <a:off x="5632704" y="400621"/>
            <a:ext cx="7132320" cy="895350"/>
          </a:xfrm>
          <a:prstGeom prst="rect">
            <a:avLst/>
          </a:prstGeom>
        </p:spPr>
        <p:txBody>
          <a:bodyPr anchor="t" rtlCol="false" tIns="0" lIns="0" bIns="0" rIns="0">
            <a:spAutoFit/>
          </a:bodyPr>
          <a:lstStyle/>
          <a:p>
            <a:pPr algn="ctr">
              <a:lnSpc>
                <a:spcPts val="7174"/>
              </a:lnSpc>
            </a:pPr>
            <a:r>
              <a:rPr lang="en-US" b="true" sz="5978">
                <a:solidFill>
                  <a:srgbClr val="18A234"/>
                </a:solidFill>
                <a:latin typeface="Nunito Sans Bold"/>
                <a:ea typeface="Nunito Sans Bold"/>
                <a:cs typeface="Nunito Sans Bold"/>
                <a:sym typeface="Nunito Sans Bold"/>
              </a:rPr>
              <a:t>Data Understanding</a:t>
            </a:r>
          </a:p>
        </p:txBody>
      </p:sp>
      <p:sp>
        <p:nvSpPr>
          <p:cNvPr name="TextBox 7" id="7"/>
          <p:cNvSpPr txBox="true"/>
          <p:nvPr/>
        </p:nvSpPr>
        <p:spPr>
          <a:xfrm rot="0">
            <a:off x="4700016" y="1409891"/>
            <a:ext cx="9070848" cy="390525"/>
          </a:xfrm>
          <a:prstGeom prst="rect">
            <a:avLst/>
          </a:prstGeom>
        </p:spPr>
        <p:txBody>
          <a:bodyPr anchor="t" rtlCol="false" tIns="0" lIns="0" bIns="0" rIns="0">
            <a:spAutoFit/>
          </a:bodyPr>
          <a:lstStyle/>
          <a:p>
            <a:pPr algn="ctr">
              <a:lnSpc>
                <a:spcPts val="3023"/>
              </a:lnSpc>
            </a:pPr>
            <a:r>
              <a:rPr lang="en-US" sz="2519">
                <a:solidFill>
                  <a:srgbClr val="355D4A"/>
                </a:solidFill>
                <a:latin typeface="Nunito Sans"/>
                <a:ea typeface="Nunito Sans"/>
                <a:cs typeface="Nunito Sans"/>
                <a:sym typeface="Nunito Sans"/>
              </a:rPr>
              <a:t>Memahami grain data dan kelompok variabel sebelum analisis</a:t>
            </a:r>
          </a:p>
        </p:txBody>
      </p:sp>
      <p:grpSp>
        <p:nvGrpSpPr>
          <p:cNvPr name="Group 8" id="8"/>
          <p:cNvGrpSpPr/>
          <p:nvPr/>
        </p:nvGrpSpPr>
        <p:grpSpPr>
          <a:xfrm rot="0">
            <a:off x="647700" y="2047875"/>
            <a:ext cx="5511800" cy="5953125"/>
            <a:chOff x="0" y="0"/>
            <a:chExt cx="7349067" cy="7937500"/>
          </a:xfrm>
        </p:grpSpPr>
        <p:sp>
          <p:nvSpPr>
            <p:cNvPr name="Freeform 9" id="9"/>
            <p:cNvSpPr/>
            <p:nvPr/>
          </p:nvSpPr>
          <p:spPr>
            <a:xfrm flipH="false" flipV="false" rot="0">
              <a:off x="0" y="0"/>
              <a:ext cx="7349067" cy="7937500"/>
            </a:xfrm>
            <a:custGeom>
              <a:avLst/>
              <a:gdLst/>
              <a:ahLst/>
              <a:cxnLst/>
              <a:rect r="r" b="b" t="t" l="l"/>
              <a:pathLst>
                <a:path h="7937500" w="7349067">
                  <a:moveTo>
                    <a:pt x="228600" y="0"/>
                  </a:moveTo>
                  <a:lnTo>
                    <a:pt x="7120467" y="0"/>
                  </a:lnTo>
                  <a:cubicBezTo>
                    <a:pt x="7246719" y="0"/>
                    <a:pt x="7349067" y="102348"/>
                    <a:pt x="7349067" y="228600"/>
                  </a:cubicBezTo>
                  <a:lnTo>
                    <a:pt x="7349067" y="7708900"/>
                  </a:lnTo>
                  <a:cubicBezTo>
                    <a:pt x="7349067" y="7835152"/>
                    <a:pt x="7246719" y="7937500"/>
                    <a:pt x="7120467" y="7937500"/>
                  </a:cubicBezTo>
                  <a:lnTo>
                    <a:pt x="228600" y="7937500"/>
                  </a:lnTo>
                  <a:cubicBezTo>
                    <a:pt x="102348" y="7937500"/>
                    <a:pt x="0" y="7835152"/>
                    <a:pt x="0" y="7708900"/>
                  </a:cubicBezTo>
                  <a:lnTo>
                    <a:pt x="0" y="228600"/>
                  </a:lnTo>
                  <a:cubicBezTo>
                    <a:pt x="0" y="102348"/>
                    <a:pt x="102348" y="0"/>
                    <a:pt x="228600" y="0"/>
                  </a:cubicBezTo>
                  <a:close/>
                </a:path>
              </a:pathLst>
            </a:custGeom>
            <a:solidFill>
              <a:srgbClr val="FFFFFF"/>
            </a:solidFill>
            <a:ln w="19050" cap="sq">
              <a:solidFill>
                <a:srgbClr val="B8DFBF"/>
              </a:solidFill>
              <a:prstDash val="solid"/>
              <a:miter/>
            </a:ln>
          </p:spPr>
        </p:sp>
        <p:sp>
          <p:nvSpPr>
            <p:cNvPr name="TextBox 10" id="10"/>
            <p:cNvSpPr txBox="true"/>
            <p:nvPr/>
          </p:nvSpPr>
          <p:spPr>
            <a:xfrm>
              <a:off x="0" y="-38100"/>
              <a:ext cx="7349067" cy="79756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647700" y="2047875"/>
            <a:ext cx="5511800" cy="685800"/>
            <a:chOff x="0" y="0"/>
            <a:chExt cx="7349067" cy="914400"/>
          </a:xfrm>
        </p:grpSpPr>
        <p:sp>
          <p:nvSpPr>
            <p:cNvPr name="Freeform 12" id="12"/>
            <p:cNvSpPr/>
            <p:nvPr/>
          </p:nvSpPr>
          <p:spPr>
            <a:xfrm flipH="false" flipV="false" rot="0">
              <a:off x="0" y="0"/>
              <a:ext cx="7349067" cy="914400"/>
            </a:xfrm>
            <a:custGeom>
              <a:avLst/>
              <a:gdLst/>
              <a:ahLst/>
              <a:cxnLst/>
              <a:rect r="r" b="b" t="t" l="l"/>
              <a:pathLst>
                <a:path h="914400" w="7349067">
                  <a:moveTo>
                    <a:pt x="228600" y="0"/>
                  </a:moveTo>
                  <a:lnTo>
                    <a:pt x="7120467" y="0"/>
                  </a:lnTo>
                  <a:cubicBezTo>
                    <a:pt x="7246719" y="0"/>
                    <a:pt x="7349067" y="102348"/>
                    <a:pt x="7349067" y="228600"/>
                  </a:cubicBezTo>
                  <a:lnTo>
                    <a:pt x="7349067" y="685800"/>
                  </a:lnTo>
                  <a:cubicBezTo>
                    <a:pt x="7349067" y="812052"/>
                    <a:pt x="7246719" y="914400"/>
                    <a:pt x="7120467" y="914400"/>
                  </a:cubicBezTo>
                  <a:lnTo>
                    <a:pt x="228600" y="914400"/>
                  </a:lnTo>
                  <a:cubicBezTo>
                    <a:pt x="102348" y="914400"/>
                    <a:pt x="0" y="812052"/>
                    <a:pt x="0" y="685800"/>
                  </a:cubicBezTo>
                  <a:lnTo>
                    <a:pt x="0" y="228600"/>
                  </a:lnTo>
                  <a:cubicBezTo>
                    <a:pt x="0" y="102348"/>
                    <a:pt x="102348" y="0"/>
                    <a:pt x="228600" y="0"/>
                  </a:cubicBezTo>
                  <a:close/>
                </a:path>
              </a:pathLst>
            </a:custGeom>
            <a:solidFill>
              <a:srgbClr val="EEF8EF"/>
            </a:solidFill>
            <a:ln w="9525" cap="sq">
              <a:solidFill>
                <a:srgbClr val="B8DFBF"/>
              </a:solidFill>
              <a:prstDash val="solid"/>
              <a:miter/>
            </a:ln>
          </p:spPr>
        </p:sp>
        <p:sp>
          <p:nvSpPr>
            <p:cNvPr name="TextBox 13" id="13"/>
            <p:cNvSpPr txBox="true"/>
            <p:nvPr/>
          </p:nvSpPr>
          <p:spPr>
            <a:xfrm>
              <a:off x="0" y="-38100"/>
              <a:ext cx="7349067" cy="9525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876300" y="2152650"/>
            <a:ext cx="5054600" cy="372745"/>
          </a:xfrm>
          <a:prstGeom prst="rect">
            <a:avLst/>
          </a:prstGeom>
        </p:spPr>
        <p:txBody>
          <a:bodyPr anchor="t" rtlCol="false" tIns="0" lIns="0" bIns="0" rIns="0">
            <a:spAutoFit/>
          </a:bodyPr>
          <a:lstStyle/>
          <a:p>
            <a:pPr algn="l">
              <a:lnSpc>
                <a:spcPts val="3079"/>
              </a:lnSpc>
            </a:pPr>
            <a:r>
              <a:rPr lang="en-US" sz="2199" b="true">
                <a:solidFill>
                  <a:srgbClr val="18A234"/>
                </a:solidFill>
                <a:latin typeface="Nunito Sans Bold"/>
                <a:ea typeface="Nunito Sans Bold"/>
                <a:cs typeface="Nunito Sans Bold"/>
                <a:sym typeface="Nunito Sans Bold"/>
              </a:rPr>
              <a:t>USERS</a:t>
            </a:r>
          </a:p>
        </p:txBody>
      </p:sp>
      <p:sp>
        <p:nvSpPr>
          <p:cNvPr name="TextBox 15" id="15"/>
          <p:cNvSpPr txBox="true"/>
          <p:nvPr/>
        </p:nvSpPr>
        <p:spPr>
          <a:xfrm rot="0">
            <a:off x="876300" y="2428875"/>
            <a:ext cx="5054600" cy="240665"/>
          </a:xfrm>
          <a:prstGeom prst="rect">
            <a:avLst/>
          </a:prstGeom>
        </p:spPr>
        <p:txBody>
          <a:bodyPr anchor="t" rtlCol="false" tIns="0" lIns="0" bIns="0" rIns="0">
            <a:spAutoFit/>
          </a:bodyPr>
          <a:lstStyle/>
          <a:p>
            <a:pPr algn="l">
              <a:lnSpc>
                <a:spcPts val="1960"/>
              </a:lnSpc>
            </a:pPr>
            <a:r>
              <a:rPr lang="en-US" sz="1400">
                <a:solidFill>
                  <a:srgbClr val="355D4A"/>
                </a:solidFill>
                <a:latin typeface="Nunito Sans"/>
                <a:ea typeface="Nunito Sans"/>
                <a:cs typeface="Nunito Sans"/>
                <a:sym typeface="Nunito Sans"/>
              </a:rPr>
              <a:t>50.000 baris · 5 kolom</a:t>
            </a:r>
          </a:p>
        </p:txBody>
      </p:sp>
      <p:grpSp>
        <p:nvGrpSpPr>
          <p:cNvPr name="Group 16" id="16"/>
          <p:cNvGrpSpPr/>
          <p:nvPr/>
        </p:nvGrpSpPr>
        <p:grpSpPr>
          <a:xfrm rot="0">
            <a:off x="6388100" y="2047875"/>
            <a:ext cx="5511800" cy="5953125"/>
            <a:chOff x="0" y="0"/>
            <a:chExt cx="7349067" cy="7937500"/>
          </a:xfrm>
        </p:grpSpPr>
        <p:sp>
          <p:nvSpPr>
            <p:cNvPr name="Freeform 17" id="17"/>
            <p:cNvSpPr/>
            <p:nvPr/>
          </p:nvSpPr>
          <p:spPr>
            <a:xfrm flipH="false" flipV="false" rot="0">
              <a:off x="0" y="0"/>
              <a:ext cx="7349067" cy="7937500"/>
            </a:xfrm>
            <a:custGeom>
              <a:avLst/>
              <a:gdLst/>
              <a:ahLst/>
              <a:cxnLst/>
              <a:rect r="r" b="b" t="t" l="l"/>
              <a:pathLst>
                <a:path h="7937500" w="7349067">
                  <a:moveTo>
                    <a:pt x="228600" y="0"/>
                  </a:moveTo>
                  <a:lnTo>
                    <a:pt x="7120467" y="0"/>
                  </a:lnTo>
                  <a:cubicBezTo>
                    <a:pt x="7246719" y="0"/>
                    <a:pt x="7349067" y="102348"/>
                    <a:pt x="7349067" y="228600"/>
                  </a:cubicBezTo>
                  <a:lnTo>
                    <a:pt x="7349067" y="7708900"/>
                  </a:lnTo>
                  <a:cubicBezTo>
                    <a:pt x="7349067" y="7835152"/>
                    <a:pt x="7246719" y="7937500"/>
                    <a:pt x="7120467" y="7937500"/>
                  </a:cubicBezTo>
                  <a:lnTo>
                    <a:pt x="228600" y="7937500"/>
                  </a:lnTo>
                  <a:cubicBezTo>
                    <a:pt x="102348" y="7937500"/>
                    <a:pt x="0" y="7835152"/>
                    <a:pt x="0" y="7708900"/>
                  </a:cubicBezTo>
                  <a:lnTo>
                    <a:pt x="0" y="228600"/>
                  </a:lnTo>
                  <a:cubicBezTo>
                    <a:pt x="0" y="102348"/>
                    <a:pt x="102348" y="0"/>
                    <a:pt x="228600" y="0"/>
                  </a:cubicBezTo>
                  <a:close/>
                </a:path>
              </a:pathLst>
            </a:custGeom>
            <a:solidFill>
              <a:srgbClr val="FFFFFF"/>
            </a:solidFill>
            <a:ln w="19050" cap="sq">
              <a:solidFill>
                <a:srgbClr val="B8DFBF"/>
              </a:solidFill>
              <a:prstDash val="solid"/>
              <a:miter/>
            </a:ln>
          </p:spPr>
        </p:sp>
        <p:sp>
          <p:nvSpPr>
            <p:cNvPr name="TextBox 18" id="18"/>
            <p:cNvSpPr txBox="true"/>
            <p:nvPr/>
          </p:nvSpPr>
          <p:spPr>
            <a:xfrm>
              <a:off x="0" y="-38100"/>
              <a:ext cx="7349067" cy="7975600"/>
            </a:xfrm>
            <a:prstGeom prst="rect">
              <a:avLst/>
            </a:prstGeom>
          </p:spPr>
          <p:txBody>
            <a:bodyPr anchor="ctr" rtlCol="false" tIns="50800" lIns="50800" bIns="50800" rIns="50800"/>
            <a:lstStyle/>
            <a:p>
              <a:pPr algn="l">
                <a:lnSpc>
                  <a:spcPts val="1679"/>
                </a:lnSpc>
              </a:pPr>
            </a:p>
          </p:txBody>
        </p:sp>
      </p:grpSp>
      <p:grpSp>
        <p:nvGrpSpPr>
          <p:cNvPr name="Group 19" id="19"/>
          <p:cNvGrpSpPr/>
          <p:nvPr/>
        </p:nvGrpSpPr>
        <p:grpSpPr>
          <a:xfrm rot="0">
            <a:off x="6388100" y="2047875"/>
            <a:ext cx="5511800" cy="685800"/>
            <a:chOff x="0" y="0"/>
            <a:chExt cx="7349067" cy="914400"/>
          </a:xfrm>
        </p:grpSpPr>
        <p:sp>
          <p:nvSpPr>
            <p:cNvPr name="Freeform 20" id="20"/>
            <p:cNvSpPr/>
            <p:nvPr/>
          </p:nvSpPr>
          <p:spPr>
            <a:xfrm flipH="false" flipV="false" rot="0">
              <a:off x="0" y="0"/>
              <a:ext cx="7349067" cy="914400"/>
            </a:xfrm>
            <a:custGeom>
              <a:avLst/>
              <a:gdLst/>
              <a:ahLst/>
              <a:cxnLst/>
              <a:rect r="r" b="b" t="t" l="l"/>
              <a:pathLst>
                <a:path h="914400" w="7349067">
                  <a:moveTo>
                    <a:pt x="228600" y="0"/>
                  </a:moveTo>
                  <a:lnTo>
                    <a:pt x="7120467" y="0"/>
                  </a:lnTo>
                  <a:cubicBezTo>
                    <a:pt x="7246719" y="0"/>
                    <a:pt x="7349067" y="102348"/>
                    <a:pt x="7349067" y="228600"/>
                  </a:cubicBezTo>
                  <a:lnTo>
                    <a:pt x="7349067" y="685800"/>
                  </a:lnTo>
                  <a:cubicBezTo>
                    <a:pt x="7349067" y="812052"/>
                    <a:pt x="7246719" y="914400"/>
                    <a:pt x="7120467" y="914400"/>
                  </a:cubicBezTo>
                  <a:lnTo>
                    <a:pt x="228600" y="914400"/>
                  </a:lnTo>
                  <a:cubicBezTo>
                    <a:pt x="102348" y="914400"/>
                    <a:pt x="0" y="812052"/>
                    <a:pt x="0" y="685800"/>
                  </a:cubicBezTo>
                  <a:lnTo>
                    <a:pt x="0" y="228600"/>
                  </a:lnTo>
                  <a:cubicBezTo>
                    <a:pt x="0" y="102348"/>
                    <a:pt x="102348" y="0"/>
                    <a:pt x="228600" y="0"/>
                  </a:cubicBezTo>
                  <a:close/>
                </a:path>
              </a:pathLst>
            </a:custGeom>
            <a:solidFill>
              <a:srgbClr val="EEF8EF"/>
            </a:solidFill>
            <a:ln w="9525" cap="sq">
              <a:solidFill>
                <a:srgbClr val="B8DFBF"/>
              </a:solidFill>
              <a:prstDash val="solid"/>
              <a:miter/>
            </a:ln>
          </p:spPr>
        </p:sp>
        <p:sp>
          <p:nvSpPr>
            <p:cNvPr name="TextBox 21" id="21"/>
            <p:cNvSpPr txBox="true"/>
            <p:nvPr/>
          </p:nvSpPr>
          <p:spPr>
            <a:xfrm>
              <a:off x="0" y="-38100"/>
              <a:ext cx="7349067" cy="9525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6616700" y="2152650"/>
            <a:ext cx="5054600" cy="372745"/>
          </a:xfrm>
          <a:prstGeom prst="rect">
            <a:avLst/>
          </a:prstGeom>
        </p:spPr>
        <p:txBody>
          <a:bodyPr anchor="t" rtlCol="false" tIns="0" lIns="0" bIns="0" rIns="0">
            <a:spAutoFit/>
          </a:bodyPr>
          <a:lstStyle/>
          <a:p>
            <a:pPr algn="l">
              <a:lnSpc>
                <a:spcPts val="3079"/>
              </a:lnSpc>
            </a:pPr>
            <a:r>
              <a:rPr lang="en-US" sz="2199" b="true">
                <a:solidFill>
                  <a:srgbClr val="18A234"/>
                </a:solidFill>
                <a:latin typeface="Nunito Sans Bold"/>
                <a:ea typeface="Nunito Sans Bold"/>
                <a:cs typeface="Nunito Sans Bold"/>
                <a:sym typeface="Nunito Sans Bold"/>
              </a:rPr>
              <a:t>TRANSACTIONS</a:t>
            </a:r>
          </a:p>
        </p:txBody>
      </p:sp>
      <p:sp>
        <p:nvSpPr>
          <p:cNvPr name="TextBox 23" id="23"/>
          <p:cNvSpPr txBox="true"/>
          <p:nvPr/>
        </p:nvSpPr>
        <p:spPr>
          <a:xfrm rot="0">
            <a:off x="6616700" y="2428875"/>
            <a:ext cx="5054600" cy="240665"/>
          </a:xfrm>
          <a:prstGeom prst="rect">
            <a:avLst/>
          </a:prstGeom>
        </p:spPr>
        <p:txBody>
          <a:bodyPr anchor="t" rtlCol="false" tIns="0" lIns="0" bIns="0" rIns="0">
            <a:spAutoFit/>
          </a:bodyPr>
          <a:lstStyle/>
          <a:p>
            <a:pPr algn="l">
              <a:lnSpc>
                <a:spcPts val="1960"/>
              </a:lnSpc>
            </a:pPr>
            <a:r>
              <a:rPr lang="en-US" sz="1400">
                <a:solidFill>
                  <a:srgbClr val="355D4A"/>
                </a:solidFill>
                <a:latin typeface="Nunito Sans"/>
                <a:ea typeface="Nunito Sans"/>
                <a:cs typeface="Nunito Sans"/>
                <a:sym typeface="Nunito Sans"/>
              </a:rPr>
              <a:t>300.000 baris · 6 kolom</a:t>
            </a:r>
          </a:p>
        </p:txBody>
      </p:sp>
      <p:grpSp>
        <p:nvGrpSpPr>
          <p:cNvPr name="Group 24" id="24"/>
          <p:cNvGrpSpPr/>
          <p:nvPr/>
        </p:nvGrpSpPr>
        <p:grpSpPr>
          <a:xfrm rot="0">
            <a:off x="12128500" y="2047875"/>
            <a:ext cx="5511800" cy="5953125"/>
            <a:chOff x="0" y="0"/>
            <a:chExt cx="7349067" cy="7937500"/>
          </a:xfrm>
        </p:grpSpPr>
        <p:sp>
          <p:nvSpPr>
            <p:cNvPr name="Freeform 25" id="25"/>
            <p:cNvSpPr/>
            <p:nvPr/>
          </p:nvSpPr>
          <p:spPr>
            <a:xfrm flipH="false" flipV="false" rot="0">
              <a:off x="0" y="0"/>
              <a:ext cx="7349067" cy="7937500"/>
            </a:xfrm>
            <a:custGeom>
              <a:avLst/>
              <a:gdLst/>
              <a:ahLst/>
              <a:cxnLst/>
              <a:rect r="r" b="b" t="t" l="l"/>
              <a:pathLst>
                <a:path h="7937500" w="7349067">
                  <a:moveTo>
                    <a:pt x="228600" y="0"/>
                  </a:moveTo>
                  <a:lnTo>
                    <a:pt x="7120467" y="0"/>
                  </a:lnTo>
                  <a:cubicBezTo>
                    <a:pt x="7246719" y="0"/>
                    <a:pt x="7349067" y="102348"/>
                    <a:pt x="7349067" y="228600"/>
                  </a:cubicBezTo>
                  <a:lnTo>
                    <a:pt x="7349067" y="7708900"/>
                  </a:lnTo>
                  <a:cubicBezTo>
                    <a:pt x="7349067" y="7835152"/>
                    <a:pt x="7246719" y="7937500"/>
                    <a:pt x="7120467" y="7937500"/>
                  </a:cubicBezTo>
                  <a:lnTo>
                    <a:pt x="228600" y="7937500"/>
                  </a:lnTo>
                  <a:cubicBezTo>
                    <a:pt x="102348" y="7937500"/>
                    <a:pt x="0" y="7835152"/>
                    <a:pt x="0" y="7708900"/>
                  </a:cubicBezTo>
                  <a:lnTo>
                    <a:pt x="0" y="228600"/>
                  </a:lnTo>
                  <a:cubicBezTo>
                    <a:pt x="0" y="102348"/>
                    <a:pt x="102348" y="0"/>
                    <a:pt x="228600" y="0"/>
                  </a:cubicBezTo>
                  <a:close/>
                </a:path>
              </a:pathLst>
            </a:custGeom>
            <a:solidFill>
              <a:srgbClr val="FFFFFF"/>
            </a:solidFill>
            <a:ln w="19050" cap="sq">
              <a:solidFill>
                <a:srgbClr val="B8DFBF"/>
              </a:solidFill>
              <a:prstDash val="solid"/>
              <a:miter/>
            </a:ln>
          </p:spPr>
        </p:sp>
        <p:sp>
          <p:nvSpPr>
            <p:cNvPr name="TextBox 26" id="26"/>
            <p:cNvSpPr txBox="true"/>
            <p:nvPr/>
          </p:nvSpPr>
          <p:spPr>
            <a:xfrm>
              <a:off x="0" y="-38100"/>
              <a:ext cx="7349067" cy="79756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12128500" y="2047875"/>
            <a:ext cx="5511800" cy="685800"/>
            <a:chOff x="0" y="0"/>
            <a:chExt cx="7349067" cy="914400"/>
          </a:xfrm>
        </p:grpSpPr>
        <p:sp>
          <p:nvSpPr>
            <p:cNvPr name="Freeform 28" id="28"/>
            <p:cNvSpPr/>
            <p:nvPr/>
          </p:nvSpPr>
          <p:spPr>
            <a:xfrm flipH="false" flipV="false" rot="0">
              <a:off x="0" y="0"/>
              <a:ext cx="7349067" cy="914400"/>
            </a:xfrm>
            <a:custGeom>
              <a:avLst/>
              <a:gdLst/>
              <a:ahLst/>
              <a:cxnLst/>
              <a:rect r="r" b="b" t="t" l="l"/>
              <a:pathLst>
                <a:path h="914400" w="7349067">
                  <a:moveTo>
                    <a:pt x="228600" y="0"/>
                  </a:moveTo>
                  <a:lnTo>
                    <a:pt x="7120467" y="0"/>
                  </a:lnTo>
                  <a:cubicBezTo>
                    <a:pt x="7246719" y="0"/>
                    <a:pt x="7349067" y="102348"/>
                    <a:pt x="7349067" y="228600"/>
                  </a:cubicBezTo>
                  <a:lnTo>
                    <a:pt x="7349067" y="685800"/>
                  </a:lnTo>
                  <a:cubicBezTo>
                    <a:pt x="7349067" y="812052"/>
                    <a:pt x="7246719" y="914400"/>
                    <a:pt x="7120467" y="914400"/>
                  </a:cubicBezTo>
                  <a:lnTo>
                    <a:pt x="228600" y="914400"/>
                  </a:lnTo>
                  <a:cubicBezTo>
                    <a:pt x="102348" y="914400"/>
                    <a:pt x="0" y="812052"/>
                    <a:pt x="0" y="685800"/>
                  </a:cubicBezTo>
                  <a:lnTo>
                    <a:pt x="0" y="228600"/>
                  </a:lnTo>
                  <a:cubicBezTo>
                    <a:pt x="0" y="102348"/>
                    <a:pt x="102348" y="0"/>
                    <a:pt x="228600" y="0"/>
                  </a:cubicBezTo>
                  <a:close/>
                </a:path>
              </a:pathLst>
            </a:custGeom>
            <a:solidFill>
              <a:srgbClr val="EEF8EF"/>
            </a:solidFill>
            <a:ln w="9525" cap="sq">
              <a:solidFill>
                <a:srgbClr val="B8DFBF"/>
              </a:solidFill>
              <a:prstDash val="solid"/>
              <a:miter/>
            </a:ln>
          </p:spPr>
        </p:sp>
        <p:sp>
          <p:nvSpPr>
            <p:cNvPr name="TextBox 29" id="29"/>
            <p:cNvSpPr txBox="true"/>
            <p:nvPr/>
          </p:nvSpPr>
          <p:spPr>
            <a:xfrm>
              <a:off x="0" y="-38100"/>
              <a:ext cx="7349067" cy="9525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12357100" y="2152650"/>
            <a:ext cx="5054600" cy="372745"/>
          </a:xfrm>
          <a:prstGeom prst="rect">
            <a:avLst/>
          </a:prstGeom>
        </p:spPr>
        <p:txBody>
          <a:bodyPr anchor="t" rtlCol="false" tIns="0" lIns="0" bIns="0" rIns="0">
            <a:spAutoFit/>
          </a:bodyPr>
          <a:lstStyle/>
          <a:p>
            <a:pPr algn="l">
              <a:lnSpc>
                <a:spcPts val="3079"/>
              </a:lnSpc>
            </a:pPr>
            <a:r>
              <a:rPr lang="en-US" sz="2199" b="true">
                <a:solidFill>
                  <a:srgbClr val="18A234"/>
                </a:solidFill>
                <a:latin typeface="Nunito Sans Bold"/>
                <a:ea typeface="Nunito Sans Bold"/>
                <a:cs typeface="Nunito Sans Bold"/>
                <a:sym typeface="Nunito Sans Bold"/>
              </a:rPr>
              <a:t>DELIVERIES</a:t>
            </a:r>
          </a:p>
        </p:txBody>
      </p:sp>
      <p:sp>
        <p:nvSpPr>
          <p:cNvPr name="TextBox 31" id="31"/>
          <p:cNvSpPr txBox="true"/>
          <p:nvPr/>
        </p:nvSpPr>
        <p:spPr>
          <a:xfrm rot="0">
            <a:off x="12357100" y="2428875"/>
            <a:ext cx="5054600" cy="240665"/>
          </a:xfrm>
          <a:prstGeom prst="rect">
            <a:avLst/>
          </a:prstGeom>
        </p:spPr>
        <p:txBody>
          <a:bodyPr anchor="t" rtlCol="false" tIns="0" lIns="0" bIns="0" rIns="0">
            <a:spAutoFit/>
          </a:bodyPr>
          <a:lstStyle/>
          <a:p>
            <a:pPr algn="l">
              <a:lnSpc>
                <a:spcPts val="1960"/>
              </a:lnSpc>
            </a:pPr>
            <a:r>
              <a:rPr lang="en-US" sz="1400">
                <a:solidFill>
                  <a:srgbClr val="355D4A"/>
                </a:solidFill>
                <a:latin typeface="Nunito Sans"/>
                <a:ea typeface="Nunito Sans"/>
                <a:cs typeface="Nunito Sans"/>
                <a:sym typeface="Nunito Sans"/>
              </a:rPr>
              <a:t>300.000 baris · 4 kolom</a:t>
            </a:r>
          </a:p>
        </p:txBody>
      </p:sp>
      <p:grpSp>
        <p:nvGrpSpPr>
          <p:cNvPr name="Group 32" id="32"/>
          <p:cNvGrpSpPr/>
          <p:nvPr/>
        </p:nvGrpSpPr>
        <p:grpSpPr>
          <a:xfrm rot="0">
            <a:off x="647700" y="8239125"/>
            <a:ext cx="16992600" cy="1066800"/>
            <a:chOff x="0" y="0"/>
            <a:chExt cx="22656800" cy="1422400"/>
          </a:xfrm>
        </p:grpSpPr>
        <p:sp>
          <p:nvSpPr>
            <p:cNvPr name="Freeform 33" id="33"/>
            <p:cNvSpPr/>
            <p:nvPr/>
          </p:nvSpPr>
          <p:spPr>
            <a:xfrm flipH="false" flipV="false" rot="0">
              <a:off x="0" y="0"/>
              <a:ext cx="22656800" cy="1422400"/>
            </a:xfrm>
            <a:custGeom>
              <a:avLst/>
              <a:gdLst/>
              <a:ahLst/>
              <a:cxnLst/>
              <a:rect r="r" b="b" t="t" l="l"/>
              <a:pathLst>
                <a:path h="1422400" w="22656800">
                  <a:moveTo>
                    <a:pt x="203200" y="0"/>
                  </a:moveTo>
                  <a:lnTo>
                    <a:pt x="22453600" y="0"/>
                  </a:lnTo>
                  <a:cubicBezTo>
                    <a:pt x="22565824" y="0"/>
                    <a:pt x="22656800" y="90976"/>
                    <a:pt x="22656800" y="203200"/>
                  </a:cubicBezTo>
                  <a:lnTo>
                    <a:pt x="22656800" y="1219200"/>
                  </a:lnTo>
                  <a:cubicBezTo>
                    <a:pt x="22656800" y="1331424"/>
                    <a:pt x="22565824" y="1422400"/>
                    <a:pt x="22453600" y="1422400"/>
                  </a:cubicBezTo>
                  <a:lnTo>
                    <a:pt x="203200" y="1422400"/>
                  </a:lnTo>
                  <a:cubicBezTo>
                    <a:pt x="90976" y="1422400"/>
                    <a:pt x="0" y="1331424"/>
                    <a:pt x="0" y="1219200"/>
                  </a:cubicBezTo>
                  <a:lnTo>
                    <a:pt x="0" y="203200"/>
                  </a:lnTo>
                  <a:cubicBezTo>
                    <a:pt x="0" y="90976"/>
                    <a:pt x="90976" y="0"/>
                    <a:pt x="203200" y="0"/>
                  </a:cubicBezTo>
                  <a:close/>
                </a:path>
              </a:pathLst>
            </a:custGeom>
            <a:solidFill>
              <a:srgbClr val="EEF8EF"/>
            </a:solidFill>
            <a:ln w="19050" cap="sq">
              <a:solidFill>
                <a:srgbClr val="B8DFBF"/>
              </a:solidFill>
              <a:prstDash val="solid"/>
              <a:miter/>
            </a:ln>
          </p:spPr>
        </p:sp>
        <p:sp>
          <p:nvSpPr>
            <p:cNvPr name="TextBox 34" id="34"/>
            <p:cNvSpPr txBox="true"/>
            <p:nvPr/>
          </p:nvSpPr>
          <p:spPr>
            <a:xfrm>
              <a:off x="0" y="-38100"/>
              <a:ext cx="22656800" cy="14605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876300" y="8372475"/>
            <a:ext cx="2857500" cy="297180"/>
          </a:xfrm>
          <a:prstGeom prst="rect">
            <a:avLst/>
          </a:prstGeom>
        </p:spPr>
        <p:txBody>
          <a:bodyPr anchor="t" rtlCol="false" tIns="0" lIns="0" bIns="0" rIns="0">
            <a:spAutoFit/>
          </a:bodyPr>
          <a:lstStyle/>
          <a:p>
            <a:pPr algn="l">
              <a:lnSpc>
                <a:spcPts val="2520"/>
              </a:lnSpc>
            </a:pPr>
            <a:r>
              <a:rPr lang="en-US" sz="1800" b="true">
                <a:solidFill>
                  <a:srgbClr val="18A234"/>
                </a:solidFill>
                <a:latin typeface="Nunito Sans Bold"/>
                <a:ea typeface="Nunito Sans Bold"/>
                <a:cs typeface="Nunito Sans Bold"/>
                <a:sym typeface="Nunito Sans Bold"/>
              </a:rPr>
              <a:t>VALIDASI DUPLIKAT</a:t>
            </a:r>
          </a:p>
        </p:txBody>
      </p:sp>
      <p:sp>
        <p:nvSpPr>
          <p:cNvPr name="TextBox 36" id="36"/>
          <p:cNvSpPr txBox="true"/>
          <p:nvPr/>
        </p:nvSpPr>
        <p:spPr>
          <a:xfrm rot="0">
            <a:off x="3886200" y="8591550"/>
            <a:ext cx="13468350" cy="271145"/>
          </a:xfrm>
          <a:prstGeom prst="rect">
            <a:avLst/>
          </a:prstGeom>
        </p:spPr>
        <p:txBody>
          <a:bodyPr anchor="t" rtlCol="false" tIns="0" lIns="0" bIns="0" rIns="0">
            <a:spAutoFit/>
          </a:bodyPr>
          <a:lstStyle/>
          <a:p>
            <a:pPr algn="l">
              <a:lnSpc>
                <a:spcPts val="2380"/>
              </a:lnSpc>
            </a:pPr>
            <a:r>
              <a:rPr lang="en-US" sz="1700">
                <a:solidFill>
                  <a:srgbClr val="355D4A"/>
                </a:solidFill>
                <a:latin typeface="Nunito Sans"/>
                <a:ea typeface="Nunito Sans"/>
                <a:cs typeface="Nunito Sans"/>
                <a:sym typeface="Nunito Sans"/>
              </a:rPr>
              <a:t>Duplicate user_id: 0     ·     Duplicate order_id transactions: 0     ·     Duplicate order_id deliveries: 0</a:t>
            </a:r>
          </a:p>
        </p:txBody>
      </p:sp>
      <p:sp>
        <p:nvSpPr>
          <p:cNvPr name="TextBox 37" id="37"/>
          <p:cNvSpPr txBox="true"/>
          <p:nvPr/>
        </p:nvSpPr>
        <p:spPr>
          <a:xfrm rot="0">
            <a:off x="876300" y="2962275"/>
            <a:ext cx="5054918" cy="3061335"/>
          </a:xfrm>
          <a:prstGeom prst="rect">
            <a:avLst/>
          </a:prstGeom>
        </p:spPr>
        <p:txBody>
          <a:bodyPr anchor="t" rtlCol="false" tIns="0" lIns="0" bIns="0" rIns="0">
            <a:spAutoFit/>
          </a:bodyPr>
          <a:lstStyle/>
          <a:p>
            <a:pPr algn="l">
              <a:lnSpc>
                <a:spcPts val="1770"/>
              </a:lnSpc>
            </a:pPr>
            <a:r>
              <a:rPr lang="en-US" sz="1500">
                <a:solidFill>
                  <a:srgbClr val="24352B"/>
                </a:solidFill>
                <a:latin typeface="Nunito Sans"/>
                <a:ea typeface="Nunito Sans"/>
                <a:cs typeface="Nunito Sans"/>
                <a:sym typeface="Nunito Sans"/>
              </a:rPr>
              <a:t>BARIS = 1 customer/user</a:t>
            </a:r>
          </a:p>
          <a:p>
            <a:pPr algn="l">
              <a:lnSpc>
                <a:spcPts val="1770"/>
              </a:lnSpc>
            </a:pPr>
            <a:r>
              <a:rPr lang="en-US" sz="1500">
                <a:solidFill>
                  <a:srgbClr val="24352B"/>
                </a:solidFill>
                <a:latin typeface="Nunito Sans"/>
                <a:ea typeface="Nunito Sans"/>
                <a:cs typeface="Nunito Sans"/>
                <a:sym typeface="Nunito Sans"/>
              </a:rPr>
              <a:t>VARIABEL / KOLOM</a:t>
            </a:r>
          </a:p>
          <a:p>
            <a:pPr algn="l">
              <a:lnSpc>
                <a:spcPts val="1770"/>
              </a:lnSpc>
            </a:pPr>
            <a:r>
              <a:rPr lang="en-US" sz="1500">
                <a:solidFill>
                  <a:srgbClr val="24352B"/>
                </a:solidFill>
                <a:latin typeface="Nunito Sans"/>
                <a:ea typeface="Nunito Sans"/>
                <a:cs typeface="Nunito Sans"/>
                <a:sym typeface="Nunito Sans"/>
              </a:rPr>
              <a:t>• IDENTITAS: user_id</a:t>
            </a:r>
          </a:p>
          <a:p>
            <a:pPr algn="l">
              <a:lnSpc>
                <a:spcPts val="1770"/>
              </a:lnSpc>
            </a:pPr>
            <a:r>
              <a:rPr lang="en-US" sz="1500">
                <a:solidFill>
                  <a:srgbClr val="24352B"/>
                </a:solidFill>
                <a:latin typeface="Nunito Sans"/>
                <a:ea typeface="Nunito Sans"/>
                <a:cs typeface="Nunito Sans"/>
                <a:sym typeface="Nunito Sans"/>
              </a:rPr>
              <a:t>• WAKTU: join_date (tanggal)</a:t>
            </a:r>
          </a:p>
          <a:p>
            <a:pPr algn="l">
              <a:lnSpc>
                <a:spcPts val="1770"/>
              </a:lnSpc>
            </a:pPr>
            <a:r>
              <a:rPr lang="en-US" sz="1500">
                <a:solidFill>
                  <a:srgbClr val="24352B"/>
                </a:solidFill>
                <a:latin typeface="Nunito Sans"/>
                <a:ea typeface="Nunito Sans"/>
                <a:cs typeface="Nunito Sans"/>
                <a:sym typeface="Nunito Sans"/>
              </a:rPr>
              <a:t>• DEMOGRAFI: gender, location, age (tahun)</a:t>
            </a:r>
          </a:p>
          <a:p>
            <a:pPr algn="l">
              <a:lnSpc>
                <a:spcPts val="1770"/>
              </a:lnSpc>
            </a:pPr>
            <a:r>
              <a:rPr lang="en-US" sz="1500">
                <a:solidFill>
                  <a:srgbClr val="24352B"/>
                </a:solidFill>
                <a:latin typeface="Nunito Sans"/>
                <a:ea typeface="Nunito Sans"/>
                <a:cs typeface="Nunito Sans"/>
                <a:sym typeface="Nunito Sans"/>
              </a:rPr>
              <a:t>STATISTIK</a:t>
            </a:r>
          </a:p>
          <a:p>
            <a:pPr algn="l">
              <a:lnSpc>
                <a:spcPts val="1770"/>
              </a:lnSpc>
            </a:pPr>
            <a:r>
              <a:rPr lang="en-US" sz="1500">
                <a:solidFill>
                  <a:srgbClr val="24352B"/>
                </a:solidFill>
                <a:latin typeface="Nunito Sans"/>
                <a:ea typeface="Nunito Sans"/>
                <a:cs typeface="Nunito Sans"/>
                <a:sym typeface="Nunito Sans"/>
              </a:rPr>
              <a:t>• 50.000 baris · 5 kolom</a:t>
            </a:r>
          </a:p>
          <a:p>
            <a:pPr algn="l">
              <a:lnSpc>
                <a:spcPts val="1770"/>
              </a:lnSpc>
            </a:pPr>
            <a:r>
              <a:rPr lang="en-US" sz="1500">
                <a:solidFill>
                  <a:srgbClr val="24352B"/>
                </a:solidFill>
                <a:latin typeface="Nunito Sans"/>
                <a:ea typeface="Nunito Sans"/>
                <a:cs typeface="Nunito Sans"/>
                <a:sym typeface="Nunito Sans"/>
              </a:rPr>
              <a:t>• user_id: 50.000 unique · tanpa duplikat</a:t>
            </a:r>
          </a:p>
          <a:p>
            <a:pPr algn="l">
              <a:lnSpc>
                <a:spcPts val="1770"/>
              </a:lnSpc>
            </a:pPr>
            <a:r>
              <a:rPr lang="en-US" sz="1500">
                <a:solidFill>
                  <a:srgbClr val="24352B"/>
                </a:solidFill>
                <a:latin typeface="Nunito Sans"/>
                <a:ea typeface="Nunito Sans"/>
                <a:cs typeface="Nunito Sans"/>
                <a:sym typeface="Nunito Sans"/>
              </a:rPr>
              <a:t>• join_date: 730 tanggal unik</a:t>
            </a:r>
          </a:p>
          <a:p>
            <a:pPr algn="l">
              <a:lnSpc>
                <a:spcPts val="1770"/>
              </a:lnSpc>
            </a:pPr>
            <a:r>
              <a:rPr lang="en-US" sz="1500">
                <a:solidFill>
                  <a:srgbClr val="24352B"/>
                </a:solidFill>
                <a:latin typeface="Nunito Sans"/>
                <a:ea typeface="Nunito Sans"/>
                <a:cs typeface="Nunito Sans"/>
                <a:sym typeface="Nunito Sans"/>
              </a:rPr>
              <a:t>• gender: 45.106/50.000 terisi · 2 kategori · top Female 22.693</a:t>
            </a:r>
          </a:p>
          <a:p>
            <a:pPr algn="l">
              <a:lnSpc>
                <a:spcPts val="1770"/>
              </a:lnSpc>
            </a:pPr>
            <a:r>
              <a:rPr lang="en-US" sz="1500">
                <a:solidFill>
                  <a:srgbClr val="24352B"/>
                </a:solidFill>
                <a:latin typeface="Nunito Sans"/>
                <a:ea typeface="Nunito Sans"/>
                <a:cs typeface="Nunito Sans"/>
                <a:sym typeface="Nunito Sans"/>
              </a:rPr>
              <a:t>• location: 6 kategori · top Surabaya 8.444</a:t>
            </a:r>
          </a:p>
          <a:p>
            <a:pPr algn="l">
              <a:lnSpc>
                <a:spcPts val="1770"/>
              </a:lnSpc>
            </a:pPr>
            <a:r>
              <a:rPr lang="en-US" sz="1500">
                <a:solidFill>
                  <a:srgbClr val="24352B"/>
                </a:solidFill>
                <a:latin typeface="Nunito Sans"/>
                <a:ea typeface="Nunito Sans"/>
                <a:cs typeface="Nunito Sans"/>
                <a:sym typeface="Nunito Sans"/>
              </a:rPr>
              <a:t>• age: mean 39,60 · median 40 · rentang 15–64 · Q1 27 · Q3 52 · std 14,43</a:t>
            </a:r>
          </a:p>
        </p:txBody>
      </p:sp>
      <p:sp>
        <p:nvSpPr>
          <p:cNvPr name="TextBox 38" id="38"/>
          <p:cNvSpPr txBox="true"/>
          <p:nvPr/>
        </p:nvSpPr>
        <p:spPr>
          <a:xfrm rot="0">
            <a:off x="6617018" y="2962275"/>
            <a:ext cx="5054918" cy="3937635"/>
          </a:xfrm>
          <a:prstGeom prst="rect">
            <a:avLst/>
          </a:prstGeom>
        </p:spPr>
        <p:txBody>
          <a:bodyPr anchor="t" rtlCol="false" tIns="0" lIns="0" bIns="0" rIns="0">
            <a:spAutoFit/>
          </a:bodyPr>
          <a:lstStyle/>
          <a:p>
            <a:pPr algn="l">
              <a:lnSpc>
                <a:spcPts val="1770"/>
              </a:lnSpc>
            </a:pPr>
            <a:r>
              <a:rPr lang="en-US" sz="1500">
                <a:solidFill>
                  <a:srgbClr val="24352B"/>
                </a:solidFill>
                <a:latin typeface="Nunito Sans"/>
                <a:ea typeface="Nunito Sans"/>
                <a:cs typeface="Nunito Sans"/>
                <a:sym typeface="Nunito Sans"/>
              </a:rPr>
              <a:t>BARIS = 1 transaksi/order</a:t>
            </a:r>
          </a:p>
          <a:p>
            <a:pPr algn="l">
              <a:lnSpc>
                <a:spcPts val="1770"/>
              </a:lnSpc>
            </a:pPr>
            <a:r>
              <a:rPr lang="en-US" sz="1500">
                <a:solidFill>
                  <a:srgbClr val="24352B"/>
                </a:solidFill>
                <a:latin typeface="Nunito Sans"/>
                <a:ea typeface="Nunito Sans"/>
                <a:cs typeface="Nunito Sans"/>
                <a:sym typeface="Nunito Sans"/>
              </a:rPr>
              <a:t>VARIABEL / KOLOM</a:t>
            </a:r>
          </a:p>
          <a:p>
            <a:pPr algn="l">
              <a:lnSpc>
                <a:spcPts val="1770"/>
              </a:lnSpc>
            </a:pPr>
            <a:r>
              <a:rPr lang="en-US" sz="1500">
                <a:solidFill>
                  <a:srgbClr val="24352B"/>
                </a:solidFill>
                <a:latin typeface="Nunito Sans"/>
                <a:ea typeface="Nunito Sans"/>
                <a:cs typeface="Nunito Sans"/>
                <a:sym typeface="Nunito Sans"/>
              </a:rPr>
              <a:t>• KUNCI RELASI: order_id, user_id</a:t>
            </a:r>
          </a:p>
          <a:p>
            <a:pPr algn="l">
              <a:lnSpc>
                <a:spcPts val="1770"/>
              </a:lnSpc>
            </a:pPr>
            <a:r>
              <a:rPr lang="en-US" sz="1500">
                <a:solidFill>
                  <a:srgbClr val="24352B"/>
                </a:solidFill>
                <a:latin typeface="Nunito Sans"/>
                <a:ea typeface="Nunito Sans"/>
                <a:cs typeface="Nunito Sans"/>
                <a:sym typeface="Nunito Sans"/>
              </a:rPr>
              <a:t>• WAKTU: order_date (tanggal)</a:t>
            </a:r>
          </a:p>
          <a:p>
            <a:pPr algn="l">
              <a:lnSpc>
                <a:spcPts val="1770"/>
              </a:lnSpc>
            </a:pPr>
            <a:r>
              <a:rPr lang="en-US" sz="1500">
                <a:solidFill>
                  <a:srgbClr val="24352B"/>
                </a:solidFill>
                <a:latin typeface="Nunito Sans"/>
                <a:ea typeface="Nunito Sans"/>
                <a:cs typeface="Nunito Sans"/>
                <a:sym typeface="Nunito Sans"/>
              </a:rPr>
              <a:t>• PEMBAYARAN: payment_method</a:t>
            </a:r>
          </a:p>
          <a:p>
            <a:pPr algn="l">
              <a:lnSpc>
                <a:spcPts val="1770"/>
              </a:lnSpc>
            </a:pPr>
            <a:r>
              <a:rPr lang="en-US" sz="1500">
                <a:solidFill>
                  <a:srgbClr val="24352B"/>
                </a:solidFill>
                <a:latin typeface="Nunito Sans"/>
                <a:ea typeface="Nunito Sans"/>
                <a:cs typeface="Nunito Sans"/>
                <a:sym typeface="Nunito Sans"/>
              </a:rPr>
              <a:t>• NILAI TRANSAKSI: promo_amount, total_amount (Rupiah)</a:t>
            </a:r>
          </a:p>
          <a:p>
            <a:pPr algn="l">
              <a:lnSpc>
                <a:spcPts val="1770"/>
              </a:lnSpc>
            </a:pPr>
            <a:r>
              <a:rPr lang="en-US" sz="1500">
                <a:solidFill>
                  <a:srgbClr val="24352B"/>
                </a:solidFill>
                <a:latin typeface="Nunito Sans"/>
                <a:ea typeface="Nunito Sans"/>
                <a:cs typeface="Nunito Sans"/>
                <a:sym typeface="Nunito Sans"/>
              </a:rPr>
              <a:t>STATISTIK</a:t>
            </a:r>
          </a:p>
          <a:p>
            <a:pPr algn="l">
              <a:lnSpc>
                <a:spcPts val="1770"/>
              </a:lnSpc>
            </a:pPr>
            <a:r>
              <a:rPr lang="en-US" sz="1500">
                <a:solidFill>
                  <a:srgbClr val="24352B"/>
                </a:solidFill>
                <a:latin typeface="Nunito Sans"/>
                <a:ea typeface="Nunito Sans"/>
                <a:cs typeface="Nunito Sans"/>
                <a:sym typeface="Nunito Sans"/>
              </a:rPr>
              <a:t>• 300.000 baris · 6 kolom</a:t>
            </a:r>
          </a:p>
          <a:p>
            <a:pPr algn="l">
              <a:lnSpc>
                <a:spcPts val="1770"/>
              </a:lnSpc>
            </a:pPr>
            <a:r>
              <a:rPr lang="en-US" sz="1500">
                <a:solidFill>
                  <a:srgbClr val="24352B"/>
                </a:solidFill>
                <a:latin typeface="Nunito Sans"/>
                <a:ea typeface="Nunito Sans"/>
                <a:cs typeface="Nunito Sans"/>
                <a:sym typeface="Nunito Sans"/>
              </a:rPr>
              <a:t>• order_id: 300.000 unique · tanpa duplikat</a:t>
            </a:r>
          </a:p>
          <a:p>
            <a:pPr algn="l">
              <a:lnSpc>
                <a:spcPts val="1770"/>
              </a:lnSpc>
            </a:pPr>
            <a:r>
              <a:rPr lang="en-US" sz="1500">
                <a:solidFill>
                  <a:srgbClr val="24352B"/>
                </a:solidFill>
                <a:latin typeface="Nunito Sans"/>
                <a:ea typeface="Nunito Sans"/>
                <a:cs typeface="Nunito Sans"/>
                <a:sym typeface="Nunito Sans"/>
              </a:rPr>
              <a:t>• user_id: 49.883 unique · top USR03807: 18 order</a:t>
            </a:r>
          </a:p>
          <a:p>
            <a:pPr algn="l">
              <a:lnSpc>
                <a:spcPts val="1770"/>
              </a:lnSpc>
            </a:pPr>
            <a:r>
              <a:rPr lang="en-US" sz="1500">
                <a:solidFill>
                  <a:srgbClr val="24352B"/>
                </a:solidFill>
                <a:latin typeface="Nunito Sans"/>
                <a:ea typeface="Nunito Sans"/>
                <a:cs typeface="Nunito Sans"/>
                <a:sym typeface="Nunito Sans"/>
              </a:rPr>
              <a:t>• order_date: 1.186 tanggal unik</a:t>
            </a:r>
          </a:p>
          <a:p>
            <a:pPr algn="l">
              <a:lnSpc>
                <a:spcPts val="1770"/>
              </a:lnSpc>
            </a:pPr>
            <a:r>
              <a:rPr lang="en-US" sz="1500">
                <a:solidFill>
                  <a:srgbClr val="24352B"/>
                </a:solidFill>
                <a:latin typeface="Nunito Sans"/>
                <a:ea typeface="Nunito Sans"/>
                <a:cs typeface="Nunito Sans"/>
                <a:sym typeface="Nunito Sans"/>
              </a:rPr>
              <a:t>• payment_method: 9 kategori · top gopay 33.672</a:t>
            </a:r>
          </a:p>
          <a:p>
            <a:pPr algn="l">
              <a:lnSpc>
                <a:spcPts val="1770"/>
              </a:lnSpc>
            </a:pPr>
            <a:r>
              <a:rPr lang="en-US" sz="1500">
                <a:solidFill>
                  <a:srgbClr val="24352B"/>
                </a:solidFill>
                <a:latin typeface="Nunito Sans"/>
                <a:ea typeface="Nunito Sans"/>
                <a:cs typeface="Nunito Sans"/>
                <a:sym typeface="Nunito Sans"/>
              </a:rPr>
              <a:t>• promo_amount: mean 7.473,60 · median 0 · maksimum 50.000</a:t>
            </a:r>
          </a:p>
          <a:p>
            <a:pPr algn="l">
              <a:lnSpc>
                <a:spcPts val="1770"/>
              </a:lnSpc>
            </a:pPr>
            <a:r>
              <a:rPr lang="en-US" sz="1500">
                <a:solidFill>
                  <a:srgbClr val="24352B"/>
                </a:solidFill>
                <a:latin typeface="Nunito Sans"/>
                <a:ea typeface="Nunito Sans"/>
                <a:cs typeface="Nunito Sans"/>
                <a:sym typeface="Nunito Sans"/>
              </a:rPr>
              <a:t>• total_amount: mean 10.896.439,24 · median 1.025.482 · minimum -150.000 · Q3 1.523.252 · maksimum 999.999.999</a:t>
            </a:r>
          </a:p>
        </p:txBody>
      </p:sp>
      <p:sp>
        <p:nvSpPr>
          <p:cNvPr name="TextBox 39" id="39"/>
          <p:cNvSpPr txBox="true"/>
          <p:nvPr/>
        </p:nvSpPr>
        <p:spPr>
          <a:xfrm rot="0">
            <a:off x="12356783" y="2962275"/>
            <a:ext cx="5054918" cy="2623185"/>
          </a:xfrm>
          <a:prstGeom prst="rect">
            <a:avLst/>
          </a:prstGeom>
        </p:spPr>
        <p:txBody>
          <a:bodyPr anchor="t" rtlCol="false" tIns="0" lIns="0" bIns="0" rIns="0">
            <a:spAutoFit/>
          </a:bodyPr>
          <a:lstStyle/>
          <a:p>
            <a:pPr algn="l">
              <a:lnSpc>
                <a:spcPts val="1770"/>
              </a:lnSpc>
            </a:pPr>
            <a:r>
              <a:rPr lang="en-US" sz="1500">
                <a:solidFill>
                  <a:srgbClr val="24352B"/>
                </a:solidFill>
                <a:latin typeface="Nunito Sans"/>
                <a:ea typeface="Nunito Sans"/>
                <a:cs typeface="Nunito Sans"/>
                <a:sym typeface="Nunito Sans"/>
              </a:rPr>
              <a:t>BARIS = 1 record pengiriman untuk setiap order</a:t>
            </a:r>
          </a:p>
          <a:p>
            <a:pPr algn="l">
              <a:lnSpc>
                <a:spcPts val="1770"/>
              </a:lnSpc>
            </a:pPr>
            <a:r>
              <a:rPr lang="en-US" sz="1500">
                <a:solidFill>
                  <a:srgbClr val="24352B"/>
                </a:solidFill>
                <a:latin typeface="Nunito Sans"/>
                <a:ea typeface="Nunito Sans"/>
                <a:cs typeface="Nunito Sans"/>
                <a:sym typeface="Nunito Sans"/>
              </a:rPr>
              <a:t>VARIABEL / KOLOM</a:t>
            </a:r>
          </a:p>
          <a:p>
            <a:pPr algn="l">
              <a:lnSpc>
                <a:spcPts val="1770"/>
              </a:lnSpc>
            </a:pPr>
            <a:r>
              <a:rPr lang="en-US" sz="1500">
                <a:solidFill>
                  <a:srgbClr val="24352B"/>
                </a:solidFill>
                <a:latin typeface="Nunito Sans"/>
                <a:ea typeface="Nunito Sans"/>
                <a:cs typeface="Nunito Sans"/>
                <a:sym typeface="Nunito Sans"/>
              </a:rPr>
              <a:t>• KUNCI RELASI: order_id</a:t>
            </a:r>
          </a:p>
          <a:p>
            <a:pPr algn="l">
              <a:lnSpc>
                <a:spcPts val="1770"/>
              </a:lnSpc>
            </a:pPr>
            <a:r>
              <a:rPr lang="en-US" sz="1500">
                <a:solidFill>
                  <a:srgbClr val="24352B"/>
                </a:solidFill>
                <a:latin typeface="Nunito Sans"/>
                <a:ea typeface="Nunito Sans"/>
                <a:cs typeface="Nunito Sans"/>
                <a:sym typeface="Nunito Sans"/>
              </a:rPr>
              <a:t>• LOGISTIK: courier_name</a:t>
            </a:r>
          </a:p>
          <a:p>
            <a:pPr algn="l">
              <a:lnSpc>
                <a:spcPts val="1770"/>
              </a:lnSpc>
            </a:pPr>
            <a:r>
              <a:rPr lang="en-US" sz="1500">
                <a:solidFill>
                  <a:srgbClr val="24352B"/>
                </a:solidFill>
                <a:latin typeface="Nunito Sans"/>
                <a:ea typeface="Nunito Sans"/>
                <a:cs typeface="Nunito Sans"/>
                <a:sym typeface="Nunito Sans"/>
              </a:rPr>
              <a:t>• WAKTU PROSES: dispatch_date, delivery_date (tanggal)</a:t>
            </a:r>
          </a:p>
          <a:p>
            <a:pPr algn="l">
              <a:lnSpc>
                <a:spcPts val="1770"/>
              </a:lnSpc>
            </a:pPr>
            <a:r>
              <a:rPr lang="en-US" sz="1500">
                <a:solidFill>
                  <a:srgbClr val="24352B"/>
                </a:solidFill>
                <a:latin typeface="Nunito Sans"/>
                <a:ea typeface="Nunito Sans"/>
                <a:cs typeface="Nunito Sans"/>
                <a:sym typeface="Nunito Sans"/>
              </a:rPr>
              <a:t>STATISTIK</a:t>
            </a:r>
          </a:p>
          <a:p>
            <a:pPr algn="l">
              <a:lnSpc>
                <a:spcPts val="1770"/>
              </a:lnSpc>
            </a:pPr>
            <a:r>
              <a:rPr lang="en-US" sz="1500">
                <a:solidFill>
                  <a:srgbClr val="24352B"/>
                </a:solidFill>
                <a:latin typeface="Nunito Sans"/>
                <a:ea typeface="Nunito Sans"/>
                <a:cs typeface="Nunito Sans"/>
                <a:sym typeface="Nunito Sans"/>
              </a:rPr>
              <a:t>• 300.000 baris · 4 kolom</a:t>
            </a:r>
          </a:p>
          <a:p>
            <a:pPr algn="l">
              <a:lnSpc>
                <a:spcPts val="1770"/>
              </a:lnSpc>
            </a:pPr>
            <a:r>
              <a:rPr lang="en-US" sz="1500">
                <a:solidFill>
                  <a:srgbClr val="24352B"/>
                </a:solidFill>
                <a:latin typeface="Nunito Sans"/>
                <a:ea typeface="Nunito Sans"/>
                <a:cs typeface="Nunito Sans"/>
                <a:sym typeface="Nunito Sans"/>
              </a:rPr>
              <a:t>• order_id: 300.000 unique · tanpa duplikat</a:t>
            </a:r>
          </a:p>
          <a:p>
            <a:pPr algn="l">
              <a:lnSpc>
                <a:spcPts val="1770"/>
              </a:lnSpc>
            </a:pPr>
            <a:r>
              <a:rPr lang="en-US" sz="1500">
                <a:solidFill>
                  <a:srgbClr val="24352B"/>
                </a:solidFill>
                <a:latin typeface="Nunito Sans"/>
                <a:ea typeface="Nunito Sans"/>
                <a:cs typeface="Nunito Sans"/>
                <a:sym typeface="Nunito Sans"/>
              </a:rPr>
              <a:t>• courier_name: 284.915 terisi · 4 kategori · top GoTo Logistics 120.082</a:t>
            </a:r>
          </a:p>
          <a:p>
            <a:pPr algn="l">
              <a:lnSpc>
                <a:spcPts val="1770"/>
              </a:lnSpc>
            </a:pPr>
            <a:r>
              <a:rPr lang="en-US" sz="1500">
                <a:solidFill>
                  <a:srgbClr val="24352B"/>
                </a:solidFill>
                <a:latin typeface="Nunito Sans"/>
                <a:ea typeface="Nunito Sans"/>
                <a:cs typeface="Nunito Sans"/>
                <a:sym typeface="Nunito Sans"/>
              </a:rPr>
              <a:t>• dispatch_date: 1.188 tanggal unik</a:t>
            </a:r>
          </a:p>
          <a:p>
            <a:pPr algn="l">
              <a:lnSpc>
                <a:spcPts val="1770"/>
              </a:lnSpc>
            </a:pPr>
            <a:r>
              <a:rPr lang="en-US" sz="1500">
                <a:solidFill>
                  <a:srgbClr val="24352B"/>
                </a:solidFill>
                <a:latin typeface="Nunito Sans"/>
                <a:ea typeface="Nunito Sans"/>
                <a:cs typeface="Nunito Sans"/>
                <a:sym typeface="Nunito Sans"/>
              </a:rPr>
              <a:t>• delivery_date: 1.188 tanggal unik</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BFF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76200"/>
            <a:chOff x="0" y="0"/>
            <a:chExt cx="24384000" cy="101600"/>
          </a:xfrm>
        </p:grpSpPr>
        <p:sp>
          <p:nvSpPr>
            <p:cNvPr name="Freeform 3" id="3"/>
            <p:cNvSpPr/>
            <p:nvPr/>
          </p:nvSpPr>
          <p:spPr>
            <a:xfrm flipH="false" flipV="false" rot="0">
              <a:off x="0" y="0"/>
              <a:ext cx="24384000" cy="101600"/>
            </a:xfrm>
            <a:custGeom>
              <a:avLst/>
              <a:gdLst/>
              <a:ahLst/>
              <a:cxnLst/>
              <a:rect r="r" b="b" t="t" l="l"/>
              <a:pathLst>
                <a:path h="101600" w="24384000">
                  <a:moveTo>
                    <a:pt x="0" y="0"/>
                  </a:moveTo>
                  <a:lnTo>
                    <a:pt x="24384000" y="0"/>
                  </a:lnTo>
                  <a:lnTo>
                    <a:pt x="24384000" y="101600"/>
                  </a:lnTo>
                  <a:lnTo>
                    <a:pt x="0" y="101600"/>
                  </a:lnTo>
                  <a:close/>
                </a:path>
              </a:pathLst>
            </a:custGeom>
            <a:solidFill>
              <a:srgbClr val="03AC0E"/>
            </a:solidFill>
          </p:spPr>
        </p:sp>
        <p:sp>
          <p:nvSpPr>
            <p:cNvPr name="TextBox 4" id="4"/>
            <p:cNvSpPr txBox="true"/>
            <p:nvPr/>
          </p:nvSpPr>
          <p:spPr>
            <a:xfrm>
              <a:off x="0" y="-38100"/>
              <a:ext cx="24384000" cy="1397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533400"/>
            <a:ext cx="8572500" cy="339725"/>
          </a:xfrm>
          <a:prstGeom prst="rect">
            <a:avLst/>
          </a:prstGeom>
        </p:spPr>
        <p:txBody>
          <a:bodyPr anchor="t" rtlCol="false" tIns="0" lIns="0" bIns="0" rIns="0">
            <a:spAutoFit/>
          </a:bodyPr>
          <a:lstStyle/>
          <a:p>
            <a:pPr algn="l">
              <a:lnSpc>
                <a:spcPts val="2800"/>
              </a:lnSpc>
            </a:pPr>
            <a:r>
              <a:rPr lang="en-US" sz="2000" b="true">
                <a:solidFill>
                  <a:srgbClr val="03AC0E"/>
                </a:solidFill>
                <a:latin typeface="Nunito Sans Bold"/>
                <a:ea typeface="Nunito Sans Bold"/>
                <a:cs typeface="Nunito Sans Bold"/>
                <a:sym typeface="Nunito Sans Bold"/>
              </a:rPr>
              <a:t>04 · DATASET OVERVIEW</a:t>
            </a:r>
          </a:p>
        </p:txBody>
      </p:sp>
      <p:sp>
        <p:nvSpPr>
          <p:cNvPr name="TextBox 6" id="6"/>
          <p:cNvSpPr txBox="true"/>
          <p:nvPr/>
        </p:nvSpPr>
        <p:spPr>
          <a:xfrm rot="0">
            <a:off x="952500" y="781050"/>
            <a:ext cx="13811250" cy="995680"/>
          </a:xfrm>
          <a:prstGeom prst="rect">
            <a:avLst/>
          </a:prstGeom>
        </p:spPr>
        <p:txBody>
          <a:bodyPr anchor="t" rtlCol="false" tIns="0" lIns="0" bIns="0" rIns="0">
            <a:spAutoFit/>
          </a:bodyPr>
          <a:lstStyle/>
          <a:p>
            <a:pPr algn="l">
              <a:lnSpc>
                <a:spcPts val="8119"/>
              </a:lnSpc>
            </a:pPr>
            <a:r>
              <a:rPr lang="en-US" sz="5799" b="true">
                <a:solidFill>
                  <a:srgbClr val="03AC0E"/>
                </a:solidFill>
                <a:latin typeface="Nunito Sans Bold"/>
                <a:ea typeface="Nunito Sans Bold"/>
                <a:cs typeface="Nunito Sans Bold"/>
                <a:sym typeface="Nunito Sans Bold"/>
              </a:rPr>
              <a:t>Descriptive Statistics &amp; Sumber Data</a:t>
            </a:r>
          </a:p>
        </p:txBody>
      </p:sp>
      <p:sp>
        <p:nvSpPr>
          <p:cNvPr name="TextBox 7" id="7"/>
          <p:cNvSpPr txBox="true"/>
          <p:nvPr/>
        </p:nvSpPr>
        <p:spPr>
          <a:xfrm rot="0">
            <a:off x="952500" y="1657350"/>
            <a:ext cx="12382500" cy="396240"/>
          </a:xfrm>
          <a:prstGeom prst="rect">
            <a:avLst/>
          </a:prstGeom>
        </p:spPr>
        <p:txBody>
          <a:bodyPr anchor="t" rtlCol="false" tIns="0" lIns="0" bIns="0" rIns="0">
            <a:spAutoFit/>
          </a:bodyPr>
          <a:lstStyle/>
          <a:p>
            <a:pPr algn="l">
              <a:lnSpc>
                <a:spcPts val="3359"/>
              </a:lnSpc>
            </a:pPr>
            <a:r>
              <a:rPr lang="en-US" sz="2400">
                <a:solidFill>
                  <a:srgbClr val="4D4D4D"/>
                </a:solidFill>
                <a:latin typeface="Nunito Sans"/>
                <a:ea typeface="Nunito Sans"/>
                <a:cs typeface="Nunito Sans"/>
                <a:sym typeface="Nunito Sans"/>
              </a:rPr>
              <a:t>Ringkasan struktur data dan konteks statistik deskriptif pengguna</a:t>
            </a:r>
          </a:p>
        </p:txBody>
      </p:sp>
      <p:grpSp>
        <p:nvGrpSpPr>
          <p:cNvPr name="Group 8" id="8"/>
          <p:cNvGrpSpPr/>
          <p:nvPr/>
        </p:nvGrpSpPr>
        <p:grpSpPr>
          <a:xfrm rot="0">
            <a:off x="952500" y="2571750"/>
            <a:ext cx="3714750" cy="2095500"/>
            <a:chOff x="0" y="0"/>
            <a:chExt cx="4953000" cy="2794000"/>
          </a:xfrm>
        </p:grpSpPr>
        <p:sp>
          <p:nvSpPr>
            <p:cNvPr name="Freeform 9" id="9"/>
            <p:cNvSpPr/>
            <p:nvPr/>
          </p:nvSpPr>
          <p:spPr>
            <a:xfrm flipH="false" flipV="false" rot="0">
              <a:off x="0" y="0"/>
              <a:ext cx="4953000" cy="2794000"/>
            </a:xfrm>
            <a:custGeom>
              <a:avLst/>
              <a:gdLst/>
              <a:ahLst/>
              <a:cxnLst/>
              <a:rect r="r" b="b" t="t" l="l"/>
              <a:pathLst>
                <a:path h="2794000" w="4953000">
                  <a:moveTo>
                    <a:pt x="152400" y="0"/>
                  </a:moveTo>
                  <a:lnTo>
                    <a:pt x="4800600" y="0"/>
                  </a:lnTo>
                  <a:cubicBezTo>
                    <a:pt x="4884768" y="0"/>
                    <a:pt x="4953000" y="68232"/>
                    <a:pt x="4953000" y="152400"/>
                  </a:cubicBezTo>
                  <a:lnTo>
                    <a:pt x="4953000" y="2641600"/>
                  </a:lnTo>
                  <a:cubicBezTo>
                    <a:pt x="4953000" y="2725768"/>
                    <a:pt x="4884768" y="2794000"/>
                    <a:pt x="4800600" y="2794000"/>
                  </a:cubicBezTo>
                  <a:lnTo>
                    <a:pt x="152400" y="2794000"/>
                  </a:lnTo>
                  <a:cubicBezTo>
                    <a:pt x="68232" y="2794000"/>
                    <a:pt x="0" y="2725768"/>
                    <a:pt x="0" y="2641600"/>
                  </a:cubicBezTo>
                  <a:lnTo>
                    <a:pt x="0" y="152400"/>
                  </a:lnTo>
                  <a:cubicBezTo>
                    <a:pt x="0" y="68232"/>
                    <a:pt x="68232" y="0"/>
                    <a:pt x="152400" y="0"/>
                  </a:cubicBezTo>
                  <a:close/>
                </a:path>
              </a:pathLst>
            </a:custGeom>
            <a:solidFill>
              <a:srgbClr val="FFFFFF"/>
            </a:solidFill>
            <a:ln w="9525" cap="sq">
              <a:solidFill>
                <a:srgbClr val="CFE8D3"/>
              </a:solidFill>
              <a:prstDash val="solid"/>
              <a:miter/>
            </a:ln>
          </p:spPr>
        </p:sp>
        <p:sp>
          <p:nvSpPr>
            <p:cNvPr name="TextBox 10" id="10"/>
            <p:cNvSpPr txBox="true"/>
            <p:nvPr/>
          </p:nvSpPr>
          <p:spPr>
            <a:xfrm>
              <a:off x="0" y="-38100"/>
              <a:ext cx="4953000" cy="2832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52500" y="2571750"/>
            <a:ext cx="3714750" cy="76200"/>
            <a:chOff x="0" y="0"/>
            <a:chExt cx="4953000" cy="101600"/>
          </a:xfrm>
        </p:grpSpPr>
        <p:sp>
          <p:nvSpPr>
            <p:cNvPr name="Freeform 12" id="12"/>
            <p:cNvSpPr/>
            <p:nvPr/>
          </p:nvSpPr>
          <p:spPr>
            <a:xfrm flipH="false" flipV="false" rot="0">
              <a:off x="0" y="0"/>
              <a:ext cx="4953000" cy="101600"/>
            </a:xfrm>
            <a:custGeom>
              <a:avLst/>
              <a:gdLst/>
              <a:ahLst/>
              <a:cxnLst/>
              <a:rect r="r" b="b" t="t" l="l"/>
              <a:pathLst>
                <a:path h="101600" w="4953000">
                  <a:moveTo>
                    <a:pt x="50800" y="0"/>
                  </a:moveTo>
                  <a:lnTo>
                    <a:pt x="4902200" y="0"/>
                  </a:lnTo>
                  <a:cubicBezTo>
                    <a:pt x="4930256" y="0"/>
                    <a:pt x="4953000" y="22744"/>
                    <a:pt x="4953000" y="50800"/>
                  </a:cubicBezTo>
                  <a:cubicBezTo>
                    <a:pt x="4953000" y="78856"/>
                    <a:pt x="4930256" y="101600"/>
                    <a:pt x="4902200" y="101600"/>
                  </a:cubicBezTo>
                  <a:lnTo>
                    <a:pt x="50800" y="101600"/>
                  </a:lnTo>
                  <a:cubicBezTo>
                    <a:pt x="22744" y="101600"/>
                    <a:pt x="0" y="78856"/>
                    <a:pt x="0" y="50800"/>
                  </a:cubicBezTo>
                  <a:cubicBezTo>
                    <a:pt x="0" y="22744"/>
                    <a:pt x="22744" y="0"/>
                    <a:pt x="50800" y="0"/>
                  </a:cubicBezTo>
                  <a:close/>
                </a:path>
              </a:pathLst>
            </a:custGeom>
            <a:solidFill>
              <a:srgbClr val="03AC0E"/>
            </a:solidFill>
          </p:spPr>
        </p:sp>
        <p:sp>
          <p:nvSpPr>
            <p:cNvPr name="TextBox 13" id="13"/>
            <p:cNvSpPr txBox="true"/>
            <p:nvPr/>
          </p:nvSpPr>
          <p:spPr>
            <a:xfrm>
              <a:off x="0" y="-38100"/>
              <a:ext cx="4953000" cy="1397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1219200" y="2819400"/>
            <a:ext cx="3181350" cy="271145"/>
          </a:xfrm>
          <a:prstGeom prst="rect">
            <a:avLst/>
          </a:prstGeom>
        </p:spPr>
        <p:txBody>
          <a:bodyPr anchor="t" rtlCol="false" tIns="0" lIns="0" bIns="0" rIns="0">
            <a:spAutoFit/>
          </a:bodyPr>
          <a:lstStyle/>
          <a:p>
            <a:pPr algn="l">
              <a:lnSpc>
                <a:spcPts val="2380"/>
              </a:lnSpc>
            </a:pPr>
            <a:r>
              <a:rPr lang="en-US" sz="1700" b="true">
                <a:solidFill>
                  <a:srgbClr val="03AC0E"/>
                </a:solidFill>
                <a:latin typeface="Nunito Sans Bold"/>
                <a:ea typeface="Nunito Sans Bold"/>
                <a:cs typeface="Nunito Sans Bold"/>
                <a:sym typeface="Nunito Sans Bold"/>
              </a:rPr>
              <a:t>USERS</a:t>
            </a:r>
          </a:p>
        </p:txBody>
      </p:sp>
      <p:sp>
        <p:nvSpPr>
          <p:cNvPr name="TextBox 15" id="15"/>
          <p:cNvSpPr txBox="true"/>
          <p:nvPr/>
        </p:nvSpPr>
        <p:spPr>
          <a:xfrm rot="0">
            <a:off x="1219200" y="3057525"/>
            <a:ext cx="3181350" cy="863600"/>
          </a:xfrm>
          <a:prstGeom prst="rect">
            <a:avLst/>
          </a:prstGeom>
        </p:spPr>
        <p:txBody>
          <a:bodyPr anchor="t" rtlCol="false" tIns="0" lIns="0" bIns="0" rIns="0">
            <a:spAutoFit/>
          </a:bodyPr>
          <a:lstStyle/>
          <a:p>
            <a:pPr algn="l">
              <a:lnSpc>
                <a:spcPts val="7000"/>
              </a:lnSpc>
            </a:pPr>
            <a:r>
              <a:rPr lang="en-US" sz="5000" b="true">
                <a:solidFill>
                  <a:srgbClr val="03AC0E"/>
                </a:solidFill>
                <a:latin typeface="Nunito Sans Bold"/>
                <a:ea typeface="Nunito Sans Bold"/>
                <a:cs typeface="Nunito Sans Bold"/>
                <a:sym typeface="Nunito Sans Bold"/>
              </a:rPr>
              <a:t>50.000</a:t>
            </a:r>
          </a:p>
        </p:txBody>
      </p:sp>
      <p:sp>
        <p:nvSpPr>
          <p:cNvPr name="TextBox 16" id="16"/>
          <p:cNvSpPr txBox="true"/>
          <p:nvPr/>
        </p:nvSpPr>
        <p:spPr>
          <a:xfrm rot="0">
            <a:off x="1219200" y="3819525"/>
            <a:ext cx="3181350" cy="247015"/>
          </a:xfrm>
          <a:prstGeom prst="rect">
            <a:avLst/>
          </a:prstGeom>
        </p:spPr>
        <p:txBody>
          <a:bodyPr anchor="t" rtlCol="false" tIns="0" lIns="0" bIns="0" rIns="0">
            <a:spAutoFit/>
          </a:bodyPr>
          <a:lstStyle/>
          <a:p>
            <a:pPr algn="l">
              <a:lnSpc>
                <a:spcPts val="2000"/>
              </a:lnSpc>
            </a:pPr>
            <a:r>
              <a:rPr lang="en-US" sz="1600">
                <a:solidFill>
                  <a:srgbClr val="333333"/>
                </a:solidFill>
                <a:latin typeface="Nunito Sans"/>
                <a:ea typeface="Nunito Sans"/>
                <a:cs typeface="Nunito Sans"/>
                <a:sym typeface="Nunito Sans"/>
              </a:rPr>
              <a:t>1 baris = 1 customer/user</a:t>
            </a:r>
          </a:p>
        </p:txBody>
      </p:sp>
      <p:sp>
        <p:nvSpPr>
          <p:cNvPr name="TextBox 17" id="17"/>
          <p:cNvSpPr txBox="true"/>
          <p:nvPr/>
        </p:nvSpPr>
        <p:spPr>
          <a:xfrm rot="0">
            <a:off x="1219200" y="4295775"/>
            <a:ext cx="3181350" cy="257175"/>
          </a:xfrm>
          <a:prstGeom prst="rect">
            <a:avLst/>
          </a:prstGeom>
        </p:spPr>
        <p:txBody>
          <a:bodyPr anchor="t" rtlCol="false" tIns="0" lIns="0" bIns="0" rIns="0">
            <a:spAutoFit/>
          </a:bodyPr>
          <a:lstStyle/>
          <a:p>
            <a:pPr algn="l">
              <a:lnSpc>
                <a:spcPts val="2100"/>
              </a:lnSpc>
            </a:pPr>
            <a:r>
              <a:rPr lang="en-US" sz="1500">
                <a:solidFill>
                  <a:srgbClr val="4D4D4D"/>
                </a:solidFill>
                <a:latin typeface="Nunito Sans"/>
                <a:ea typeface="Nunito Sans"/>
                <a:cs typeface="Nunito Sans"/>
                <a:sym typeface="Nunito Sans"/>
              </a:rPr>
              <a:t>Profil demografi</a:t>
            </a:r>
          </a:p>
        </p:txBody>
      </p:sp>
      <p:grpSp>
        <p:nvGrpSpPr>
          <p:cNvPr name="Group 18" id="18"/>
          <p:cNvGrpSpPr/>
          <p:nvPr/>
        </p:nvGrpSpPr>
        <p:grpSpPr>
          <a:xfrm rot="0">
            <a:off x="5000625" y="2571750"/>
            <a:ext cx="3714750" cy="2095500"/>
            <a:chOff x="0" y="0"/>
            <a:chExt cx="4953000" cy="2794000"/>
          </a:xfrm>
        </p:grpSpPr>
        <p:sp>
          <p:nvSpPr>
            <p:cNvPr name="Freeform 19" id="19"/>
            <p:cNvSpPr/>
            <p:nvPr/>
          </p:nvSpPr>
          <p:spPr>
            <a:xfrm flipH="false" flipV="false" rot="0">
              <a:off x="0" y="0"/>
              <a:ext cx="4953000" cy="2794000"/>
            </a:xfrm>
            <a:custGeom>
              <a:avLst/>
              <a:gdLst/>
              <a:ahLst/>
              <a:cxnLst/>
              <a:rect r="r" b="b" t="t" l="l"/>
              <a:pathLst>
                <a:path h="2794000" w="4953000">
                  <a:moveTo>
                    <a:pt x="152400" y="0"/>
                  </a:moveTo>
                  <a:lnTo>
                    <a:pt x="4800600" y="0"/>
                  </a:lnTo>
                  <a:cubicBezTo>
                    <a:pt x="4884768" y="0"/>
                    <a:pt x="4953000" y="68232"/>
                    <a:pt x="4953000" y="152400"/>
                  </a:cubicBezTo>
                  <a:lnTo>
                    <a:pt x="4953000" y="2641600"/>
                  </a:lnTo>
                  <a:cubicBezTo>
                    <a:pt x="4953000" y="2725768"/>
                    <a:pt x="4884768" y="2794000"/>
                    <a:pt x="4800600" y="2794000"/>
                  </a:cubicBezTo>
                  <a:lnTo>
                    <a:pt x="152400" y="2794000"/>
                  </a:lnTo>
                  <a:cubicBezTo>
                    <a:pt x="68232" y="2794000"/>
                    <a:pt x="0" y="2725768"/>
                    <a:pt x="0" y="2641600"/>
                  </a:cubicBezTo>
                  <a:lnTo>
                    <a:pt x="0" y="152400"/>
                  </a:lnTo>
                  <a:cubicBezTo>
                    <a:pt x="0" y="68232"/>
                    <a:pt x="68232" y="0"/>
                    <a:pt x="152400" y="0"/>
                  </a:cubicBezTo>
                  <a:close/>
                </a:path>
              </a:pathLst>
            </a:custGeom>
            <a:solidFill>
              <a:srgbClr val="FFFFFF"/>
            </a:solidFill>
            <a:ln w="9525" cap="sq">
              <a:solidFill>
                <a:srgbClr val="CFE8D3"/>
              </a:solidFill>
              <a:prstDash val="solid"/>
              <a:miter/>
            </a:ln>
          </p:spPr>
        </p:sp>
        <p:sp>
          <p:nvSpPr>
            <p:cNvPr name="TextBox 20" id="20"/>
            <p:cNvSpPr txBox="true"/>
            <p:nvPr/>
          </p:nvSpPr>
          <p:spPr>
            <a:xfrm>
              <a:off x="0" y="-38100"/>
              <a:ext cx="4953000" cy="28321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5000625" y="2571750"/>
            <a:ext cx="3714750" cy="76200"/>
            <a:chOff x="0" y="0"/>
            <a:chExt cx="4953000" cy="101600"/>
          </a:xfrm>
        </p:grpSpPr>
        <p:sp>
          <p:nvSpPr>
            <p:cNvPr name="Freeform 22" id="22"/>
            <p:cNvSpPr/>
            <p:nvPr/>
          </p:nvSpPr>
          <p:spPr>
            <a:xfrm flipH="false" flipV="false" rot="0">
              <a:off x="0" y="0"/>
              <a:ext cx="4953000" cy="101600"/>
            </a:xfrm>
            <a:custGeom>
              <a:avLst/>
              <a:gdLst/>
              <a:ahLst/>
              <a:cxnLst/>
              <a:rect r="r" b="b" t="t" l="l"/>
              <a:pathLst>
                <a:path h="101600" w="4953000">
                  <a:moveTo>
                    <a:pt x="50800" y="0"/>
                  </a:moveTo>
                  <a:lnTo>
                    <a:pt x="4902200" y="0"/>
                  </a:lnTo>
                  <a:cubicBezTo>
                    <a:pt x="4930256" y="0"/>
                    <a:pt x="4953000" y="22744"/>
                    <a:pt x="4953000" y="50800"/>
                  </a:cubicBezTo>
                  <a:cubicBezTo>
                    <a:pt x="4953000" y="78856"/>
                    <a:pt x="4930256" y="101600"/>
                    <a:pt x="4902200" y="101600"/>
                  </a:cubicBezTo>
                  <a:lnTo>
                    <a:pt x="50800" y="101600"/>
                  </a:lnTo>
                  <a:cubicBezTo>
                    <a:pt x="22744" y="101600"/>
                    <a:pt x="0" y="78856"/>
                    <a:pt x="0" y="50800"/>
                  </a:cubicBezTo>
                  <a:cubicBezTo>
                    <a:pt x="0" y="22744"/>
                    <a:pt x="22744" y="0"/>
                    <a:pt x="50800" y="0"/>
                  </a:cubicBezTo>
                  <a:close/>
                </a:path>
              </a:pathLst>
            </a:custGeom>
            <a:solidFill>
              <a:srgbClr val="03AC0E"/>
            </a:solidFill>
          </p:spPr>
        </p:sp>
        <p:sp>
          <p:nvSpPr>
            <p:cNvPr name="TextBox 23" id="23"/>
            <p:cNvSpPr txBox="true"/>
            <p:nvPr/>
          </p:nvSpPr>
          <p:spPr>
            <a:xfrm>
              <a:off x="0" y="-38100"/>
              <a:ext cx="4953000" cy="1397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5267325" y="2819400"/>
            <a:ext cx="3181350" cy="271145"/>
          </a:xfrm>
          <a:prstGeom prst="rect">
            <a:avLst/>
          </a:prstGeom>
        </p:spPr>
        <p:txBody>
          <a:bodyPr anchor="t" rtlCol="false" tIns="0" lIns="0" bIns="0" rIns="0">
            <a:spAutoFit/>
          </a:bodyPr>
          <a:lstStyle/>
          <a:p>
            <a:pPr algn="l">
              <a:lnSpc>
                <a:spcPts val="2380"/>
              </a:lnSpc>
            </a:pPr>
            <a:r>
              <a:rPr lang="en-US" sz="1700" b="true">
                <a:solidFill>
                  <a:srgbClr val="03AC0E"/>
                </a:solidFill>
                <a:latin typeface="Nunito Sans Bold"/>
                <a:ea typeface="Nunito Sans Bold"/>
                <a:cs typeface="Nunito Sans Bold"/>
                <a:sym typeface="Nunito Sans Bold"/>
              </a:rPr>
              <a:t>TRANSACTIONS</a:t>
            </a:r>
          </a:p>
        </p:txBody>
      </p:sp>
      <p:sp>
        <p:nvSpPr>
          <p:cNvPr name="TextBox 25" id="25"/>
          <p:cNvSpPr txBox="true"/>
          <p:nvPr/>
        </p:nvSpPr>
        <p:spPr>
          <a:xfrm rot="0">
            <a:off x="5267325" y="3057525"/>
            <a:ext cx="3181350" cy="863600"/>
          </a:xfrm>
          <a:prstGeom prst="rect">
            <a:avLst/>
          </a:prstGeom>
        </p:spPr>
        <p:txBody>
          <a:bodyPr anchor="t" rtlCol="false" tIns="0" lIns="0" bIns="0" rIns="0">
            <a:spAutoFit/>
          </a:bodyPr>
          <a:lstStyle/>
          <a:p>
            <a:pPr algn="l">
              <a:lnSpc>
                <a:spcPts val="7000"/>
              </a:lnSpc>
            </a:pPr>
            <a:r>
              <a:rPr lang="en-US" sz="5000" b="true">
                <a:solidFill>
                  <a:srgbClr val="03AC0E"/>
                </a:solidFill>
                <a:latin typeface="Nunito Sans Bold"/>
                <a:ea typeface="Nunito Sans Bold"/>
                <a:cs typeface="Nunito Sans Bold"/>
                <a:sym typeface="Nunito Sans Bold"/>
              </a:rPr>
              <a:t>300.000</a:t>
            </a:r>
          </a:p>
        </p:txBody>
      </p:sp>
      <p:sp>
        <p:nvSpPr>
          <p:cNvPr name="TextBox 26" id="26"/>
          <p:cNvSpPr txBox="true"/>
          <p:nvPr/>
        </p:nvSpPr>
        <p:spPr>
          <a:xfrm rot="0">
            <a:off x="5267325" y="3819525"/>
            <a:ext cx="3181350" cy="247015"/>
          </a:xfrm>
          <a:prstGeom prst="rect">
            <a:avLst/>
          </a:prstGeom>
        </p:spPr>
        <p:txBody>
          <a:bodyPr anchor="t" rtlCol="false" tIns="0" lIns="0" bIns="0" rIns="0">
            <a:spAutoFit/>
          </a:bodyPr>
          <a:lstStyle/>
          <a:p>
            <a:pPr algn="l">
              <a:lnSpc>
                <a:spcPts val="2000"/>
              </a:lnSpc>
            </a:pPr>
            <a:r>
              <a:rPr lang="en-US" sz="1600">
                <a:solidFill>
                  <a:srgbClr val="333333"/>
                </a:solidFill>
                <a:latin typeface="Nunito Sans"/>
                <a:ea typeface="Nunito Sans"/>
                <a:cs typeface="Nunito Sans"/>
                <a:sym typeface="Nunito Sans"/>
              </a:rPr>
              <a:t>Berisi GMV, promo, dan payment</a:t>
            </a:r>
          </a:p>
        </p:txBody>
      </p:sp>
      <p:sp>
        <p:nvSpPr>
          <p:cNvPr name="TextBox 27" id="27"/>
          <p:cNvSpPr txBox="true"/>
          <p:nvPr/>
        </p:nvSpPr>
        <p:spPr>
          <a:xfrm rot="0">
            <a:off x="5267325" y="4295775"/>
            <a:ext cx="3181350" cy="257175"/>
          </a:xfrm>
          <a:prstGeom prst="rect">
            <a:avLst/>
          </a:prstGeom>
        </p:spPr>
        <p:txBody>
          <a:bodyPr anchor="t" rtlCol="false" tIns="0" lIns="0" bIns="0" rIns="0">
            <a:spAutoFit/>
          </a:bodyPr>
          <a:lstStyle/>
          <a:p>
            <a:pPr algn="l">
              <a:lnSpc>
                <a:spcPts val="2100"/>
              </a:lnSpc>
            </a:pPr>
            <a:r>
              <a:rPr lang="en-US" sz="1500">
                <a:solidFill>
                  <a:srgbClr val="4D4D4D"/>
                </a:solidFill>
                <a:latin typeface="Nunito Sans"/>
                <a:ea typeface="Nunito Sans"/>
                <a:cs typeface="Nunito Sans"/>
                <a:sym typeface="Nunito Sans"/>
              </a:rPr>
              <a:t>Unit transaksi</a:t>
            </a:r>
          </a:p>
        </p:txBody>
      </p:sp>
      <p:grpSp>
        <p:nvGrpSpPr>
          <p:cNvPr name="Group 28" id="28"/>
          <p:cNvGrpSpPr/>
          <p:nvPr/>
        </p:nvGrpSpPr>
        <p:grpSpPr>
          <a:xfrm rot="0">
            <a:off x="9048750" y="2571750"/>
            <a:ext cx="3714750" cy="2095500"/>
            <a:chOff x="0" y="0"/>
            <a:chExt cx="4953000" cy="2794000"/>
          </a:xfrm>
        </p:grpSpPr>
        <p:sp>
          <p:nvSpPr>
            <p:cNvPr name="Freeform 29" id="29"/>
            <p:cNvSpPr/>
            <p:nvPr/>
          </p:nvSpPr>
          <p:spPr>
            <a:xfrm flipH="false" flipV="false" rot="0">
              <a:off x="0" y="0"/>
              <a:ext cx="4953000" cy="2794000"/>
            </a:xfrm>
            <a:custGeom>
              <a:avLst/>
              <a:gdLst/>
              <a:ahLst/>
              <a:cxnLst/>
              <a:rect r="r" b="b" t="t" l="l"/>
              <a:pathLst>
                <a:path h="2794000" w="4953000">
                  <a:moveTo>
                    <a:pt x="152400" y="0"/>
                  </a:moveTo>
                  <a:lnTo>
                    <a:pt x="4800600" y="0"/>
                  </a:lnTo>
                  <a:cubicBezTo>
                    <a:pt x="4884768" y="0"/>
                    <a:pt x="4953000" y="68232"/>
                    <a:pt x="4953000" y="152400"/>
                  </a:cubicBezTo>
                  <a:lnTo>
                    <a:pt x="4953000" y="2641600"/>
                  </a:lnTo>
                  <a:cubicBezTo>
                    <a:pt x="4953000" y="2725768"/>
                    <a:pt x="4884768" y="2794000"/>
                    <a:pt x="4800600" y="2794000"/>
                  </a:cubicBezTo>
                  <a:lnTo>
                    <a:pt x="152400" y="2794000"/>
                  </a:lnTo>
                  <a:cubicBezTo>
                    <a:pt x="68232" y="2794000"/>
                    <a:pt x="0" y="2725768"/>
                    <a:pt x="0" y="2641600"/>
                  </a:cubicBezTo>
                  <a:lnTo>
                    <a:pt x="0" y="152400"/>
                  </a:lnTo>
                  <a:cubicBezTo>
                    <a:pt x="0" y="68232"/>
                    <a:pt x="68232" y="0"/>
                    <a:pt x="152400" y="0"/>
                  </a:cubicBezTo>
                  <a:close/>
                </a:path>
              </a:pathLst>
            </a:custGeom>
            <a:solidFill>
              <a:srgbClr val="FFFFFF"/>
            </a:solidFill>
            <a:ln w="9525" cap="sq">
              <a:solidFill>
                <a:srgbClr val="CFE8D3"/>
              </a:solidFill>
              <a:prstDash val="solid"/>
              <a:miter/>
            </a:ln>
          </p:spPr>
        </p:sp>
        <p:sp>
          <p:nvSpPr>
            <p:cNvPr name="TextBox 30" id="30"/>
            <p:cNvSpPr txBox="true"/>
            <p:nvPr/>
          </p:nvSpPr>
          <p:spPr>
            <a:xfrm>
              <a:off x="0" y="-38100"/>
              <a:ext cx="4953000" cy="2832100"/>
            </a:xfrm>
            <a:prstGeom prst="rect">
              <a:avLst/>
            </a:prstGeom>
          </p:spPr>
          <p:txBody>
            <a:bodyPr anchor="ctr" rtlCol="false" tIns="50800" lIns="50800" bIns="50800" rIns="50800"/>
            <a:lstStyle/>
            <a:p>
              <a:pPr algn="l">
                <a:lnSpc>
                  <a:spcPts val="1679"/>
                </a:lnSpc>
              </a:pPr>
            </a:p>
          </p:txBody>
        </p:sp>
      </p:grpSp>
      <p:grpSp>
        <p:nvGrpSpPr>
          <p:cNvPr name="Group 31" id="31"/>
          <p:cNvGrpSpPr/>
          <p:nvPr/>
        </p:nvGrpSpPr>
        <p:grpSpPr>
          <a:xfrm rot="0">
            <a:off x="9048750" y="2571750"/>
            <a:ext cx="3714750" cy="76200"/>
            <a:chOff x="0" y="0"/>
            <a:chExt cx="4953000" cy="101600"/>
          </a:xfrm>
        </p:grpSpPr>
        <p:sp>
          <p:nvSpPr>
            <p:cNvPr name="Freeform 32" id="32"/>
            <p:cNvSpPr/>
            <p:nvPr/>
          </p:nvSpPr>
          <p:spPr>
            <a:xfrm flipH="false" flipV="false" rot="0">
              <a:off x="0" y="0"/>
              <a:ext cx="4953000" cy="101600"/>
            </a:xfrm>
            <a:custGeom>
              <a:avLst/>
              <a:gdLst/>
              <a:ahLst/>
              <a:cxnLst/>
              <a:rect r="r" b="b" t="t" l="l"/>
              <a:pathLst>
                <a:path h="101600" w="4953000">
                  <a:moveTo>
                    <a:pt x="50800" y="0"/>
                  </a:moveTo>
                  <a:lnTo>
                    <a:pt x="4902200" y="0"/>
                  </a:lnTo>
                  <a:cubicBezTo>
                    <a:pt x="4930256" y="0"/>
                    <a:pt x="4953000" y="22744"/>
                    <a:pt x="4953000" y="50800"/>
                  </a:cubicBezTo>
                  <a:cubicBezTo>
                    <a:pt x="4953000" y="78856"/>
                    <a:pt x="4930256" y="101600"/>
                    <a:pt x="4902200" y="101600"/>
                  </a:cubicBezTo>
                  <a:lnTo>
                    <a:pt x="50800" y="101600"/>
                  </a:lnTo>
                  <a:cubicBezTo>
                    <a:pt x="22744" y="101600"/>
                    <a:pt x="0" y="78856"/>
                    <a:pt x="0" y="50800"/>
                  </a:cubicBezTo>
                  <a:cubicBezTo>
                    <a:pt x="0" y="22744"/>
                    <a:pt x="22744" y="0"/>
                    <a:pt x="50800" y="0"/>
                  </a:cubicBezTo>
                  <a:close/>
                </a:path>
              </a:pathLst>
            </a:custGeom>
            <a:solidFill>
              <a:srgbClr val="03AC0E"/>
            </a:solidFill>
          </p:spPr>
        </p:sp>
        <p:sp>
          <p:nvSpPr>
            <p:cNvPr name="TextBox 33" id="33"/>
            <p:cNvSpPr txBox="true"/>
            <p:nvPr/>
          </p:nvSpPr>
          <p:spPr>
            <a:xfrm>
              <a:off x="0" y="-38100"/>
              <a:ext cx="4953000" cy="139700"/>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9315450" y="2819400"/>
            <a:ext cx="3181350" cy="271145"/>
          </a:xfrm>
          <a:prstGeom prst="rect">
            <a:avLst/>
          </a:prstGeom>
        </p:spPr>
        <p:txBody>
          <a:bodyPr anchor="t" rtlCol="false" tIns="0" lIns="0" bIns="0" rIns="0">
            <a:spAutoFit/>
          </a:bodyPr>
          <a:lstStyle/>
          <a:p>
            <a:pPr algn="l">
              <a:lnSpc>
                <a:spcPts val="2380"/>
              </a:lnSpc>
            </a:pPr>
            <a:r>
              <a:rPr lang="en-US" sz="1700" b="true">
                <a:solidFill>
                  <a:srgbClr val="03AC0E"/>
                </a:solidFill>
                <a:latin typeface="Nunito Sans Bold"/>
                <a:ea typeface="Nunito Sans Bold"/>
                <a:cs typeface="Nunito Sans Bold"/>
                <a:sym typeface="Nunito Sans Bold"/>
              </a:rPr>
              <a:t>DELIVERIES</a:t>
            </a:r>
          </a:p>
        </p:txBody>
      </p:sp>
      <p:sp>
        <p:nvSpPr>
          <p:cNvPr name="TextBox 35" id="35"/>
          <p:cNvSpPr txBox="true"/>
          <p:nvPr/>
        </p:nvSpPr>
        <p:spPr>
          <a:xfrm rot="0">
            <a:off x="9315450" y="3057525"/>
            <a:ext cx="3181350" cy="863600"/>
          </a:xfrm>
          <a:prstGeom prst="rect">
            <a:avLst/>
          </a:prstGeom>
        </p:spPr>
        <p:txBody>
          <a:bodyPr anchor="t" rtlCol="false" tIns="0" lIns="0" bIns="0" rIns="0">
            <a:spAutoFit/>
          </a:bodyPr>
          <a:lstStyle/>
          <a:p>
            <a:pPr algn="l">
              <a:lnSpc>
                <a:spcPts val="7000"/>
              </a:lnSpc>
            </a:pPr>
            <a:r>
              <a:rPr lang="en-US" sz="5000" b="true">
                <a:solidFill>
                  <a:srgbClr val="03AC0E"/>
                </a:solidFill>
                <a:latin typeface="Nunito Sans Bold"/>
                <a:ea typeface="Nunito Sans Bold"/>
                <a:cs typeface="Nunito Sans Bold"/>
                <a:sym typeface="Nunito Sans Bold"/>
              </a:rPr>
              <a:t>300.000</a:t>
            </a:r>
          </a:p>
        </p:txBody>
      </p:sp>
      <p:sp>
        <p:nvSpPr>
          <p:cNvPr name="TextBox 36" id="36"/>
          <p:cNvSpPr txBox="true"/>
          <p:nvPr/>
        </p:nvSpPr>
        <p:spPr>
          <a:xfrm rot="0">
            <a:off x="9315450" y="3819525"/>
            <a:ext cx="3181350" cy="247015"/>
          </a:xfrm>
          <a:prstGeom prst="rect">
            <a:avLst/>
          </a:prstGeom>
        </p:spPr>
        <p:txBody>
          <a:bodyPr anchor="t" rtlCol="false" tIns="0" lIns="0" bIns="0" rIns="0">
            <a:spAutoFit/>
          </a:bodyPr>
          <a:lstStyle/>
          <a:p>
            <a:pPr algn="l">
              <a:lnSpc>
                <a:spcPts val="2000"/>
              </a:lnSpc>
            </a:pPr>
            <a:r>
              <a:rPr lang="en-US" sz="1600">
                <a:solidFill>
                  <a:srgbClr val="333333"/>
                </a:solidFill>
                <a:latin typeface="Nunito Sans"/>
                <a:ea typeface="Nunito Sans"/>
                <a:cs typeface="Nunito Sans"/>
                <a:sym typeface="Nunito Sans"/>
              </a:rPr>
              <a:t>Berisi kurir, durasi, dan status</a:t>
            </a:r>
          </a:p>
        </p:txBody>
      </p:sp>
      <p:sp>
        <p:nvSpPr>
          <p:cNvPr name="TextBox 37" id="37"/>
          <p:cNvSpPr txBox="true"/>
          <p:nvPr/>
        </p:nvSpPr>
        <p:spPr>
          <a:xfrm rot="0">
            <a:off x="9315450" y="4295775"/>
            <a:ext cx="3181350" cy="257175"/>
          </a:xfrm>
          <a:prstGeom prst="rect">
            <a:avLst/>
          </a:prstGeom>
        </p:spPr>
        <p:txBody>
          <a:bodyPr anchor="t" rtlCol="false" tIns="0" lIns="0" bIns="0" rIns="0">
            <a:spAutoFit/>
          </a:bodyPr>
          <a:lstStyle/>
          <a:p>
            <a:pPr algn="l">
              <a:lnSpc>
                <a:spcPts val="2100"/>
              </a:lnSpc>
            </a:pPr>
            <a:r>
              <a:rPr lang="en-US" sz="1500">
                <a:solidFill>
                  <a:srgbClr val="4D4D4D"/>
                </a:solidFill>
                <a:latin typeface="Nunito Sans"/>
                <a:ea typeface="Nunito Sans"/>
                <a:cs typeface="Nunito Sans"/>
                <a:sym typeface="Nunito Sans"/>
              </a:rPr>
              <a:t>Unit pengiriman</a:t>
            </a:r>
          </a:p>
        </p:txBody>
      </p:sp>
      <p:grpSp>
        <p:nvGrpSpPr>
          <p:cNvPr name="Group 38" id="38"/>
          <p:cNvGrpSpPr/>
          <p:nvPr/>
        </p:nvGrpSpPr>
        <p:grpSpPr>
          <a:xfrm rot="0">
            <a:off x="13096875" y="2571750"/>
            <a:ext cx="3714750" cy="2095500"/>
            <a:chOff x="0" y="0"/>
            <a:chExt cx="4953000" cy="2794000"/>
          </a:xfrm>
        </p:grpSpPr>
        <p:sp>
          <p:nvSpPr>
            <p:cNvPr name="Freeform 39" id="39"/>
            <p:cNvSpPr/>
            <p:nvPr/>
          </p:nvSpPr>
          <p:spPr>
            <a:xfrm flipH="false" flipV="false" rot="0">
              <a:off x="0" y="0"/>
              <a:ext cx="4953000" cy="2794000"/>
            </a:xfrm>
            <a:custGeom>
              <a:avLst/>
              <a:gdLst/>
              <a:ahLst/>
              <a:cxnLst/>
              <a:rect r="r" b="b" t="t" l="l"/>
              <a:pathLst>
                <a:path h="2794000" w="4953000">
                  <a:moveTo>
                    <a:pt x="152400" y="0"/>
                  </a:moveTo>
                  <a:lnTo>
                    <a:pt x="4800600" y="0"/>
                  </a:lnTo>
                  <a:cubicBezTo>
                    <a:pt x="4884768" y="0"/>
                    <a:pt x="4953000" y="68232"/>
                    <a:pt x="4953000" y="152400"/>
                  </a:cubicBezTo>
                  <a:lnTo>
                    <a:pt x="4953000" y="2641600"/>
                  </a:lnTo>
                  <a:cubicBezTo>
                    <a:pt x="4953000" y="2725768"/>
                    <a:pt x="4884768" y="2794000"/>
                    <a:pt x="4800600" y="2794000"/>
                  </a:cubicBezTo>
                  <a:lnTo>
                    <a:pt x="152400" y="2794000"/>
                  </a:lnTo>
                  <a:cubicBezTo>
                    <a:pt x="68232" y="2794000"/>
                    <a:pt x="0" y="2725768"/>
                    <a:pt x="0" y="2641600"/>
                  </a:cubicBezTo>
                  <a:lnTo>
                    <a:pt x="0" y="152400"/>
                  </a:lnTo>
                  <a:cubicBezTo>
                    <a:pt x="0" y="68232"/>
                    <a:pt x="68232" y="0"/>
                    <a:pt x="152400" y="0"/>
                  </a:cubicBezTo>
                  <a:close/>
                </a:path>
              </a:pathLst>
            </a:custGeom>
            <a:solidFill>
              <a:srgbClr val="FFFFFF"/>
            </a:solidFill>
            <a:ln w="9525" cap="sq">
              <a:solidFill>
                <a:srgbClr val="CFE8D3"/>
              </a:solidFill>
              <a:prstDash val="solid"/>
              <a:miter/>
            </a:ln>
          </p:spPr>
        </p:sp>
        <p:sp>
          <p:nvSpPr>
            <p:cNvPr name="TextBox 40" id="40"/>
            <p:cNvSpPr txBox="true"/>
            <p:nvPr/>
          </p:nvSpPr>
          <p:spPr>
            <a:xfrm>
              <a:off x="0" y="-38100"/>
              <a:ext cx="4953000" cy="2832100"/>
            </a:xfrm>
            <a:prstGeom prst="rect">
              <a:avLst/>
            </a:prstGeom>
          </p:spPr>
          <p:txBody>
            <a:bodyPr anchor="ctr" rtlCol="false" tIns="50800" lIns="50800" bIns="50800" rIns="50800"/>
            <a:lstStyle/>
            <a:p>
              <a:pPr algn="l">
                <a:lnSpc>
                  <a:spcPts val="1679"/>
                </a:lnSpc>
              </a:pPr>
            </a:p>
          </p:txBody>
        </p:sp>
      </p:grpSp>
      <p:grpSp>
        <p:nvGrpSpPr>
          <p:cNvPr name="Group 41" id="41"/>
          <p:cNvGrpSpPr/>
          <p:nvPr/>
        </p:nvGrpSpPr>
        <p:grpSpPr>
          <a:xfrm rot="0">
            <a:off x="13096875" y="2571750"/>
            <a:ext cx="3714750" cy="76200"/>
            <a:chOff x="0" y="0"/>
            <a:chExt cx="4953000" cy="101600"/>
          </a:xfrm>
        </p:grpSpPr>
        <p:sp>
          <p:nvSpPr>
            <p:cNvPr name="Freeform 42" id="42"/>
            <p:cNvSpPr/>
            <p:nvPr/>
          </p:nvSpPr>
          <p:spPr>
            <a:xfrm flipH="false" flipV="false" rot="0">
              <a:off x="0" y="0"/>
              <a:ext cx="4953000" cy="101600"/>
            </a:xfrm>
            <a:custGeom>
              <a:avLst/>
              <a:gdLst/>
              <a:ahLst/>
              <a:cxnLst/>
              <a:rect r="r" b="b" t="t" l="l"/>
              <a:pathLst>
                <a:path h="101600" w="4953000">
                  <a:moveTo>
                    <a:pt x="50800" y="0"/>
                  </a:moveTo>
                  <a:lnTo>
                    <a:pt x="4902200" y="0"/>
                  </a:lnTo>
                  <a:cubicBezTo>
                    <a:pt x="4930256" y="0"/>
                    <a:pt x="4953000" y="22744"/>
                    <a:pt x="4953000" y="50800"/>
                  </a:cubicBezTo>
                  <a:cubicBezTo>
                    <a:pt x="4953000" y="78856"/>
                    <a:pt x="4930256" y="101600"/>
                    <a:pt x="4902200" y="101600"/>
                  </a:cubicBezTo>
                  <a:lnTo>
                    <a:pt x="50800" y="101600"/>
                  </a:lnTo>
                  <a:cubicBezTo>
                    <a:pt x="22744" y="101600"/>
                    <a:pt x="0" y="78856"/>
                    <a:pt x="0" y="50800"/>
                  </a:cubicBezTo>
                  <a:cubicBezTo>
                    <a:pt x="0" y="22744"/>
                    <a:pt x="22744" y="0"/>
                    <a:pt x="50800" y="0"/>
                  </a:cubicBezTo>
                  <a:close/>
                </a:path>
              </a:pathLst>
            </a:custGeom>
            <a:solidFill>
              <a:srgbClr val="4D4D4D"/>
            </a:solidFill>
          </p:spPr>
        </p:sp>
        <p:sp>
          <p:nvSpPr>
            <p:cNvPr name="TextBox 43" id="43"/>
            <p:cNvSpPr txBox="true"/>
            <p:nvPr/>
          </p:nvSpPr>
          <p:spPr>
            <a:xfrm>
              <a:off x="0" y="-38100"/>
              <a:ext cx="4953000" cy="139700"/>
            </a:xfrm>
            <a:prstGeom prst="rect">
              <a:avLst/>
            </a:prstGeom>
          </p:spPr>
          <p:txBody>
            <a:bodyPr anchor="ctr" rtlCol="false" tIns="50800" lIns="50800" bIns="50800" rIns="50800"/>
            <a:lstStyle/>
            <a:p>
              <a:pPr algn="l">
                <a:lnSpc>
                  <a:spcPts val="1679"/>
                </a:lnSpc>
              </a:pPr>
            </a:p>
          </p:txBody>
        </p:sp>
      </p:grpSp>
      <p:sp>
        <p:nvSpPr>
          <p:cNvPr name="TextBox 44" id="44"/>
          <p:cNvSpPr txBox="true"/>
          <p:nvPr/>
        </p:nvSpPr>
        <p:spPr>
          <a:xfrm rot="0">
            <a:off x="13363575" y="2819400"/>
            <a:ext cx="3181350" cy="271145"/>
          </a:xfrm>
          <a:prstGeom prst="rect">
            <a:avLst/>
          </a:prstGeom>
        </p:spPr>
        <p:txBody>
          <a:bodyPr anchor="t" rtlCol="false" tIns="0" lIns="0" bIns="0" rIns="0">
            <a:spAutoFit/>
          </a:bodyPr>
          <a:lstStyle/>
          <a:p>
            <a:pPr algn="l">
              <a:lnSpc>
                <a:spcPts val="2380"/>
              </a:lnSpc>
            </a:pPr>
            <a:r>
              <a:rPr lang="en-US" sz="1700" b="true">
                <a:solidFill>
                  <a:srgbClr val="4D4D4D"/>
                </a:solidFill>
                <a:latin typeface="Nunito Sans Bold"/>
                <a:ea typeface="Nunito Sans Bold"/>
                <a:cs typeface="Nunito Sans Bold"/>
                <a:sym typeface="Nunito Sans Bold"/>
              </a:rPr>
              <a:t>PERIODE DATA</a:t>
            </a:r>
          </a:p>
        </p:txBody>
      </p:sp>
      <p:sp>
        <p:nvSpPr>
          <p:cNvPr name="TextBox 45" id="45"/>
          <p:cNvSpPr txBox="true"/>
          <p:nvPr/>
        </p:nvSpPr>
        <p:spPr>
          <a:xfrm rot="0">
            <a:off x="13363575" y="3086100"/>
            <a:ext cx="3181350" cy="679449"/>
          </a:xfrm>
          <a:prstGeom prst="rect">
            <a:avLst/>
          </a:prstGeom>
        </p:spPr>
        <p:txBody>
          <a:bodyPr anchor="t" rtlCol="false" tIns="0" lIns="0" bIns="0" rIns="0">
            <a:spAutoFit/>
          </a:bodyPr>
          <a:lstStyle/>
          <a:p>
            <a:pPr algn="l">
              <a:lnSpc>
                <a:spcPts val="5600"/>
              </a:lnSpc>
            </a:pPr>
            <a:r>
              <a:rPr lang="en-US" sz="4000" b="true">
                <a:solidFill>
                  <a:srgbClr val="4D4D4D"/>
                </a:solidFill>
                <a:latin typeface="Nunito Sans Bold"/>
                <a:ea typeface="Nunito Sans Bold"/>
                <a:cs typeface="Nunito Sans Bold"/>
                <a:sym typeface="Nunito Sans Bold"/>
              </a:rPr>
              <a:t>2022 - 2024</a:t>
            </a:r>
          </a:p>
        </p:txBody>
      </p:sp>
      <p:sp>
        <p:nvSpPr>
          <p:cNvPr name="TextBox 46" id="46"/>
          <p:cNvSpPr txBox="true"/>
          <p:nvPr/>
        </p:nvSpPr>
        <p:spPr>
          <a:xfrm rot="0">
            <a:off x="13363575" y="3819525"/>
            <a:ext cx="3181350" cy="247015"/>
          </a:xfrm>
          <a:prstGeom prst="rect">
            <a:avLst/>
          </a:prstGeom>
        </p:spPr>
        <p:txBody>
          <a:bodyPr anchor="t" rtlCol="false" tIns="0" lIns="0" bIns="0" rIns="0">
            <a:spAutoFit/>
          </a:bodyPr>
          <a:lstStyle/>
          <a:p>
            <a:pPr algn="l" marL="0" indent="0" lvl="0">
              <a:lnSpc>
                <a:spcPts val="2000"/>
              </a:lnSpc>
              <a:spcBef>
                <a:spcPct val="0"/>
              </a:spcBef>
            </a:pPr>
            <a:r>
              <a:rPr lang="en-US" sz="1600" strike="noStrike" u="none">
                <a:solidFill>
                  <a:srgbClr val="333333"/>
                </a:solidFill>
                <a:latin typeface="Nunito Sans"/>
                <a:ea typeface="Nunito Sans"/>
                <a:cs typeface="Nunito Sans"/>
                <a:sym typeface="Nunito Sans"/>
              </a:rPr>
              <a:t>Validasi tanggal pipeline cleaning</a:t>
            </a:r>
          </a:p>
        </p:txBody>
      </p:sp>
      <p:sp>
        <p:nvSpPr>
          <p:cNvPr name="TextBox 47" id="47"/>
          <p:cNvSpPr txBox="true"/>
          <p:nvPr/>
        </p:nvSpPr>
        <p:spPr>
          <a:xfrm rot="0">
            <a:off x="13363575" y="4295775"/>
            <a:ext cx="3181350" cy="257175"/>
          </a:xfrm>
          <a:prstGeom prst="rect">
            <a:avLst/>
          </a:prstGeom>
        </p:spPr>
        <p:txBody>
          <a:bodyPr anchor="t" rtlCol="false" tIns="0" lIns="0" bIns="0" rIns="0">
            <a:spAutoFit/>
          </a:bodyPr>
          <a:lstStyle/>
          <a:p>
            <a:pPr algn="l">
              <a:lnSpc>
                <a:spcPts val="2100"/>
              </a:lnSpc>
            </a:pPr>
            <a:r>
              <a:rPr lang="en-US" sz="1500">
                <a:solidFill>
                  <a:srgbClr val="4D4D4D"/>
                </a:solidFill>
                <a:latin typeface="Nunito Sans"/>
                <a:ea typeface="Nunito Sans"/>
                <a:cs typeface="Nunito Sans"/>
                <a:sym typeface="Nunito Sans"/>
              </a:rPr>
              <a:t>Rentang transaksi &amp; pengiriman</a:t>
            </a:r>
          </a:p>
        </p:txBody>
      </p:sp>
      <p:grpSp>
        <p:nvGrpSpPr>
          <p:cNvPr name="Group 48" id="48"/>
          <p:cNvGrpSpPr/>
          <p:nvPr/>
        </p:nvGrpSpPr>
        <p:grpSpPr>
          <a:xfrm rot="0">
            <a:off x="952500" y="5095875"/>
            <a:ext cx="5143500" cy="2000250"/>
            <a:chOff x="0" y="0"/>
            <a:chExt cx="6858000" cy="2667000"/>
          </a:xfrm>
        </p:grpSpPr>
        <p:sp>
          <p:nvSpPr>
            <p:cNvPr name="Freeform 49" id="49"/>
            <p:cNvSpPr/>
            <p:nvPr/>
          </p:nvSpPr>
          <p:spPr>
            <a:xfrm flipH="false" flipV="false" rot="0">
              <a:off x="0" y="0"/>
              <a:ext cx="6858000" cy="2667000"/>
            </a:xfrm>
            <a:custGeom>
              <a:avLst/>
              <a:gdLst/>
              <a:ahLst/>
              <a:cxnLst/>
              <a:rect r="r" b="b" t="t" l="l"/>
              <a:pathLst>
                <a:path h="2667000" w="6858000">
                  <a:moveTo>
                    <a:pt x="152400" y="0"/>
                  </a:moveTo>
                  <a:lnTo>
                    <a:pt x="6705600" y="0"/>
                  </a:lnTo>
                  <a:cubicBezTo>
                    <a:pt x="6789769" y="0"/>
                    <a:pt x="6858000" y="68232"/>
                    <a:pt x="6858000" y="152400"/>
                  </a:cubicBezTo>
                  <a:lnTo>
                    <a:pt x="6858000" y="2514600"/>
                  </a:lnTo>
                  <a:cubicBezTo>
                    <a:pt x="6858000" y="2598768"/>
                    <a:pt x="6789769" y="2667000"/>
                    <a:pt x="6705600" y="2667000"/>
                  </a:cubicBezTo>
                  <a:lnTo>
                    <a:pt x="152400" y="2667000"/>
                  </a:lnTo>
                  <a:cubicBezTo>
                    <a:pt x="68232" y="2667000"/>
                    <a:pt x="0" y="2598768"/>
                    <a:pt x="0" y="2514600"/>
                  </a:cubicBezTo>
                  <a:lnTo>
                    <a:pt x="0" y="152400"/>
                  </a:lnTo>
                  <a:cubicBezTo>
                    <a:pt x="0" y="68232"/>
                    <a:pt x="68232" y="0"/>
                    <a:pt x="152400" y="0"/>
                  </a:cubicBezTo>
                  <a:close/>
                </a:path>
              </a:pathLst>
            </a:custGeom>
            <a:solidFill>
              <a:srgbClr val="FFFFFF"/>
            </a:solidFill>
            <a:ln w="9525" cap="sq">
              <a:solidFill>
                <a:srgbClr val="CFE8D3"/>
              </a:solidFill>
              <a:prstDash val="solid"/>
              <a:miter/>
            </a:ln>
          </p:spPr>
        </p:sp>
        <p:sp>
          <p:nvSpPr>
            <p:cNvPr name="TextBox 50" id="50"/>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51" id="51"/>
          <p:cNvGrpSpPr/>
          <p:nvPr/>
        </p:nvGrpSpPr>
        <p:grpSpPr>
          <a:xfrm rot="0">
            <a:off x="952500" y="5095875"/>
            <a:ext cx="76200" cy="2000250"/>
            <a:chOff x="0" y="0"/>
            <a:chExt cx="101600" cy="2667000"/>
          </a:xfrm>
        </p:grpSpPr>
        <p:sp>
          <p:nvSpPr>
            <p:cNvPr name="Freeform 52" id="52"/>
            <p:cNvSpPr/>
            <p:nvPr/>
          </p:nvSpPr>
          <p:spPr>
            <a:xfrm flipH="false" flipV="false" rot="0">
              <a:off x="0" y="0"/>
              <a:ext cx="101600" cy="2667000"/>
            </a:xfrm>
            <a:custGeom>
              <a:avLst/>
              <a:gdLst/>
              <a:ahLst/>
              <a:cxnLst/>
              <a:rect r="r" b="b" t="t" l="l"/>
              <a:pathLst>
                <a:path h="2667000" w="101600">
                  <a:moveTo>
                    <a:pt x="50800" y="0"/>
                  </a:moveTo>
                  <a:cubicBezTo>
                    <a:pt x="78856" y="0"/>
                    <a:pt x="101600" y="22744"/>
                    <a:pt x="101600" y="50800"/>
                  </a:cubicBezTo>
                  <a:lnTo>
                    <a:pt x="101600" y="2616200"/>
                  </a:lnTo>
                  <a:cubicBezTo>
                    <a:pt x="101600" y="2644256"/>
                    <a:pt x="78856" y="2667000"/>
                    <a:pt x="50800" y="2667000"/>
                  </a:cubicBezTo>
                  <a:cubicBezTo>
                    <a:pt x="22744" y="2667000"/>
                    <a:pt x="0" y="2644256"/>
                    <a:pt x="0" y="2616200"/>
                  </a:cubicBezTo>
                  <a:lnTo>
                    <a:pt x="0" y="50800"/>
                  </a:lnTo>
                  <a:cubicBezTo>
                    <a:pt x="0" y="22744"/>
                    <a:pt x="22744" y="0"/>
                    <a:pt x="50800" y="0"/>
                  </a:cubicBezTo>
                  <a:close/>
                </a:path>
              </a:pathLst>
            </a:custGeom>
            <a:solidFill>
              <a:srgbClr val="03AC0E"/>
            </a:solidFill>
          </p:spPr>
        </p:sp>
        <p:sp>
          <p:nvSpPr>
            <p:cNvPr name="TextBox 53" id="53"/>
            <p:cNvSpPr txBox="true"/>
            <p:nvPr/>
          </p:nvSpPr>
          <p:spPr>
            <a:xfrm>
              <a:off x="0" y="-38100"/>
              <a:ext cx="101600" cy="2705100"/>
            </a:xfrm>
            <a:prstGeom prst="rect">
              <a:avLst/>
            </a:prstGeom>
          </p:spPr>
          <p:txBody>
            <a:bodyPr anchor="ctr" rtlCol="false" tIns="50800" lIns="50800" bIns="50800" rIns="50800"/>
            <a:lstStyle/>
            <a:p>
              <a:pPr algn="l">
                <a:lnSpc>
                  <a:spcPts val="1679"/>
                </a:lnSpc>
              </a:pPr>
            </a:p>
          </p:txBody>
        </p:sp>
      </p:grpSp>
      <p:sp>
        <p:nvSpPr>
          <p:cNvPr name="TextBox 54" id="54"/>
          <p:cNvSpPr txBox="true"/>
          <p:nvPr/>
        </p:nvSpPr>
        <p:spPr>
          <a:xfrm rot="0">
            <a:off x="1238250" y="5343525"/>
            <a:ext cx="4619625" cy="271145"/>
          </a:xfrm>
          <a:prstGeom prst="rect">
            <a:avLst/>
          </a:prstGeom>
        </p:spPr>
        <p:txBody>
          <a:bodyPr anchor="t" rtlCol="false" tIns="0" lIns="0" bIns="0" rIns="0">
            <a:spAutoFit/>
          </a:bodyPr>
          <a:lstStyle/>
          <a:p>
            <a:pPr algn="l">
              <a:lnSpc>
                <a:spcPts val="2380"/>
              </a:lnSpc>
            </a:pPr>
            <a:r>
              <a:rPr lang="en-US" sz="1700" b="true">
                <a:solidFill>
                  <a:srgbClr val="03AC0E"/>
                </a:solidFill>
                <a:latin typeface="Nunito Sans Bold"/>
                <a:ea typeface="Nunito Sans Bold"/>
                <a:cs typeface="Nunito Sans Bold"/>
                <a:sym typeface="Nunito Sans Bold"/>
              </a:rPr>
              <a:t>SEBARAN LOKASI</a:t>
            </a:r>
          </a:p>
        </p:txBody>
      </p:sp>
      <p:sp>
        <p:nvSpPr>
          <p:cNvPr name="TextBox 55" id="55"/>
          <p:cNvSpPr txBox="true"/>
          <p:nvPr/>
        </p:nvSpPr>
        <p:spPr>
          <a:xfrm rot="0">
            <a:off x="1238250" y="5781675"/>
            <a:ext cx="4619625" cy="742950"/>
          </a:xfrm>
          <a:prstGeom prst="rect">
            <a:avLst/>
          </a:prstGeom>
        </p:spPr>
        <p:txBody>
          <a:bodyPr anchor="t" rtlCol="false" tIns="0" lIns="0" bIns="0" rIns="0">
            <a:spAutoFit/>
          </a:bodyPr>
          <a:lstStyle/>
          <a:p>
            <a:pPr algn="l">
              <a:lnSpc>
                <a:spcPts val="2999"/>
              </a:lnSpc>
            </a:pPr>
            <a:r>
              <a:rPr lang="en-US" sz="2499" b="true">
                <a:solidFill>
                  <a:srgbClr val="333333"/>
                </a:solidFill>
                <a:latin typeface="Nunito Sans Bold"/>
                <a:ea typeface="Nunito Sans Bold"/>
                <a:cs typeface="Nunito Sans Bold"/>
                <a:sym typeface="Nunito Sans Bold"/>
              </a:rPr>
              <a:t>Cakupan lokasi pengguna yang tercatat</a:t>
            </a:r>
          </a:p>
        </p:txBody>
      </p:sp>
      <p:sp>
        <p:nvSpPr>
          <p:cNvPr name="TextBox 56" id="56"/>
          <p:cNvSpPr txBox="true"/>
          <p:nvPr/>
        </p:nvSpPr>
        <p:spPr>
          <a:xfrm rot="0">
            <a:off x="1238250" y="6477000"/>
            <a:ext cx="4619625" cy="237490"/>
          </a:xfrm>
          <a:prstGeom prst="rect">
            <a:avLst/>
          </a:prstGeom>
        </p:spPr>
        <p:txBody>
          <a:bodyPr anchor="t" rtlCol="false" tIns="0" lIns="0" bIns="0" rIns="0">
            <a:spAutoFit/>
          </a:bodyPr>
          <a:lstStyle/>
          <a:p>
            <a:pPr algn="l">
              <a:lnSpc>
                <a:spcPts val="1999"/>
              </a:lnSpc>
            </a:pPr>
            <a:r>
              <a:rPr lang="en-US" sz="1599">
                <a:solidFill>
                  <a:srgbClr val="4D4D4D"/>
                </a:solidFill>
                <a:latin typeface="Nunito Sans"/>
                <a:ea typeface="Nunito Sans"/>
                <a:cs typeface="Nunito Sans"/>
                <a:sym typeface="Nunito Sans"/>
              </a:rPr>
              <a:t>Tidak ada angka lokasi tambahan ditampilkan</a:t>
            </a:r>
          </a:p>
        </p:txBody>
      </p:sp>
      <p:grpSp>
        <p:nvGrpSpPr>
          <p:cNvPr name="Group 57" id="57"/>
          <p:cNvGrpSpPr/>
          <p:nvPr/>
        </p:nvGrpSpPr>
        <p:grpSpPr>
          <a:xfrm rot="0">
            <a:off x="6381750" y="5095875"/>
            <a:ext cx="5143500" cy="2000250"/>
            <a:chOff x="0" y="0"/>
            <a:chExt cx="6858000" cy="2667000"/>
          </a:xfrm>
        </p:grpSpPr>
        <p:sp>
          <p:nvSpPr>
            <p:cNvPr name="Freeform 58" id="58"/>
            <p:cNvSpPr/>
            <p:nvPr/>
          </p:nvSpPr>
          <p:spPr>
            <a:xfrm flipH="false" flipV="false" rot="0">
              <a:off x="0" y="0"/>
              <a:ext cx="6858000" cy="2667000"/>
            </a:xfrm>
            <a:custGeom>
              <a:avLst/>
              <a:gdLst/>
              <a:ahLst/>
              <a:cxnLst/>
              <a:rect r="r" b="b" t="t" l="l"/>
              <a:pathLst>
                <a:path h="2667000" w="6858000">
                  <a:moveTo>
                    <a:pt x="152400" y="0"/>
                  </a:moveTo>
                  <a:lnTo>
                    <a:pt x="6705600" y="0"/>
                  </a:lnTo>
                  <a:cubicBezTo>
                    <a:pt x="6789769" y="0"/>
                    <a:pt x="6858000" y="68232"/>
                    <a:pt x="6858000" y="152400"/>
                  </a:cubicBezTo>
                  <a:lnTo>
                    <a:pt x="6858000" y="2514600"/>
                  </a:lnTo>
                  <a:cubicBezTo>
                    <a:pt x="6858000" y="2598768"/>
                    <a:pt x="6789769" y="2667000"/>
                    <a:pt x="6705600" y="2667000"/>
                  </a:cubicBezTo>
                  <a:lnTo>
                    <a:pt x="152400" y="2667000"/>
                  </a:lnTo>
                  <a:cubicBezTo>
                    <a:pt x="68232" y="2667000"/>
                    <a:pt x="0" y="2598768"/>
                    <a:pt x="0" y="2514600"/>
                  </a:cubicBezTo>
                  <a:lnTo>
                    <a:pt x="0" y="152400"/>
                  </a:lnTo>
                  <a:cubicBezTo>
                    <a:pt x="0" y="68232"/>
                    <a:pt x="68232" y="0"/>
                    <a:pt x="152400" y="0"/>
                  </a:cubicBezTo>
                  <a:close/>
                </a:path>
              </a:pathLst>
            </a:custGeom>
            <a:solidFill>
              <a:srgbClr val="FFFFFF"/>
            </a:solidFill>
            <a:ln w="9525" cap="sq">
              <a:solidFill>
                <a:srgbClr val="CFE8D3"/>
              </a:solidFill>
              <a:prstDash val="solid"/>
              <a:miter/>
            </a:ln>
          </p:spPr>
        </p:sp>
        <p:sp>
          <p:nvSpPr>
            <p:cNvPr name="TextBox 59" id="59"/>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60" id="60"/>
          <p:cNvGrpSpPr/>
          <p:nvPr/>
        </p:nvGrpSpPr>
        <p:grpSpPr>
          <a:xfrm rot="0">
            <a:off x="6381750" y="5095875"/>
            <a:ext cx="76200" cy="2000250"/>
            <a:chOff x="0" y="0"/>
            <a:chExt cx="101600" cy="2667000"/>
          </a:xfrm>
        </p:grpSpPr>
        <p:sp>
          <p:nvSpPr>
            <p:cNvPr name="Freeform 61" id="61"/>
            <p:cNvSpPr/>
            <p:nvPr/>
          </p:nvSpPr>
          <p:spPr>
            <a:xfrm flipH="false" flipV="false" rot="0">
              <a:off x="0" y="0"/>
              <a:ext cx="101600" cy="2667000"/>
            </a:xfrm>
            <a:custGeom>
              <a:avLst/>
              <a:gdLst/>
              <a:ahLst/>
              <a:cxnLst/>
              <a:rect r="r" b="b" t="t" l="l"/>
              <a:pathLst>
                <a:path h="2667000" w="101600">
                  <a:moveTo>
                    <a:pt x="50800" y="0"/>
                  </a:moveTo>
                  <a:cubicBezTo>
                    <a:pt x="78856" y="0"/>
                    <a:pt x="101600" y="22744"/>
                    <a:pt x="101600" y="50800"/>
                  </a:cubicBezTo>
                  <a:lnTo>
                    <a:pt x="101600" y="2616200"/>
                  </a:lnTo>
                  <a:cubicBezTo>
                    <a:pt x="101600" y="2644256"/>
                    <a:pt x="78856" y="2667000"/>
                    <a:pt x="50800" y="2667000"/>
                  </a:cubicBezTo>
                  <a:cubicBezTo>
                    <a:pt x="22744" y="2667000"/>
                    <a:pt x="0" y="2644256"/>
                    <a:pt x="0" y="2616200"/>
                  </a:cubicBezTo>
                  <a:lnTo>
                    <a:pt x="0" y="50800"/>
                  </a:lnTo>
                  <a:cubicBezTo>
                    <a:pt x="0" y="22744"/>
                    <a:pt x="22744" y="0"/>
                    <a:pt x="50800" y="0"/>
                  </a:cubicBezTo>
                  <a:close/>
                </a:path>
              </a:pathLst>
            </a:custGeom>
            <a:solidFill>
              <a:srgbClr val="03AC0E"/>
            </a:solidFill>
          </p:spPr>
        </p:sp>
        <p:sp>
          <p:nvSpPr>
            <p:cNvPr name="TextBox 62" id="62"/>
            <p:cNvSpPr txBox="true"/>
            <p:nvPr/>
          </p:nvSpPr>
          <p:spPr>
            <a:xfrm>
              <a:off x="0" y="-38100"/>
              <a:ext cx="101600" cy="2705100"/>
            </a:xfrm>
            <a:prstGeom prst="rect">
              <a:avLst/>
            </a:prstGeom>
          </p:spPr>
          <p:txBody>
            <a:bodyPr anchor="ctr" rtlCol="false" tIns="50800" lIns="50800" bIns="50800" rIns="50800"/>
            <a:lstStyle/>
            <a:p>
              <a:pPr algn="l">
                <a:lnSpc>
                  <a:spcPts val="1679"/>
                </a:lnSpc>
              </a:pPr>
            </a:p>
          </p:txBody>
        </p:sp>
      </p:grpSp>
      <p:sp>
        <p:nvSpPr>
          <p:cNvPr name="TextBox 63" id="63"/>
          <p:cNvSpPr txBox="true"/>
          <p:nvPr/>
        </p:nvSpPr>
        <p:spPr>
          <a:xfrm rot="0">
            <a:off x="6667500" y="5343525"/>
            <a:ext cx="4619625" cy="271145"/>
          </a:xfrm>
          <a:prstGeom prst="rect">
            <a:avLst/>
          </a:prstGeom>
        </p:spPr>
        <p:txBody>
          <a:bodyPr anchor="t" rtlCol="false" tIns="0" lIns="0" bIns="0" rIns="0">
            <a:spAutoFit/>
          </a:bodyPr>
          <a:lstStyle/>
          <a:p>
            <a:pPr algn="l">
              <a:lnSpc>
                <a:spcPts val="2380"/>
              </a:lnSpc>
            </a:pPr>
            <a:r>
              <a:rPr lang="en-US" sz="1700" b="true">
                <a:solidFill>
                  <a:srgbClr val="03AC0E"/>
                </a:solidFill>
                <a:latin typeface="Nunito Sans Bold"/>
                <a:ea typeface="Nunito Sans Bold"/>
                <a:cs typeface="Nunito Sans Bold"/>
                <a:sym typeface="Nunito Sans Bold"/>
              </a:rPr>
              <a:t>KOMPOSISI GENDER</a:t>
            </a:r>
          </a:p>
        </p:txBody>
      </p:sp>
      <p:sp>
        <p:nvSpPr>
          <p:cNvPr name="TextBox 64" id="64"/>
          <p:cNvSpPr txBox="true"/>
          <p:nvPr/>
        </p:nvSpPr>
        <p:spPr>
          <a:xfrm rot="0">
            <a:off x="6667500" y="5781675"/>
            <a:ext cx="4619625" cy="742950"/>
          </a:xfrm>
          <a:prstGeom prst="rect">
            <a:avLst/>
          </a:prstGeom>
        </p:spPr>
        <p:txBody>
          <a:bodyPr anchor="t" rtlCol="false" tIns="0" lIns="0" bIns="0" rIns="0">
            <a:spAutoFit/>
          </a:bodyPr>
          <a:lstStyle/>
          <a:p>
            <a:pPr algn="l">
              <a:lnSpc>
                <a:spcPts val="2999"/>
              </a:lnSpc>
            </a:pPr>
            <a:r>
              <a:rPr lang="en-US" sz="2499" b="true">
                <a:solidFill>
                  <a:srgbClr val="333333"/>
                </a:solidFill>
                <a:latin typeface="Nunito Sans Bold"/>
                <a:ea typeface="Nunito Sans Bold"/>
                <a:cs typeface="Nunito Sans Bold"/>
                <a:sym typeface="Nunito Sans Bold"/>
              </a:rPr>
              <a:t>Komposisi gender pada dataset pengguna</a:t>
            </a:r>
          </a:p>
        </p:txBody>
      </p:sp>
      <p:sp>
        <p:nvSpPr>
          <p:cNvPr name="TextBox 65" id="65"/>
          <p:cNvSpPr txBox="true"/>
          <p:nvPr/>
        </p:nvSpPr>
        <p:spPr>
          <a:xfrm rot="0">
            <a:off x="6667500" y="6477000"/>
            <a:ext cx="4619625" cy="237490"/>
          </a:xfrm>
          <a:prstGeom prst="rect">
            <a:avLst/>
          </a:prstGeom>
        </p:spPr>
        <p:txBody>
          <a:bodyPr anchor="t" rtlCol="false" tIns="0" lIns="0" bIns="0" rIns="0">
            <a:spAutoFit/>
          </a:bodyPr>
          <a:lstStyle/>
          <a:p>
            <a:pPr algn="l">
              <a:lnSpc>
                <a:spcPts val="1999"/>
              </a:lnSpc>
            </a:pPr>
            <a:r>
              <a:rPr lang="en-US" sz="1599">
                <a:solidFill>
                  <a:srgbClr val="4D4D4D"/>
                </a:solidFill>
                <a:latin typeface="Nunito Sans"/>
                <a:ea typeface="Nunito Sans"/>
                <a:cs typeface="Nunito Sans"/>
                <a:sym typeface="Nunito Sans"/>
              </a:rPr>
              <a:t>Ringkasan mengikuti nilai yang tersedia</a:t>
            </a:r>
          </a:p>
        </p:txBody>
      </p:sp>
      <p:grpSp>
        <p:nvGrpSpPr>
          <p:cNvPr name="Group 66" id="66"/>
          <p:cNvGrpSpPr/>
          <p:nvPr/>
        </p:nvGrpSpPr>
        <p:grpSpPr>
          <a:xfrm rot="0">
            <a:off x="11811000" y="5095875"/>
            <a:ext cx="5143500" cy="2000250"/>
            <a:chOff x="0" y="0"/>
            <a:chExt cx="6858000" cy="2667000"/>
          </a:xfrm>
        </p:grpSpPr>
        <p:sp>
          <p:nvSpPr>
            <p:cNvPr name="Freeform 67" id="67"/>
            <p:cNvSpPr/>
            <p:nvPr/>
          </p:nvSpPr>
          <p:spPr>
            <a:xfrm flipH="false" flipV="false" rot="0">
              <a:off x="0" y="0"/>
              <a:ext cx="6858000" cy="2667000"/>
            </a:xfrm>
            <a:custGeom>
              <a:avLst/>
              <a:gdLst/>
              <a:ahLst/>
              <a:cxnLst/>
              <a:rect r="r" b="b" t="t" l="l"/>
              <a:pathLst>
                <a:path h="2667000" w="6858000">
                  <a:moveTo>
                    <a:pt x="152400" y="0"/>
                  </a:moveTo>
                  <a:lnTo>
                    <a:pt x="6705600" y="0"/>
                  </a:lnTo>
                  <a:cubicBezTo>
                    <a:pt x="6789769" y="0"/>
                    <a:pt x="6858000" y="68232"/>
                    <a:pt x="6858000" y="152400"/>
                  </a:cubicBezTo>
                  <a:lnTo>
                    <a:pt x="6858000" y="2514600"/>
                  </a:lnTo>
                  <a:cubicBezTo>
                    <a:pt x="6858000" y="2598768"/>
                    <a:pt x="6789769" y="2667000"/>
                    <a:pt x="6705600" y="2667000"/>
                  </a:cubicBezTo>
                  <a:lnTo>
                    <a:pt x="152400" y="2667000"/>
                  </a:lnTo>
                  <a:cubicBezTo>
                    <a:pt x="68232" y="2667000"/>
                    <a:pt x="0" y="2598768"/>
                    <a:pt x="0" y="2514600"/>
                  </a:cubicBezTo>
                  <a:lnTo>
                    <a:pt x="0" y="152400"/>
                  </a:lnTo>
                  <a:cubicBezTo>
                    <a:pt x="0" y="68232"/>
                    <a:pt x="68232" y="0"/>
                    <a:pt x="152400" y="0"/>
                  </a:cubicBezTo>
                  <a:close/>
                </a:path>
              </a:pathLst>
            </a:custGeom>
            <a:solidFill>
              <a:srgbClr val="FFFFFF"/>
            </a:solidFill>
            <a:ln w="9525" cap="sq">
              <a:solidFill>
                <a:srgbClr val="CFE8D3"/>
              </a:solidFill>
              <a:prstDash val="solid"/>
              <a:miter/>
            </a:ln>
          </p:spPr>
        </p:sp>
        <p:sp>
          <p:nvSpPr>
            <p:cNvPr name="TextBox 68" id="68"/>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69" id="69"/>
          <p:cNvGrpSpPr/>
          <p:nvPr/>
        </p:nvGrpSpPr>
        <p:grpSpPr>
          <a:xfrm rot="0">
            <a:off x="11811000" y="5095875"/>
            <a:ext cx="76200" cy="2000250"/>
            <a:chOff x="0" y="0"/>
            <a:chExt cx="101600" cy="2667000"/>
          </a:xfrm>
        </p:grpSpPr>
        <p:sp>
          <p:nvSpPr>
            <p:cNvPr name="Freeform 70" id="70"/>
            <p:cNvSpPr/>
            <p:nvPr/>
          </p:nvSpPr>
          <p:spPr>
            <a:xfrm flipH="false" flipV="false" rot="0">
              <a:off x="0" y="0"/>
              <a:ext cx="101600" cy="2667000"/>
            </a:xfrm>
            <a:custGeom>
              <a:avLst/>
              <a:gdLst/>
              <a:ahLst/>
              <a:cxnLst/>
              <a:rect r="r" b="b" t="t" l="l"/>
              <a:pathLst>
                <a:path h="2667000" w="101600">
                  <a:moveTo>
                    <a:pt x="50800" y="0"/>
                  </a:moveTo>
                  <a:cubicBezTo>
                    <a:pt x="78856" y="0"/>
                    <a:pt x="101600" y="22744"/>
                    <a:pt x="101600" y="50800"/>
                  </a:cubicBezTo>
                  <a:lnTo>
                    <a:pt x="101600" y="2616200"/>
                  </a:lnTo>
                  <a:cubicBezTo>
                    <a:pt x="101600" y="2644256"/>
                    <a:pt x="78856" y="2667000"/>
                    <a:pt x="50800" y="2667000"/>
                  </a:cubicBezTo>
                  <a:cubicBezTo>
                    <a:pt x="22744" y="2667000"/>
                    <a:pt x="0" y="2644256"/>
                    <a:pt x="0" y="2616200"/>
                  </a:cubicBezTo>
                  <a:lnTo>
                    <a:pt x="0" y="50800"/>
                  </a:lnTo>
                  <a:cubicBezTo>
                    <a:pt x="0" y="22744"/>
                    <a:pt x="22744" y="0"/>
                    <a:pt x="50800" y="0"/>
                  </a:cubicBezTo>
                  <a:close/>
                </a:path>
              </a:pathLst>
            </a:custGeom>
            <a:solidFill>
              <a:srgbClr val="03AC0E"/>
            </a:solidFill>
          </p:spPr>
        </p:sp>
        <p:sp>
          <p:nvSpPr>
            <p:cNvPr name="TextBox 71" id="71"/>
            <p:cNvSpPr txBox="true"/>
            <p:nvPr/>
          </p:nvSpPr>
          <p:spPr>
            <a:xfrm>
              <a:off x="0" y="-38100"/>
              <a:ext cx="101600" cy="2705100"/>
            </a:xfrm>
            <a:prstGeom prst="rect">
              <a:avLst/>
            </a:prstGeom>
          </p:spPr>
          <p:txBody>
            <a:bodyPr anchor="ctr" rtlCol="false" tIns="50800" lIns="50800" bIns="50800" rIns="50800"/>
            <a:lstStyle/>
            <a:p>
              <a:pPr algn="l">
                <a:lnSpc>
                  <a:spcPts val="1679"/>
                </a:lnSpc>
              </a:pPr>
            </a:p>
          </p:txBody>
        </p:sp>
      </p:grpSp>
      <p:sp>
        <p:nvSpPr>
          <p:cNvPr name="TextBox 72" id="72"/>
          <p:cNvSpPr txBox="true"/>
          <p:nvPr/>
        </p:nvSpPr>
        <p:spPr>
          <a:xfrm rot="0">
            <a:off x="12096750" y="5343525"/>
            <a:ext cx="4619625" cy="271145"/>
          </a:xfrm>
          <a:prstGeom prst="rect">
            <a:avLst/>
          </a:prstGeom>
        </p:spPr>
        <p:txBody>
          <a:bodyPr anchor="t" rtlCol="false" tIns="0" lIns="0" bIns="0" rIns="0">
            <a:spAutoFit/>
          </a:bodyPr>
          <a:lstStyle/>
          <a:p>
            <a:pPr algn="l">
              <a:lnSpc>
                <a:spcPts val="2380"/>
              </a:lnSpc>
            </a:pPr>
            <a:r>
              <a:rPr lang="en-US" sz="1700" b="true">
                <a:solidFill>
                  <a:srgbClr val="03AC0E"/>
                </a:solidFill>
                <a:latin typeface="Nunito Sans Bold"/>
                <a:ea typeface="Nunito Sans Bold"/>
                <a:cs typeface="Nunito Sans Bold"/>
                <a:sym typeface="Nunito Sans Bold"/>
              </a:rPr>
              <a:t>DISTRIBUSI JOIN DATE</a:t>
            </a:r>
          </a:p>
        </p:txBody>
      </p:sp>
      <p:sp>
        <p:nvSpPr>
          <p:cNvPr name="TextBox 73" id="73"/>
          <p:cNvSpPr txBox="true"/>
          <p:nvPr/>
        </p:nvSpPr>
        <p:spPr>
          <a:xfrm rot="0">
            <a:off x="12096750" y="5781675"/>
            <a:ext cx="4619625" cy="742950"/>
          </a:xfrm>
          <a:prstGeom prst="rect">
            <a:avLst/>
          </a:prstGeom>
        </p:spPr>
        <p:txBody>
          <a:bodyPr anchor="t" rtlCol="false" tIns="0" lIns="0" bIns="0" rIns="0">
            <a:spAutoFit/>
          </a:bodyPr>
          <a:lstStyle/>
          <a:p>
            <a:pPr algn="l">
              <a:lnSpc>
                <a:spcPts val="2999"/>
              </a:lnSpc>
            </a:pPr>
            <a:r>
              <a:rPr lang="en-US" sz="2499" b="true">
                <a:solidFill>
                  <a:srgbClr val="333333"/>
                </a:solidFill>
                <a:latin typeface="Nunito Sans Bold"/>
                <a:ea typeface="Nunito Sans Bold"/>
                <a:cs typeface="Nunito Sans Bold"/>
                <a:sym typeface="Nunito Sans Bold"/>
              </a:rPr>
              <a:t>Periode tanggal bergabung pengguna</a:t>
            </a:r>
          </a:p>
        </p:txBody>
      </p:sp>
      <p:sp>
        <p:nvSpPr>
          <p:cNvPr name="TextBox 74" id="74"/>
          <p:cNvSpPr txBox="true"/>
          <p:nvPr/>
        </p:nvSpPr>
        <p:spPr>
          <a:xfrm rot="0">
            <a:off x="12096750" y="6477000"/>
            <a:ext cx="4619625" cy="237490"/>
          </a:xfrm>
          <a:prstGeom prst="rect">
            <a:avLst/>
          </a:prstGeom>
        </p:spPr>
        <p:txBody>
          <a:bodyPr anchor="t" rtlCol="false" tIns="0" lIns="0" bIns="0" rIns="0">
            <a:spAutoFit/>
          </a:bodyPr>
          <a:lstStyle/>
          <a:p>
            <a:pPr algn="l">
              <a:lnSpc>
                <a:spcPts val="1999"/>
              </a:lnSpc>
            </a:pPr>
            <a:r>
              <a:rPr lang="en-US" sz="1599">
                <a:solidFill>
                  <a:srgbClr val="4D4D4D"/>
                </a:solidFill>
                <a:latin typeface="Nunito Sans"/>
                <a:ea typeface="Nunito Sans"/>
                <a:cs typeface="Nunito Sans"/>
                <a:sym typeface="Nunito Sans"/>
              </a:rPr>
              <a:t>Tanggal join ditampilkan sesuai catatan dataset</a:t>
            </a:r>
          </a:p>
        </p:txBody>
      </p:sp>
      <p:grpSp>
        <p:nvGrpSpPr>
          <p:cNvPr name="Group 75" id="75"/>
          <p:cNvGrpSpPr/>
          <p:nvPr/>
        </p:nvGrpSpPr>
        <p:grpSpPr>
          <a:xfrm rot="0">
            <a:off x="952500" y="7524750"/>
            <a:ext cx="10668000" cy="1714500"/>
            <a:chOff x="0" y="0"/>
            <a:chExt cx="14224000" cy="2286000"/>
          </a:xfrm>
        </p:grpSpPr>
        <p:sp>
          <p:nvSpPr>
            <p:cNvPr name="Freeform 76" id="76"/>
            <p:cNvSpPr/>
            <p:nvPr/>
          </p:nvSpPr>
          <p:spPr>
            <a:xfrm flipH="false" flipV="false" rot="0">
              <a:off x="0" y="0"/>
              <a:ext cx="14224000" cy="2286000"/>
            </a:xfrm>
            <a:custGeom>
              <a:avLst/>
              <a:gdLst/>
              <a:ahLst/>
              <a:cxnLst/>
              <a:rect r="r" b="b" t="t" l="l"/>
              <a:pathLst>
                <a:path h="2286000" w="14224000">
                  <a:moveTo>
                    <a:pt x="152400" y="0"/>
                  </a:moveTo>
                  <a:lnTo>
                    <a:pt x="14071600" y="0"/>
                  </a:lnTo>
                  <a:cubicBezTo>
                    <a:pt x="14155769" y="0"/>
                    <a:pt x="14224000" y="68232"/>
                    <a:pt x="14224000" y="152400"/>
                  </a:cubicBezTo>
                  <a:lnTo>
                    <a:pt x="14224000" y="2133600"/>
                  </a:lnTo>
                  <a:cubicBezTo>
                    <a:pt x="14224000" y="2217768"/>
                    <a:pt x="14155769" y="2286000"/>
                    <a:pt x="14071600" y="2286000"/>
                  </a:cubicBezTo>
                  <a:lnTo>
                    <a:pt x="152400" y="2286000"/>
                  </a:lnTo>
                  <a:cubicBezTo>
                    <a:pt x="68232" y="2286000"/>
                    <a:pt x="0" y="2217768"/>
                    <a:pt x="0" y="2133600"/>
                  </a:cubicBezTo>
                  <a:lnTo>
                    <a:pt x="0" y="152400"/>
                  </a:lnTo>
                  <a:cubicBezTo>
                    <a:pt x="0" y="68232"/>
                    <a:pt x="68232" y="0"/>
                    <a:pt x="152400" y="0"/>
                  </a:cubicBezTo>
                  <a:close/>
                </a:path>
              </a:pathLst>
            </a:custGeom>
            <a:solidFill>
              <a:srgbClr val="03AC0E"/>
            </a:solidFill>
          </p:spPr>
        </p:sp>
        <p:sp>
          <p:nvSpPr>
            <p:cNvPr name="TextBox 77" id="77"/>
            <p:cNvSpPr txBox="true"/>
            <p:nvPr/>
          </p:nvSpPr>
          <p:spPr>
            <a:xfrm>
              <a:off x="0" y="-38100"/>
              <a:ext cx="14224000" cy="2324100"/>
            </a:xfrm>
            <a:prstGeom prst="rect">
              <a:avLst/>
            </a:prstGeom>
          </p:spPr>
          <p:txBody>
            <a:bodyPr anchor="ctr" rtlCol="false" tIns="50800" lIns="50800" bIns="50800" rIns="50800"/>
            <a:lstStyle/>
            <a:p>
              <a:pPr algn="l">
                <a:lnSpc>
                  <a:spcPts val="1679"/>
                </a:lnSpc>
              </a:pPr>
            </a:p>
          </p:txBody>
        </p:sp>
      </p:grpSp>
      <p:sp>
        <p:nvSpPr>
          <p:cNvPr name="TextBox 78" id="78"/>
          <p:cNvSpPr txBox="true"/>
          <p:nvPr/>
        </p:nvSpPr>
        <p:spPr>
          <a:xfrm rot="0">
            <a:off x="1285875" y="7724775"/>
            <a:ext cx="2857500" cy="297180"/>
          </a:xfrm>
          <a:prstGeom prst="rect">
            <a:avLst/>
          </a:prstGeom>
        </p:spPr>
        <p:txBody>
          <a:bodyPr anchor="t" rtlCol="false" tIns="0" lIns="0" bIns="0" rIns="0">
            <a:spAutoFit/>
          </a:bodyPr>
          <a:lstStyle/>
          <a:p>
            <a:pPr algn="l">
              <a:lnSpc>
                <a:spcPts val="2520"/>
              </a:lnSpc>
            </a:pPr>
            <a:r>
              <a:rPr lang="en-US" sz="1800" b="true">
                <a:solidFill>
                  <a:srgbClr val="EBFFEF"/>
                </a:solidFill>
                <a:latin typeface="Nunito Sans Bold"/>
                <a:ea typeface="Nunito Sans Bold"/>
                <a:cs typeface="Nunito Sans Bold"/>
                <a:sym typeface="Nunito Sans Bold"/>
              </a:rPr>
              <a:t>SUMBER DATA</a:t>
            </a:r>
          </a:p>
        </p:txBody>
      </p:sp>
      <p:sp>
        <p:nvSpPr>
          <p:cNvPr name="TextBox 79" id="79"/>
          <p:cNvSpPr txBox="true"/>
          <p:nvPr/>
        </p:nvSpPr>
        <p:spPr>
          <a:xfrm rot="0">
            <a:off x="1285875" y="8058150"/>
            <a:ext cx="9620250" cy="678180"/>
          </a:xfrm>
          <a:prstGeom prst="rect">
            <a:avLst/>
          </a:prstGeom>
        </p:spPr>
        <p:txBody>
          <a:bodyPr anchor="t" rtlCol="false" tIns="0" lIns="0" bIns="0" rIns="0">
            <a:spAutoFit/>
          </a:bodyPr>
          <a:lstStyle/>
          <a:p>
            <a:pPr algn="l">
              <a:lnSpc>
                <a:spcPts val="2730"/>
              </a:lnSpc>
            </a:pPr>
            <a:r>
              <a:rPr lang="en-US" sz="2100">
                <a:solidFill>
                  <a:srgbClr val="FFFFFF"/>
                </a:solidFill>
                <a:latin typeface="Nunito Sans"/>
                <a:ea typeface="Nunito Sans"/>
                <a:cs typeface="Nunito Sans"/>
                <a:sym typeface="Nunito Sans"/>
              </a:rPr>
              <a:t>Tiga dataset CSV proyek: users, transactions, dan deliveries.</a:t>
            </a:r>
          </a:p>
          <a:p>
            <a:pPr algn="l">
              <a:lnSpc>
                <a:spcPts val="2730"/>
              </a:lnSpc>
            </a:pPr>
            <a:r>
              <a:rPr lang="en-US" sz="2100">
                <a:solidFill>
                  <a:srgbClr val="FFFFFF"/>
                </a:solidFill>
                <a:latin typeface="Nunito Sans"/>
                <a:ea typeface="Nunito Sans"/>
                <a:cs typeface="Nunito Sans"/>
                <a:sym typeface="Nunito Sans"/>
              </a:rPr>
              <a:t>Dataset pengguna yang dianalisis mencakup tokopedia_users.csv.</a:t>
            </a:r>
          </a:p>
        </p:txBody>
      </p:sp>
      <p:sp>
        <p:nvSpPr>
          <p:cNvPr name="TextBox 80" id="80"/>
          <p:cNvSpPr txBox="true"/>
          <p:nvPr/>
        </p:nvSpPr>
        <p:spPr>
          <a:xfrm rot="0">
            <a:off x="1285875" y="8763000"/>
            <a:ext cx="9620250" cy="271145"/>
          </a:xfrm>
          <a:prstGeom prst="rect">
            <a:avLst/>
          </a:prstGeom>
        </p:spPr>
        <p:txBody>
          <a:bodyPr anchor="t" rtlCol="false" tIns="0" lIns="0" bIns="0" rIns="0">
            <a:spAutoFit/>
          </a:bodyPr>
          <a:lstStyle/>
          <a:p>
            <a:pPr algn="l">
              <a:lnSpc>
                <a:spcPts val="2380"/>
              </a:lnSpc>
            </a:pPr>
            <a:r>
              <a:rPr lang="en-US" sz="1700">
                <a:solidFill>
                  <a:srgbClr val="EBFFEF"/>
                </a:solidFill>
                <a:latin typeface="Nunito Sans"/>
                <a:ea typeface="Nunito Sans"/>
                <a:cs typeface="Nunito Sans"/>
                <a:sym typeface="Nunito Sans"/>
              </a:rPr>
              <a:t>Periode transaksi &amp; pengiriman: 2023 · Join date: periode yang tercatat di dataset</a:t>
            </a:r>
          </a:p>
        </p:txBody>
      </p:sp>
      <p:grpSp>
        <p:nvGrpSpPr>
          <p:cNvPr name="Group 81" id="81"/>
          <p:cNvGrpSpPr/>
          <p:nvPr/>
        </p:nvGrpSpPr>
        <p:grpSpPr>
          <a:xfrm rot="0">
            <a:off x="12001500" y="7524750"/>
            <a:ext cx="5334000" cy="1714500"/>
            <a:chOff x="0" y="0"/>
            <a:chExt cx="7112000" cy="2286000"/>
          </a:xfrm>
        </p:grpSpPr>
        <p:sp>
          <p:nvSpPr>
            <p:cNvPr name="Freeform 82" id="82"/>
            <p:cNvSpPr/>
            <p:nvPr/>
          </p:nvSpPr>
          <p:spPr>
            <a:xfrm flipH="false" flipV="false" rot="0">
              <a:off x="0" y="0"/>
              <a:ext cx="7112000" cy="2286000"/>
            </a:xfrm>
            <a:custGeom>
              <a:avLst/>
              <a:gdLst/>
              <a:ahLst/>
              <a:cxnLst/>
              <a:rect r="r" b="b" t="t" l="l"/>
              <a:pathLst>
                <a:path h="2286000" w="7112000">
                  <a:moveTo>
                    <a:pt x="152400" y="0"/>
                  </a:moveTo>
                  <a:lnTo>
                    <a:pt x="6959600" y="0"/>
                  </a:lnTo>
                  <a:cubicBezTo>
                    <a:pt x="7043769" y="0"/>
                    <a:pt x="7112000" y="68232"/>
                    <a:pt x="7112000" y="152400"/>
                  </a:cubicBezTo>
                  <a:lnTo>
                    <a:pt x="7112000" y="2133600"/>
                  </a:lnTo>
                  <a:cubicBezTo>
                    <a:pt x="7112000" y="2217768"/>
                    <a:pt x="7043769" y="2286000"/>
                    <a:pt x="6959600" y="2286000"/>
                  </a:cubicBezTo>
                  <a:lnTo>
                    <a:pt x="152400" y="2286000"/>
                  </a:lnTo>
                  <a:cubicBezTo>
                    <a:pt x="68232" y="2286000"/>
                    <a:pt x="0" y="2217768"/>
                    <a:pt x="0" y="2133600"/>
                  </a:cubicBezTo>
                  <a:lnTo>
                    <a:pt x="0" y="152400"/>
                  </a:lnTo>
                  <a:cubicBezTo>
                    <a:pt x="0" y="68232"/>
                    <a:pt x="68232" y="0"/>
                    <a:pt x="152400" y="0"/>
                  </a:cubicBezTo>
                  <a:close/>
                </a:path>
              </a:pathLst>
            </a:custGeom>
            <a:solidFill>
              <a:srgbClr val="FFFFFF"/>
            </a:solidFill>
            <a:ln w="9525" cap="sq">
              <a:solidFill>
                <a:srgbClr val="CFE8D3"/>
              </a:solidFill>
              <a:prstDash val="solid"/>
              <a:miter/>
            </a:ln>
          </p:spPr>
        </p:sp>
        <p:sp>
          <p:nvSpPr>
            <p:cNvPr name="TextBox 83" id="83"/>
            <p:cNvSpPr txBox="true"/>
            <p:nvPr/>
          </p:nvSpPr>
          <p:spPr>
            <a:xfrm>
              <a:off x="0" y="-38100"/>
              <a:ext cx="7112000" cy="2324100"/>
            </a:xfrm>
            <a:prstGeom prst="rect">
              <a:avLst/>
            </a:prstGeom>
          </p:spPr>
          <p:txBody>
            <a:bodyPr anchor="ctr" rtlCol="false" tIns="50800" lIns="50800" bIns="50800" rIns="50800"/>
            <a:lstStyle/>
            <a:p>
              <a:pPr algn="l">
                <a:lnSpc>
                  <a:spcPts val="1679"/>
                </a:lnSpc>
              </a:pPr>
            </a:p>
          </p:txBody>
        </p:sp>
      </p:grpSp>
      <p:sp>
        <p:nvSpPr>
          <p:cNvPr name="TextBox 84" id="84"/>
          <p:cNvSpPr txBox="true"/>
          <p:nvPr/>
        </p:nvSpPr>
        <p:spPr>
          <a:xfrm rot="0">
            <a:off x="12287250" y="7724775"/>
            <a:ext cx="4762500" cy="297180"/>
          </a:xfrm>
          <a:prstGeom prst="rect">
            <a:avLst/>
          </a:prstGeom>
        </p:spPr>
        <p:txBody>
          <a:bodyPr anchor="t" rtlCol="false" tIns="0" lIns="0" bIns="0" rIns="0">
            <a:spAutoFit/>
          </a:bodyPr>
          <a:lstStyle/>
          <a:p>
            <a:pPr algn="l">
              <a:lnSpc>
                <a:spcPts val="2520"/>
              </a:lnSpc>
            </a:pPr>
            <a:r>
              <a:rPr lang="en-US" sz="1800" b="true">
                <a:solidFill>
                  <a:srgbClr val="03AC0E"/>
                </a:solidFill>
                <a:latin typeface="Nunito Sans Bold"/>
                <a:ea typeface="Nunito Sans Bold"/>
                <a:cs typeface="Nunito Sans Bold"/>
                <a:sym typeface="Nunito Sans Bold"/>
              </a:rPr>
              <a:t>CATATAN METODOLOGIS</a:t>
            </a:r>
          </a:p>
        </p:txBody>
      </p:sp>
      <p:sp>
        <p:nvSpPr>
          <p:cNvPr name="TextBox 85" id="85"/>
          <p:cNvSpPr txBox="true"/>
          <p:nvPr/>
        </p:nvSpPr>
        <p:spPr>
          <a:xfrm rot="0">
            <a:off x="12287250" y="8105775"/>
            <a:ext cx="4762500" cy="872490"/>
          </a:xfrm>
          <a:prstGeom prst="rect">
            <a:avLst/>
          </a:prstGeom>
        </p:spPr>
        <p:txBody>
          <a:bodyPr anchor="t" rtlCol="false" tIns="0" lIns="0" bIns="0" rIns="0">
            <a:spAutoFit/>
          </a:bodyPr>
          <a:lstStyle/>
          <a:p>
            <a:pPr algn="l">
              <a:lnSpc>
                <a:spcPts val="2340"/>
              </a:lnSpc>
            </a:pPr>
            <a:r>
              <a:rPr lang="en-US" sz="1800">
                <a:solidFill>
                  <a:srgbClr val="333333"/>
                </a:solidFill>
                <a:latin typeface="Nunito Sans"/>
                <a:ea typeface="Nunito Sans"/>
                <a:cs typeface="Nunito Sans"/>
                <a:sym typeface="Nunito Sans"/>
              </a:rPr>
              <a:t>Lokasi yang ditampilkan adalah cakupan lokasi pengguna pada data. Lokasi pengambilan data secara fisik tidak dicantumkan.</a:t>
            </a:r>
          </a:p>
        </p:txBody>
      </p:sp>
      <p:sp>
        <p:nvSpPr>
          <p:cNvPr name="TextBox 86" id="86"/>
          <p:cNvSpPr txBox="true"/>
          <p:nvPr/>
        </p:nvSpPr>
        <p:spPr>
          <a:xfrm rot="0">
            <a:off x="952500" y="9782175"/>
            <a:ext cx="11430000" cy="264160"/>
          </a:xfrm>
          <a:prstGeom prst="rect">
            <a:avLst/>
          </a:prstGeom>
        </p:spPr>
        <p:txBody>
          <a:bodyPr anchor="t" rtlCol="false" tIns="0" lIns="0" bIns="0" rIns="0">
            <a:spAutoFit/>
          </a:bodyPr>
          <a:lstStyle/>
          <a:p>
            <a:pPr algn="l">
              <a:lnSpc>
                <a:spcPts val="2239"/>
              </a:lnSpc>
            </a:pPr>
            <a:r>
              <a:rPr lang="en-US" sz="1599">
                <a:solidFill>
                  <a:srgbClr val="4D4D4D"/>
                </a:solidFill>
                <a:latin typeface="Nunito Sans"/>
                <a:ea typeface="Nunito Sans"/>
                <a:cs typeface="Nunito Sans"/>
                <a:sym typeface="Nunito Sans"/>
              </a:rPr>
              <a:t>Dataset Overview</a:t>
            </a:r>
          </a:p>
        </p:txBody>
      </p:sp>
      <p:sp>
        <p:nvSpPr>
          <p:cNvPr name="TextBox 87" id="87"/>
          <p:cNvSpPr txBox="true"/>
          <p:nvPr/>
        </p:nvSpPr>
        <p:spPr>
          <a:xfrm rot="0">
            <a:off x="16668750" y="9782175"/>
            <a:ext cx="762000" cy="264160"/>
          </a:xfrm>
          <a:prstGeom prst="rect">
            <a:avLst/>
          </a:prstGeom>
        </p:spPr>
        <p:txBody>
          <a:bodyPr anchor="t" rtlCol="false" tIns="0" lIns="0" bIns="0" rIns="0">
            <a:spAutoFit/>
          </a:bodyPr>
          <a:lstStyle/>
          <a:p>
            <a:pPr algn="r">
              <a:lnSpc>
                <a:spcPts val="2239"/>
              </a:lnSpc>
            </a:pPr>
            <a:r>
              <a:rPr lang="en-US" sz="1599">
                <a:solidFill>
                  <a:srgbClr val="4D4D4D"/>
                </a:solidFill>
                <a:latin typeface="Nunito Sans"/>
                <a:ea typeface="Nunito Sans"/>
                <a:cs typeface="Nunito Sans"/>
                <a:sym typeface="Nunito Sans"/>
              </a:rPr>
              <a:t>04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blipFill>
              <a:blip r:embed="rId3"/>
              <a:stretch>
                <a:fillRect l="0" t="0" r="0" b="0"/>
              </a:stretch>
            </a:blipFill>
          </p:spPr>
        </p:sp>
      </p:grpSp>
      <p:grpSp>
        <p:nvGrpSpPr>
          <p:cNvPr name="Group 5" id="5"/>
          <p:cNvGrpSpPr/>
          <p:nvPr/>
        </p:nvGrpSpPr>
        <p:grpSpPr>
          <a:xfrm rot="0">
            <a:off x="0" y="0"/>
            <a:ext cx="18288000" cy="428625"/>
            <a:chOff x="0" y="0"/>
            <a:chExt cx="24384000" cy="571500"/>
          </a:xfrm>
        </p:grpSpPr>
        <p:sp>
          <p:nvSpPr>
            <p:cNvPr name="Freeform 6" id="6"/>
            <p:cNvSpPr/>
            <p:nvPr/>
          </p:nvSpPr>
          <p:spPr>
            <a:xfrm flipH="false" flipV="false" rot="0">
              <a:off x="0" y="0"/>
              <a:ext cx="24384000" cy="571500"/>
            </a:xfrm>
            <a:custGeom>
              <a:avLst/>
              <a:gdLst/>
              <a:ahLst/>
              <a:cxnLst/>
              <a:rect r="r" b="b" t="t" l="l"/>
              <a:pathLst>
                <a:path h="571500" w="24384000">
                  <a:moveTo>
                    <a:pt x="0" y="0"/>
                  </a:moveTo>
                  <a:lnTo>
                    <a:pt x="24384000" y="0"/>
                  </a:lnTo>
                  <a:lnTo>
                    <a:pt x="24384000" y="571500"/>
                  </a:lnTo>
                  <a:lnTo>
                    <a:pt x="0" y="571500"/>
                  </a:lnTo>
                  <a:close/>
                </a:path>
              </a:pathLst>
            </a:custGeom>
            <a:blipFill>
              <a:blip r:embed="rId4"/>
              <a:stretch>
                <a:fillRect l="0" t="0" r="0" b="0"/>
              </a:stretch>
            </a:blipFill>
          </p:spPr>
        </p:sp>
      </p:grpSp>
      <p:sp>
        <p:nvSpPr>
          <p:cNvPr name="TextBox 7" id="7"/>
          <p:cNvSpPr txBox="true"/>
          <p:nvPr/>
        </p:nvSpPr>
        <p:spPr>
          <a:xfrm rot="0">
            <a:off x="786384" y="439942"/>
            <a:ext cx="3675888" cy="679549"/>
          </a:xfrm>
          <a:prstGeom prst="rect">
            <a:avLst/>
          </a:prstGeom>
        </p:spPr>
        <p:txBody>
          <a:bodyPr anchor="t" rtlCol="false" tIns="0" lIns="0" bIns="0" rIns="0">
            <a:spAutoFit/>
          </a:bodyPr>
          <a:lstStyle/>
          <a:p>
            <a:pPr algn="l">
              <a:lnSpc>
                <a:spcPts val="5594"/>
              </a:lnSpc>
            </a:pPr>
            <a:r>
              <a:rPr lang="en-US" sz="3996" b="true">
                <a:solidFill>
                  <a:srgbClr val="008037"/>
                </a:solidFill>
                <a:latin typeface="DM Sans Bold"/>
                <a:ea typeface="DM Sans Bold"/>
                <a:cs typeface="DM Sans Bold"/>
                <a:sym typeface="DM Sans Bold"/>
              </a:rPr>
              <a:t>Data Cleaning</a:t>
            </a:r>
          </a:p>
        </p:txBody>
      </p:sp>
      <p:grpSp>
        <p:nvGrpSpPr>
          <p:cNvPr name="Group 8" id="8"/>
          <p:cNvGrpSpPr/>
          <p:nvPr/>
        </p:nvGrpSpPr>
        <p:grpSpPr>
          <a:xfrm rot="0">
            <a:off x="647700" y="1495425"/>
            <a:ext cx="8496300" cy="2362200"/>
            <a:chOff x="0" y="0"/>
            <a:chExt cx="11328400" cy="3149600"/>
          </a:xfrm>
        </p:grpSpPr>
        <p:sp>
          <p:nvSpPr>
            <p:cNvPr name="Freeform 9" id="9"/>
            <p:cNvSpPr/>
            <p:nvPr/>
          </p:nvSpPr>
          <p:spPr>
            <a:xfrm flipH="false" flipV="false" rot="0">
              <a:off x="0" y="0"/>
              <a:ext cx="11328400" cy="3149600"/>
            </a:xfrm>
            <a:custGeom>
              <a:avLst/>
              <a:gdLst/>
              <a:ahLst/>
              <a:cxnLst/>
              <a:rect r="r" b="b" t="t" l="l"/>
              <a:pathLst>
                <a:path h="3149600" w="11328400">
                  <a:moveTo>
                    <a:pt x="0" y="0"/>
                  </a:moveTo>
                  <a:lnTo>
                    <a:pt x="11328400" y="0"/>
                  </a:lnTo>
                  <a:lnTo>
                    <a:pt x="11328400" y="3149600"/>
                  </a:lnTo>
                  <a:lnTo>
                    <a:pt x="0" y="3149600"/>
                  </a:lnTo>
                  <a:close/>
                </a:path>
              </a:pathLst>
            </a:custGeom>
            <a:blipFill>
              <a:blip r:embed="rId5"/>
              <a:stretch>
                <a:fillRect l="0" t="0" r="0" b="0"/>
              </a:stretch>
            </a:blipFill>
          </p:spPr>
        </p:sp>
      </p:grpSp>
      <p:sp>
        <p:nvSpPr>
          <p:cNvPr name="TextBox 10" id="10"/>
          <p:cNvSpPr txBox="true"/>
          <p:nvPr/>
        </p:nvSpPr>
        <p:spPr>
          <a:xfrm rot="0">
            <a:off x="1078992" y="1777252"/>
            <a:ext cx="548640" cy="679549"/>
          </a:xfrm>
          <a:prstGeom prst="rect">
            <a:avLst/>
          </a:prstGeom>
        </p:spPr>
        <p:txBody>
          <a:bodyPr anchor="t" rtlCol="false" tIns="0" lIns="0" bIns="0" rIns="0">
            <a:spAutoFit/>
          </a:bodyPr>
          <a:lstStyle/>
          <a:p>
            <a:pPr algn="l">
              <a:lnSpc>
                <a:spcPts val="5594"/>
              </a:lnSpc>
            </a:pPr>
            <a:r>
              <a:rPr lang="en-US" sz="3996" b="true">
                <a:solidFill>
                  <a:srgbClr val="008037"/>
                </a:solidFill>
                <a:latin typeface="DM Sans Bold"/>
                <a:ea typeface="DM Sans Bold"/>
                <a:cs typeface="DM Sans Bold"/>
                <a:sym typeface="DM Sans Bold"/>
              </a:rPr>
              <a:t>01</a:t>
            </a:r>
          </a:p>
        </p:txBody>
      </p:sp>
      <p:grpSp>
        <p:nvGrpSpPr>
          <p:cNvPr name="Group 11" id="11"/>
          <p:cNvGrpSpPr/>
          <p:nvPr/>
        </p:nvGrpSpPr>
        <p:grpSpPr>
          <a:xfrm rot="0">
            <a:off x="1952625" y="1924050"/>
            <a:ext cx="447675" cy="1724025"/>
            <a:chOff x="0" y="0"/>
            <a:chExt cx="596900" cy="2298700"/>
          </a:xfrm>
        </p:grpSpPr>
        <p:sp>
          <p:nvSpPr>
            <p:cNvPr name="Freeform 12" id="12"/>
            <p:cNvSpPr/>
            <p:nvPr/>
          </p:nvSpPr>
          <p:spPr>
            <a:xfrm flipH="false" flipV="false" rot="0">
              <a:off x="0" y="0"/>
              <a:ext cx="596900" cy="2298700"/>
            </a:xfrm>
            <a:custGeom>
              <a:avLst/>
              <a:gdLst/>
              <a:ahLst/>
              <a:cxnLst/>
              <a:rect r="r" b="b" t="t" l="l"/>
              <a:pathLst>
                <a:path h="2298700" w="596900">
                  <a:moveTo>
                    <a:pt x="0" y="0"/>
                  </a:moveTo>
                  <a:lnTo>
                    <a:pt x="596900" y="0"/>
                  </a:lnTo>
                  <a:lnTo>
                    <a:pt x="596900" y="2298700"/>
                  </a:lnTo>
                  <a:lnTo>
                    <a:pt x="0" y="2298700"/>
                  </a:lnTo>
                  <a:close/>
                </a:path>
              </a:pathLst>
            </a:custGeom>
            <a:blipFill>
              <a:blip r:embed="rId6"/>
              <a:stretch>
                <a:fillRect l="0" t="0" r="0" b="0"/>
              </a:stretch>
            </a:blipFill>
          </p:spPr>
        </p:sp>
      </p:grpSp>
      <p:grpSp>
        <p:nvGrpSpPr>
          <p:cNvPr name="Group 13" id="13"/>
          <p:cNvGrpSpPr/>
          <p:nvPr/>
        </p:nvGrpSpPr>
        <p:grpSpPr>
          <a:xfrm rot="0">
            <a:off x="866775" y="2352675"/>
            <a:ext cx="1095375" cy="1076325"/>
            <a:chOff x="0" y="0"/>
            <a:chExt cx="1460500" cy="1435100"/>
          </a:xfrm>
        </p:grpSpPr>
        <p:sp>
          <p:nvSpPr>
            <p:cNvPr name="Freeform 14" id="14"/>
            <p:cNvSpPr/>
            <p:nvPr/>
          </p:nvSpPr>
          <p:spPr>
            <a:xfrm flipH="false" flipV="false" rot="0">
              <a:off x="0" y="0"/>
              <a:ext cx="1460500" cy="1435100"/>
            </a:xfrm>
            <a:custGeom>
              <a:avLst/>
              <a:gdLst/>
              <a:ahLst/>
              <a:cxnLst/>
              <a:rect r="r" b="b" t="t" l="l"/>
              <a:pathLst>
                <a:path h="1435100" w="1460500">
                  <a:moveTo>
                    <a:pt x="0" y="0"/>
                  </a:moveTo>
                  <a:lnTo>
                    <a:pt x="1460500" y="0"/>
                  </a:lnTo>
                  <a:lnTo>
                    <a:pt x="1460500" y="1435100"/>
                  </a:lnTo>
                  <a:lnTo>
                    <a:pt x="0" y="1435100"/>
                  </a:lnTo>
                  <a:close/>
                </a:path>
              </a:pathLst>
            </a:custGeom>
            <a:blipFill>
              <a:blip r:embed="rId7"/>
              <a:stretch>
                <a:fillRect l="0" t="0" r="0" b="0"/>
              </a:stretch>
            </a:blipFill>
          </p:spPr>
        </p:sp>
      </p:grpSp>
      <p:grpSp>
        <p:nvGrpSpPr>
          <p:cNvPr name="Group 15" id="15"/>
          <p:cNvGrpSpPr/>
          <p:nvPr/>
        </p:nvGrpSpPr>
        <p:grpSpPr>
          <a:xfrm rot="0">
            <a:off x="1085850" y="2571750"/>
            <a:ext cx="657225" cy="857250"/>
            <a:chOff x="0" y="0"/>
            <a:chExt cx="876300" cy="1143000"/>
          </a:xfrm>
        </p:grpSpPr>
        <p:sp>
          <p:nvSpPr>
            <p:cNvPr name="Freeform 16" id="16"/>
            <p:cNvSpPr/>
            <p:nvPr/>
          </p:nvSpPr>
          <p:spPr>
            <a:xfrm flipH="false" flipV="false" rot="0">
              <a:off x="0" y="0"/>
              <a:ext cx="876300" cy="1143000"/>
            </a:xfrm>
            <a:custGeom>
              <a:avLst/>
              <a:gdLst/>
              <a:ahLst/>
              <a:cxnLst/>
              <a:rect r="r" b="b" t="t" l="l"/>
              <a:pathLst>
                <a:path h="1143000" w="876300">
                  <a:moveTo>
                    <a:pt x="0" y="0"/>
                  </a:moveTo>
                  <a:lnTo>
                    <a:pt x="876300" y="0"/>
                  </a:lnTo>
                  <a:lnTo>
                    <a:pt x="876300" y="1143000"/>
                  </a:lnTo>
                  <a:lnTo>
                    <a:pt x="0" y="1143000"/>
                  </a:lnTo>
                  <a:close/>
                </a:path>
              </a:pathLst>
            </a:custGeom>
            <a:blipFill>
              <a:blip r:embed="rId8"/>
              <a:stretch>
                <a:fillRect l="0" t="0" r="0" b="0"/>
              </a:stretch>
            </a:blipFill>
          </p:spPr>
        </p:sp>
      </p:grpSp>
      <p:sp>
        <p:nvSpPr>
          <p:cNvPr name="TextBox 17" id="17"/>
          <p:cNvSpPr txBox="true"/>
          <p:nvPr/>
        </p:nvSpPr>
        <p:spPr>
          <a:xfrm rot="0">
            <a:off x="2542032" y="1802419"/>
            <a:ext cx="1938528" cy="349181"/>
          </a:xfrm>
          <a:prstGeom prst="rect">
            <a:avLst/>
          </a:prstGeom>
        </p:spPr>
        <p:txBody>
          <a:bodyPr anchor="t" rtlCol="false" tIns="0" lIns="0" bIns="0" rIns="0">
            <a:spAutoFit/>
          </a:bodyPr>
          <a:lstStyle/>
          <a:p>
            <a:pPr algn="l">
              <a:lnSpc>
                <a:spcPts val="2803"/>
              </a:lnSpc>
            </a:pPr>
            <a:r>
              <a:rPr lang="en-US" sz="2002" b="true">
                <a:solidFill>
                  <a:srgbClr val="222222"/>
                </a:solidFill>
                <a:latin typeface="DM Sans Bold"/>
                <a:ea typeface="DM Sans Bold"/>
                <a:cs typeface="DM Sans Bold"/>
                <a:sym typeface="DM Sans Bold"/>
              </a:rPr>
              <a:t>Nominal invalid</a:t>
            </a:r>
          </a:p>
        </p:txBody>
      </p:sp>
      <p:sp>
        <p:nvSpPr>
          <p:cNvPr name="TextBox 18" id="18"/>
          <p:cNvSpPr txBox="true"/>
          <p:nvPr/>
        </p:nvSpPr>
        <p:spPr>
          <a:xfrm rot="0">
            <a:off x="2542032" y="2323213"/>
            <a:ext cx="5157216" cy="1271647"/>
          </a:xfrm>
          <a:prstGeom prst="rect">
            <a:avLst/>
          </a:prstGeom>
        </p:spPr>
        <p:txBody>
          <a:bodyPr anchor="t" rtlCol="false" tIns="0" lIns="0" bIns="0" rIns="0">
            <a:spAutoFit/>
          </a:bodyPr>
          <a:lstStyle/>
          <a:p>
            <a:pPr algn="l">
              <a:lnSpc>
                <a:spcPts val="2060"/>
              </a:lnSpc>
            </a:pPr>
            <a:r>
              <a:rPr lang="en-US" sz="1373" b="true">
                <a:solidFill>
                  <a:srgbClr val="222222"/>
                </a:solidFill>
                <a:latin typeface="DM Sans Bold"/>
                <a:ea typeface="DM Sans Bold"/>
                <a:cs typeface="DM Sans Bold"/>
                <a:sym typeface="DM Sans Bold"/>
              </a:rPr>
              <a:t>• TUJUAN:</a:t>
            </a:r>
            <a:r>
              <a:rPr lang="en-US" sz="1373">
                <a:solidFill>
                  <a:srgbClr val="222222"/>
                </a:solidFill>
                <a:latin typeface="DM Sans"/>
                <a:ea typeface="DM Sans"/>
                <a:cs typeface="DM Sans"/>
                <a:sym typeface="DM Sans"/>
              </a:rPr>
              <a:t> total amount &amp; promo_amount sesuai aturan bisnis.</a:t>
            </a:r>
          </a:p>
          <a:p>
            <a:pPr algn="l">
              <a:lnSpc>
                <a:spcPts val="2060"/>
              </a:lnSpc>
            </a:pPr>
            <a:r>
              <a:rPr lang="en-US" sz="1373" b="true">
                <a:solidFill>
                  <a:srgbClr val="222222"/>
                </a:solidFill>
                <a:latin typeface="DM Sans Bold"/>
                <a:ea typeface="DM Sans Bold"/>
                <a:cs typeface="DM Sans Bold"/>
                <a:sym typeface="DM Sans Bold"/>
              </a:rPr>
              <a:t>• PROSES:</a:t>
            </a:r>
            <a:r>
              <a:rPr lang="en-US" sz="1373">
                <a:solidFill>
                  <a:srgbClr val="222222"/>
                </a:solidFill>
                <a:latin typeface="DM Sans"/>
                <a:ea typeface="DM Sans"/>
                <a:cs typeface="DM Sans"/>
                <a:sym typeface="DM Sans"/>
              </a:rPr>
              <a:t> keluarkan baris dengan nominal negatif;</a:t>
            </a:r>
          </a:p>
          <a:p>
            <a:pPr algn="l">
              <a:lnSpc>
                <a:spcPts val="2060"/>
              </a:lnSpc>
            </a:pPr>
            <a:r>
              <a:rPr lang="en-US" sz="1373">
                <a:solidFill>
                  <a:srgbClr val="222222"/>
                </a:solidFill>
                <a:latin typeface="DM Sans"/>
                <a:ea typeface="DM Sans"/>
                <a:cs typeface="DM Sans"/>
                <a:sym typeface="DM Sans"/>
              </a:rPr>
              <a:t>outlier via QR.</a:t>
            </a:r>
          </a:p>
          <a:p>
            <a:pPr algn="l">
              <a:lnSpc>
                <a:spcPts val="2060"/>
              </a:lnSpc>
            </a:pPr>
            <a:r>
              <a:rPr lang="en-US" sz="1373" b="true">
                <a:solidFill>
                  <a:srgbClr val="222222"/>
                </a:solidFill>
                <a:latin typeface="DM Sans Bold"/>
                <a:ea typeface="DM Sans Bold"/>
                <a:cs typeface="DM Sans Bold"/>
                <a:sym typeface="DM Sans Bold"/>
              </a:rPr>
              <a:t>• KEPUTUSAN:</a:t>
            </a:r>
            <a:r>
              <a:rPr lang="en-US" sz="1373">
                <a:solidFill>
                  <a:srgbClr val="222222"/>
                </a:solidFill>
                <a:latin typeface="DM Sans"/>
                <a:ea typeface="DM Sans"/>
                <a:cs typeface="DM Sans"/>
                <a:sym typeface="DM Sans"/>
              </a:rPr>
              <a:t> keduanya tidak boleh negatif;</a:t>
            </a:r>
          </a:p>
          <a:p>
            <a:pPr algn="l">
              <a:lnSpc>
                <a:spcPts val="2060"/>
              </a:lnSpc>
            </a:pPr>
            <a:r>
              <a:rPr lang="en-US" sz="1373">
                <a:solidFill>
                  <a:srgbClr val="222222"/>
                </a:solidFill>
                <a:latin typeface="DM Sans"/>
                <a:ea typeface="DM Sans"/>
                <a:cs typeface="DM Sans"/>
                <a:sym typeface="DM Sans"/>
              </a:rPr>
              <a:t>hitung baris invalid.</a:t>
            </a:r>
          </a:p>
        </p:txBody>
      </p:sp>
      <p:grpSp>
        <p:nvGrpSpPr>
          <p:cNvPr name="Group 19" id="19"/>
          <p:cNvGrpSpPr/>
          <p:nvPr/>
        </p:nvGrpSpPr>
        <p:grpSpPr>
          <a:xfrm rot="0">
            <a:off x="647700" y="3857625"/>
            <a:ext cx="8496300" cy="2362200"/>
            <a:chOff x="0" y="0"/>
            <a:chExt cx="11328400" cy="3149600"/>
          </a:xfrm>
        </p:grpSpPr>
        <p:sp>
          <p:nvSpPr>
            <p:cNvPr name="Freeform 20" id="20"/>
            <p:cNvSpPr/>
            <p:nvPr/>
          </p:nvSpPr>
          <p:spPr>
            <a:xfrm flipH="false" flipV="false" rot="0">
              <a:off x="0" y="0"/>
              <a:ext cx="11328400" cy="3149600"/>
            </a:xfrm>
            <a:custGeom>
              <a:avLst/>
              <a:gdLst/>
              <a:ahLst/>
              <a:cxnLst/>
              <a:rect r="r" b="b" t="t" l="l"/>
              <a:pathLst>
                <a:path h="3149600" w="11328400">
                  <a:moveTo>
                    <a:pt x="0" y="0"/>
                  </a:moveTo>
                  <a:lnTo>
                    <a:pt x="11328400" y="0"/>
                  </a:lnTo>
                  <a:lnTo>
                    <a:pt x="11328400" y="3149600"/>
                  </a:lnTo>
                  <a:lnTo>
                    <a:pt x="0" y="3149600"/>
                  </a:lnTo>
                  <a:close/>
                </a:path>
              </a:pathLst>
            </a:custGeom>
            <a:blipFill>
              <a:blip r:embed="rId9"/>
              <a:stretch>
                <a:fillRect l="0" t="0" r="0" b="0"/>
              </a:stretch>
            </a:blipFill>
          </p:spPr>
        </p:sp>
      </p:grpSp>
      <p:sp>
        <p:nvSpPr>
          <p:cNvPr name="TextBox 21" id="21"/>
          <p:cNvSpPr txBox="true"/>
          <p:nvPr/>
        </p:nvSpPr>
        <p:spPr>
          <a:xfrm rot="0">
            <a:off x="1042416" y="3998902"/>
            <a:ext cx="658368" cy="680234"/>
          </a:xfrm>
          <a:prstGeom prst="rect">
            <a:avLst/>
          </a:prstGeom>
        </p:spPr>
        <p:txBody>
          <a:bodyPr anchor="t" rtlCol="false" tIns="0" lIns="0" bIns="0" rIns="0">
            <a:spAutoFit/>
          </a:bodyPr>
          <a:lstStyle/>
          <a:p>
            <a:pPr algn="l">
              <a:lnSpc>
                <a:spcPts val="5556"/>
              </a:lnSpc>
            </a:pPr>
            <a:r>
              <a:rPr lang="en-US" sz="3969" b="true">
                <a:solidFill>
                  <a:srgbClr val="008037"/>
                </a:solidFill>
                <a:latin typeface="DM Sans Bold"/>
                <a:ea typeface="DM Sans Bold"/>
                <a:cs typeface="DM Sans Bold"/>
                <a:sym typeface="DM Sans Bold"/>
              </a:rPr>
              <a:t>03</a:t>
            </a:r>
          </a:p>
        </p:txBody>
      </p:sp>
      <p:grpSp>
        <p:nvGrpSpPr>
          <p:cNvPr name="Group 22" id="22"/>
          <p:cNvGrpSpPr/>
          <p:nvPr/>
        </p:nvGrpSpPr>
        <p:grpSpPr>
          <a:xfrm rot="0">
            <a:off x="1952625" y="4067175"/>
            <a:ext cx="447675" cy="1724025"/>
            <a:chOff x="0" y="0"/>
            <a:chExt cx="596900" cy="2298700"/>
          </a:xfrm>
        </p:grpSpPr>
        <p:sp>
          <p:nvSpPr>
            <p:cNvPr name="Freeform 23" id="23"/>
            <p:cNvSpPr/>
            <p:nvPr/>
          </p:nvSpPr>
          <p:spPr>
            <a:xfrm flipH="false" flipV="false" rot="0">
              <a:off x="0" y="0"/>
              <a:ext cx="596900" cy="2298700"/>
            </a:xfrm>
            <a:custGeom>
              <a:avLst/>
              <a:gdLst/>
              <a:ahLst/>
              <a:cxnLst/>
              <a:rect r="r" b="b" t="t" l="l"/>
              <a:pathLst>
                <a:path h="2298700" w="596900">
                  <a:moveTo>
                    <a:pt x="0" y="0"/>
                  </a:moveTo>
                  <a:lnTo>
                    <a:pt x="596900" y="0"/>
                  </a:lnTo>
                  <a:lnTo>
                    <a:pt x="596900" y="2298700"/>
                  </a:lnTo>
                  <a:lnTo>
                    <a:pt x="0" y="2298700"/>
                  </a:lnTo>
                  <a:close/>
                </a:path>
              </a:pathLst>
            </a:custGeom>
            <a:blipFill>
              <a:blip r:embed="rId10"/>
              <a:stretch>
                <a:fillRect l="0" t="0" r="0" b="0"/>
              </a:stretch>
            </a:blipFill>
          </p:spPr>
        </p:sp>
      </p:grpSp>
      <p:grpSp>
        <p:nvGrpSpPr>
          <p:cNvPr name="Group 24" id="24"/>
          <p:cNvGrpSpPr/>
          <p:nvPr/>
        </p:nvGrpSpPr>
        <p:grpSpPr>
          <a:xfrm rot="0">
            <a:off x="866775" y="4714875"/>
            <a:ext cx="1095375" cy="1076325"/>
            <a:chOff x="0" y="0"/>
            <a:chExt cx="1460500" cy="1435100"/>
          </a:xfrm>
        </p:grpSpPr>
        <p:sp>
          <p:nvSpPr>
            <p:cNvPr name="Freeform 25" id="25"/>
            <p:cNvSpPr/>
            <p:nvPr/>
          </p:nvSpPr>
          <p:spPr>
            <a:xfrm flipH="false" flipV="false" rot="0">
              <a:off x="0" y="0"/>
              <a:ext cx="1460500" cy="1435100"/>
            </a:xfrm>
            <a:custGeom>
              <a:avLst/>
              <a:gdLst/>
              <a:ahLst/>
              <a:cxnLst/>
              <a:rect r="r" b="b" t="t" l="l"/>
              <a:pathLst>
                <a:path h="1435100" w="1460500">
                  <a:moveTo>
                    <a:pt x="0" y="0"/>
                  </a:moveTo>
                  <a:lnTo>
                    <a:pt x="1460500" y="0"/>
                  </a:lnTo>
                  <a:lnTo>
                    <a:pt x="1460500" y="1435100"/>
                  </a:lnTo>
                  <a:lnTo>
                    <a:pt x="0" y="1435100"/>
                  </a:lnTo>
                  <a:close/>
                </a:path>
              </a:pathLst>
            </a:custGeom>
            <a:blipFill>
              <a:blip r:embed="rId11"/>
              <a:stretch>
                <a:fillRect l="0" t="0" r="0" b="0"/>
              </a:stretch>
            </a:blipFill>
          </p:spPr>
        </p:sp>
      </p:grpSp>
      <p:grpSp>
        <p:nvGrpSpPr>
          <p:cNvPr name="Group 26" id="26"/>
          <p:cNvGrpSpPr/>
          <p:nvPr/>
        </p:nvGrpSpPr>
        <p:grpSpPr>
          <a:xfrm rot="0">
            <a:off x="1085850" y="4714875"/>
            <a:ext cx="657225" cy="857250"/>
            <a:chOff x="0" y="0"/>
            <a:chExt cx="876300" cy="1143000"/>
          </a:xfrm>
        </p:grpSpPr>
        <p:sp>
          <p:nvSpPr>
            <p:cNvPr name="Freeform 27" id="27"/>
            <p:cNvSpPr/>
            <p:nvPr/>
          </p:nvSpPr>
          <p:spPr>
            <a:xfrm flipH="false" flipV="false" rot="0">
              <a:off x="0" y="0"/>
              <a:ext cx="876300" cy="1143000"/>
            </a:xfrm>
            <a:custGeom>
              <a:avLst/>
              <a:gdLst/>
              <a:ahLst/>
              <a:cxnLst/>
              <a:rect r="r" b="b" t="t" l="l"/>
              <a:pathLst>
                <a:path h="1143000" w="876300">
                  <a:moveTo>
                    <a:pt x="0" y="0"/>
                  </a:moveTo>
                  <a:lnTo>
                    <a:pt x="876300" y="0"/>
                  </a:lnTo>
                  <a:lnTo>
                    <a:pt x="876300" y="1143000"/>
                  </a:lnTo>
                  <a:lnTo>
                    <a:pt x="0" y="1143000"/>
                  </a:lnTo>
                  <a:close/>
                </a:path>
              </a:pathLst>
            </a:custGeom>
            <a:blipFill>
              <a:blip r:embed="rId12"/>
              <a:stretch>
                <a:fillRect l="0" t="0" r="0" b="0"/>
              </a:stretch>
            </a:blipFill>
          </p:spPr>
        </p:sp>
      </p:grpSp>
      <p:sp>
        <p:nvSpPr>
          <p:cNvPr name="TextBox 28" id="28"/>
          <p:cNvSpPr txBox="true"/>
          <p:nvPr/>
        </p:nvSpPr>
        <p:spPr>
          <a:xfrm rot="0">
            <a:off x="2542032" y="4098810"/>
            <a:ext cx="1810512" cy="322302"/>
          </a:xfrm>
          <a:prstGeom prst="rect">
            <a:avLst/>
          </a:prstGeom>
        </p:spPr>
        <p:txBody>
          <a:bodyPr anchor="t" rtlCol="false" tIns="0" lIns="0" bIns="0" rIns="0">
            <a:spAutoFit/>
          </a:bodyPr>
          <a:lstStyle/>
          <a:p>
            <a:pPr algn="l">
              <a:lnSpc>
                <a:spcPts val="2710"/>
              </a:lnSpc>
            </a:pPr>
            <a:r>
              <a:rPr lang="en-US" sz="1935" b="true">
                <a:solidFill>
                  <a:srgbClr val="222222"/>
                </a:solidFill>
                <a:latin typeface="DM Sans Bold"/>
                <a:ea typeface="DM Sans Bold"/>
                <a:cs typeface="DM Sans Bold"/>
                <a:sym typeface="DM Sans Bold"/>
              </a:rPr>
              <a:t>Format tanggal</a:t>
            </a:r>
          </a:p>
        </p:txBody>
      </p:sp>
      <p:sp>
        <p:nvSpPr>
          <p:cNvPr name="TextBox 29" id="29"/>
          <p:cNvSpPr txBox="true"/>
          <p:nvPr/>
        </p:nvSpPr>
        <p:spPr>
          <a:xfrm rot="0">
            <a:off x="2542032" y="4555983"/>
            <a:ext cx="4498848" cy="1270665"/>
          </a:xfrm>
          <a:prstGeom prst="rect">
            <a:avLst/>
          </a:prstGeom>
        </p:spPr>
        <p:txBody>
          <a:bodyPr anchor="t" rtlCol="false" tIns="0" lIns="0" bIns="0" rIns="0">
            <a:spAutoFit/>
          </a:bodyPr>
          <a:lstStyle/>
          <a:p>
            <a:pPr algn="l">
              <a:lnSpc>
                <a:spcPts val="2098"/>
              </a:lnSpc>
            </a:pPr>
            <a:r>
              <a:rPr lang="en-US" sz="1399" b="true">
                <a:solidFill>
                  <a:srgbClr val="222222"/>
                </a:solidFill>
                <a:latin typeface="DM Sans Bold"/>
                <a:ea typeface="DM Sans Bold"/>
                <a:cs typeface="DM Sans Bold"/>
                <a:sym typeface="DM Sans Bold"/>
              </a:rPr>
              <a:t>• TUJUAN:</a:t>
            </a:r>
            <a:r>
              <a:rPr lang="en-US" sz="1399">
                <a:solidFill>
                  <a:srgbClr val="222222"/>
                </a:solidFill>
                <a:latin typeface="DM Sans"/>
                <a:ea typeface="DM Sans"/>
                <a:cs typeface="DM Sans"/>
                <a:sym typeface="DM Sans"/>
              </a:rPr>
              <a:t> tanggal siap untuk analisis waktu &amp; durasi.</a:t>
            </a:r>
          </a:p>
          <a:p>
            <a:pPr algn="l">
              <a:lnSpc>
                <a:spcPts val="2098"/>
              </a:lnSpc>
            </a:pPr>
            <a:r>
              <a:rPr lang="en-US" sz="1399" b="true">
                <a:solidFill>
                  <a:srgbClr val="222222"/>
                </a:solidFill>
                <a:latin typeface="DM Sans Bold"/>
                <a:ea typeface="DM Sans Bold"/>
                <a:cs typeface="DM Sans Bold"/>
                <a:sym typeface="DM Sans Bold"/>
              </a:rPr>
              <a:t>• PROSES:</a:t>
            </a:r>
            <a:r>
              <a:rPr lang="en-US" sz="1399">
                <a:solidFill>
                  <a:srgbClr val="222222"/>
                </a:solidFill>
                <a:latin typeface="DM Sans"/>
                <a:ea typeface="DM Sans"/>
                <a:cs typeface="DM Sans"/>
                <a:sym typeface="DM Sans"/>
              </a:rPr>
              <a:t> konversi &amp; error handling: tanggal gagal → kosong struktur.</a:t>
            </a:r>
          </a:p>
          <a:p>
            <a:pPr algn="l">
              <a:lnSpc>
                <a:spcPts val="2098"/>
              </a:lnSpc>
            </a:pPr>
            <a:r>
              <a:rPr lang="en-US" sz="1399" b="true">
                <a:solidFill>
                  <a:srgbClr val="222222"/>
                </a:solidFill>
                <a:latin typeface="DM Sans Bold"/>
                <a:ea typeface="DM Sans Bold"/>
                <a:cs typeface="DM Sans Bold"/>
                <a:sym typeface="DM Sans Bold"/>
              </a:rPr>
              <a:t>• HASIL:</a:t>
            </a:r>
            <a:r>
              <a:rPr lang="en-US" sz="1399">
                <a:solidFill>
                  <a:srgbClr val="222222"/>
                </a:solidFill>
                <a:latin typeface="DM Sans"/>
                <a:ea typeface="DM Sans"/>
                <a:cs typeface="DM Sans"/>
                <a:sym typeface="DM Sans"/>
              </a:rPr>
              <a:t> bandingkan jumlah perubahan sebelum/sesudah.</a:t>
            </a:r>
          </a:p>
        </p:txBody>
      </p:sp>
      <p:grpSp>
        <p:nvGrpSpPr>
          <p:cNvPr name="Group 30" id="30"/>
          <p:cNvGrpSpPr/>
          <p:nvPr/>
        </p:nvGrpSpPr>
        <p:grpSpPr>
          <a:xfrm rot="0">
            <a:off x="647700" y="6000750"/>
            <a:ext cx="8496300" cy="2362200"/>
            <a:chOff x="0" y="0"/>
            <a:chExt cx="11328400" cy="3149600"/>
          </a:xfrm>
        </p:grpSpPr>
        <p:sp>
          <p:nvSpPr>
            <p:cNvPr name="Freeform 31" id="31"/>
            <p:cNvSpPr/>
            <p:nvPr/>
          </p:nvSpPr>
          <p:spPr>
            <a:xfrm flipH="false" flipV="false" rot="0">
              <a:off x="0" y="0"/>
              <a:ext cx="11328400" cy="3149600"/>
            </a:xfrm>
            <a:custGeom>
              <a:avLst/>
              <a:gdLst/>
              <a:ahLst/>
              <a:cxnLst/>
              <a:rect r="r" b="b" t="t" l="l"/>
              <a:pathLst>
                <a:path h="3149600" w="11328400">
                  <a:moveTo>
                    <a:pt x="0" y="0"/>
                  </a:moveTo>
                  <a:lnTo>
                    <a:pt x="11328400" y="0"/>
                  </a:lnTo>
                  <a:lnTo>
                    <a:pt x="11328400" y="3149600"/>
                  </a:lnTo>
                  <a:lnTo>
                    <a:pt x="0" y="3149600"/>
                  </a:lnTo>
                  <a:close/>
                </a:path>
              </a:pathLst>
            </a:custGeom>
            <a:blipFill>
              <a:blip r:embed="rId13"/>
              <a:stretch>
                <a:fillRect l="0" t="0" r="0" b="0"/>
              </a:stretch>
            </a:blipFill>
          </p:spPr>
        </p:sp>
      </p:grpSp>
      <p:sp>
        <p:nvSpPr>
          <p:cNvPr name="TextBox 32" id="32"/>
          <p:cNvSpPr txBox="true"/>
          <p:nvPr/>
        </p:nvSpPr>
        <p:spPr>
          <a:xfrm rot="0">
            <a:off x="1042416" y="6166908"/>
            <a:ext cx="658368" cy="653713"/>
          </a:xfrm>
          <a:prstGeom prst="rect">
            <a:avLst/>
          </a:prstGeom>
        </p:spPr>
        <p:txBody>
          <a:bodyPr anchor="t" rtlCol="false" tIns="0" lIns="0" bIns="0" rIns="0">
            <a:spAutoFit/>
          </a:bodyPr>
          <a:lstStyle/>
          <a:p>
            <a:pPr algn="l">
              <a:lnSpc>
                <a:spcPts val="5443"/>
              </a:lnSpc>
            </a:pPr>
            <a:r>
              <a:rPr lang="en-US" sz="3888" b="true">
                <a:solidFill>
                  <a:srgbClr val="008037"/>
                </a:solidFill>
                <a:latin typeface="DM Sans Bold"/>
                <a:ea typeface="DM Sans Bold"/>
                <a:cs typeface="DM Sans Bold"/>
                <a:sym typeface="DM Sans Bold"/>
              </a:rPr>
              <a:t>05</a:t>
            </a:r>
          </a:p>
        </p:txBody>
      </p:sp>
      <p:grpSp>
        <p:nvGrpSpPr>
          <p:cNvPr name="Group 33" id="33"/>
          <p:cNvGrpSpPr/>
          <p:nvPr/>
        </p:nvGrpSpPr>
        <p:grpSpPr>
          <a:xfrm rot="0">
            <a:off x="1952625" y="6210300"/>
            <a:ext cx="447675" cy="1724025"/>
            <a:chOff x="0" y="0"/>
            <a:chExt cx="596900" cy="2298700"/>
          </a:xfrm>
        </p:grpSpPr>
        <p:sp>
          <p:nvSpPr>
            <p:cNvPr name="Freeform 34" id="34"/>
            <p:cNvSpPr/>
            <p:nvPr/>
          </p:nvSpPr>
          <p:spPr>
            <a:xfrm flipH="false" flipV="false" rot="0">
              <a:off x="0" y="0"/>
              <a:ext cx="596900" cy="2298700"/>
            </a:xfrm>
            <a:custGeom>
              <a:avLst/>
              <a:gdLst/>
              <a:ahLst/>
              <a:cxnLst/>
              <a:rect r="r" b="b" t="t" l="l"/>
              <a:pathLst>
                <a:path h="2298700" w="596900">
                  <a:moveTo>
                    <a:pt x="0" y="0"/>
                  </a:moveTo>
                  <a:lnTo>
                    <a:pt x="596900" y="0"/>
                  </a:lnTo>
                  <a:lnTo>
                    <a:pt x="596900" y="2298700"/>
                  </a:lnTo>
                  <a:lnTo>
                    <a:pt x="0" y="2298700"/>
                  </a:lnTo>
                  <a:close/>
                </a:path>
              </a:pathLst>
            </a:custGeom>
            <a:blipFill>
              <a:blip r:embed="rId14"/>
              <a:stretch>
                <a:fillRect l="0" t="0" r="0" b="0"/>
              </a:stretch>
            </a:blipFill>
          </p:spPr>
        </p:sp>
      </p:grpSp>
      <p:grpSp>
        <p:nvGrpSpPr>
          <p:cNvPr name="Group 35" id="35"/>
          <p:cNvGrpSpPr/>
          <p:nvPr/>
        </p:nvGrpSpPr>
        <p:grpSpPr>
          <a:xfrm rot="0">
            <a:off x="866775" y="6858000"/>
            <a:ext cx="1095375" cy="1076325"/>
            <a:chOff x="0" y="0"/>
            <a:chExt cx="1460500" cy="1435100"/>
          </a:xfrm>
        </p:grpSpPr>
        <p:sp>
          <p:nvSpPr>
            <p:cNvPr name="Freeform 36" id="36"/>
            <p:cNvSpPr/>
            <p:nvPr/>
          </p:nvSpPr>
          <p:spPr>
            <a:xfrm flipH="false" flipV="false" rot="0">
              <a:off x="0" y="0"/>
              <a:ext cx="1460500" cy="1435100"/>
            </a:xfrm>
            <a:custGeom>
              <a:avLst/>
              <a:gdLst/>
              <a:ahLst/>
              <a:cxnLst/>
              <a:rect r="r" b="b" t="t" l="l"/>
              <a:pathLst>
                <a:path h="1435100" w="1460500">
                  <a:moveTo>
                    <a:pt x="0" y="0"/>
                  </a:moveTo>
                  <a:lnTo>
                    <a:pt x="1460500" y="0"/>
                  </a:lnTo>
                  <a:lnTo>
                    <a:pt x="1460500" y="1435100"/>
                  </a:lnTo>
                  <a:lnTo>
                    <a:pt x="0" y="1435100"/>
                  </a:lnTo>
                  <a:close/>
                </a:path>
              </a:pathLst>
            </a:custGeom>
            <a:blipFill>
              <a:blip r:embed="rId15"/>
              <a:stretch>
                <a:fillRect l="0" t="0" r="0" b="0"/>
              </a:stretch>
            </a:blipFill>
          </p:spPr>
        </p:sp>
      </p:grpSp>
      <p:grpSp>
        <p:nvGrpSpPr>
          <p:cNvPr name="Group 37" id="37"/>
          <p:cNvGrpSpPr/>
          <p:nvPr/>
        </p:nvGrpSpPr>
        <p:grpSpPr>
          <a:xfrm rot="0">
            <a:off x="1085850" y="6858000"/>
            <a:ext cx="657225" cy="857250"/>
            <a:chOff x="0" y="0"/>
            <a:chExt cx="876300" cy="1143000"/>
          </a:xfrm>
        </p:grpSpPr>
        <p:sp>
          <p:nvSpPr>
            <p:cNvPr name="Freeform 38" id="38"/>
            <p:cNvSpPr/>
            <p:nvPr/>
          </p:nvSpPr>
          <p:spPr>
            <a:xfrm flipH="false" flipV="false" rot="0">
              <a:off x="0" y="0"/>
              <a:ext cx="876300" cy="1143000"/>
            </a:xfrm>
            <a:custGeom>
              <a:avLst/>
              <a:gdLst/>
              <a:ahLst/>
              <a:cxnLst/>
              <a:rect r="r" b="b" t="t" l="l"/>
              <a:pathLst>
                <a:path h="1143000" w="876300">
                  <a:moveTo>
                    <a:pt x="0" y="0"/>
                  </a:moveTo>
                  <a:lnTo>
                    <a:pt x="876300" y="0"/>
                  </a:lnTo>
                  <a:lnTo>
                    <a:pt x="876300" y="1143000"/>
                  </a:lnTo>
                  <a:lnTo>
                    <a:pt x="0" y="1143000"/>
                  </a:lnTo>
                  <a:close/>
                </a:path>
              </a:pathLst>
            </a:custGeom>
            <a:blipFill>
              <a:blip r:embed="rId16"/>
              <a:stretch>
                <a:fillRect l="0" t="0" r="0" b="0"/>
              </a:stretch>
            </a:blipFill>
          </p:spPr>
        </p:sp>
      </p:grpSp>
      <p:sp>
        <p:nvSpPr>
          <p:cNvPr name="TextBox 39" id="39"/>
          <p:cNvSpPr txBox="true"/>
          <p:nvPr/>
        </p:nvSpPr>
        <p:spPr>
          <a:xfrm rot="0">
            <a:off x="2542032" y="6192313"/>
            <a:ext cx="1975104" cy="322868"/>
          </a:xfrm>
          <a:prstGeom prst="rect">
            <a:avLst/>
          </a:prstGeom>
        </p:spPr>
        <p:txBody>
          <a:bodyPr anchor="t" rtlCol="false" tIns="0" lIns="0" bIns="0" rIns="0">
            <a:spAutoFit/>
          </a:bodyPr>
          <a:lstStyle/>
          <a:p>
            <a:pPr algn="l">
              <a:lnSpc>
                <a:spcPts val="2679"/>
              </a:lnSpc>
            </a:pPr>
            <a:r>
              <a:rPr lang="en-US" sz="1913" b="true">
                <a:solidFill>
                  <a:srgbClr val="222222"/>
                </a:solidFill>
                <a:latin typeface="DM Sans Bold"/>
                <a:ea typeface="DM Sans Bold"/>
                <a:cs typeface="DM Sans Bold"/>
                <a:sym typeface="DM Sans Bold"/>
              </a:rPr>
              <a:t>Audit sementara</a:t>
            </a:r>
          </a:p>
        </p:txBody>
      </p:sp>
      <p:sp>
        <p:nvSpPr>
          <p:cNvPr name="TextBox 40" id="40"/>
          <p:cNvSpPr txBox="true"/>
          <p:nvPr/>
        </p:nvSpPr>
        <p:spPr>
          <a:xfrm rot="0">
            <a:off x="2542032" y="6538106"/>
            <a:ext cx="4498848" cy="1472654"/>
          </a:xfrm>
          <a:prstGeom prst="rect">
            <a:avLst/>
          </a:prstGeom>
        </p:spPr>
        <p:txBody>
          <a:bodyPr anchor="t" rtlCol="false" tIns="0" lIns="0" bIns="0" rIns="0">
            <a:spAutoFit/>
          </a:bodyPr>
          <a:lstStyle/>
          <a:p>
            <a:pPr algn="l">
              <a:lnSpc>
                <a:spcPts val="2021"/>
              </a:lnSpc>
            </a:pPr>
            <a:r>
              <a:rPr lang="en-US" sz="1347" b="true">
                <a:solidFill>
                  <a:srgbClr val="222222"/>
                </a:solidFill>
                <a:latin typeface="DM Sans Bold"/>
                <a:ea typeface="DM Sans Bold"/>
                <a:cs typeface="DM Sans Bold"/>
                <a:sym typeface="DM Sans Bold"/>
              </a:rPr>
              <a:t>• TUJUAN:</a:t>
            </a:r>
            <a:r>
              <a:rPr lang="en-US" sz="1347">
                <a:solidFill>
                  <a:srgbClr val="222222"/>
                </a:solidFill>
                <a:latin typeface="DM Sans"/>
                <a:ea typeface="DM Sans"/>
                <a:cs typeface="DM Sans"/>
                <a:sym typeface="DM Sans"/>
              </a:rPr>
              <a:t> cek pasca dedupkasi, formatting, nominal &amp; pembayaran.</a:t>
            </a:r>
          </a:p>
          <a:p>
            <a:pPr algn="l">
              <a:lnSpc>
                <a:spcPts val="2021"/>
              </a:lnSpc>
            </a:pPr>
            <a:r>
              <a:rPr lang="en-US" sz="1347" b="true">
                <a:solidFill>
                  <a:srgbClr val="222222"/>
                </a:solidFill>
                <a:latin typeface="DM Sans Bold"/>
                <a:ea typeface="DM Sans Bold"/>
                <a:cs typeface="DM Sans Bold"/>
                <a:sym typeface="DM Sans Bold"/>
              </a:rPr>
              <a:t>• PROSES:</a:t>
            </a:r>
            <a:r>
              <a:rPr lang="en-US" sz="1347">
                <a:solidFill>
                  <a:srgbClr val="222222"/>
                </a:solidFill>
                <a:latin typeface="DM Sans"/>
                <a:ea typeface="DM Sans"/>
                <a:cs typeface="DM Sans"/>
                <a:sym typeface="DM Sans"/>
              </a:rPr>
              <a:t> baris, missing tipe, kategori, duplikat pada users, transactions, deliveries.</a:t>
            </a:r>
          </a:p>
          <a:p>
            <a:pPr algn="l">
              <a:lnSpc>
                <a:spcPts val="2021"/>
              </a:lnSpc>
            </a:pPr>
            <a:r>
              <a:rPr lang="en-US" sz="1347" b="true">
                <a:solidFill>
                  <a:srgbClr val="222222"/>
                </a:solidFill>
                <a:latin typeface="DM Sans Bold"/>
                <a:ea typeface="DM Sans Bold"/>
                <a:cs typeface="DM Sans Bold"/>
                <a:sym typeface="DM Sans Bold"/>
              </a:rPr>
              <a:t>• KEPUTUSAN:</a:t>
            </a:r>
            <a:r>
              <a:rPr lang="en-US" sz="1347">
                <a:solidFill>
                  <a:srgbClr val="222222"/>
                </a:solidFill>
                <a:latin typeface="DM Sans"/>
                <a:ea typeface="DM Sans"/>
                <a:cs typeface="DM Sans"/>
                <a:sym typeface="DM Sans"/>
              </a:rPr>
              <a:t> missing dilaporkan; courier_name dipertahankan, tak diagregasi. Audit final di akhir.</a:t>
            </a:r>
          </a:p>
        </p:txBody>
      </p:sp>
      <p:grpSp>
        <p:nvGrpSpPr>
          <p:cNvPr name="Group 41" id="41"/>
          <p:cNvGrpSpPr/>
          <p:nvPr/>
        </p:nvGrpSpPr>
        <p:grpSpPr>
          <a:xfrm rot="0">
            <a:off x="647700" y="8143875"/>
            <a:ext cx="8496300" cy="2143125"/>
            <a:chOff x="0" y="0"/>
            <a:chExt cx="11328400" cy="2857500"/>
          </a:xfrm>
        </p:grpSpPr>
        <p:sp>
          <p:nvSpPr>
            <p:cNvPr name="Freeform 42" id="42"/>
            <p:cNvSpPr/>
            <p:nvPr/>
          </p:nvSpPr>
          <p:spPr>
            <a:xfrm flipH="false" flipV="false" rot="0">
              <a:off x="0" y="0"/>
              <a:ext cx="11328400" cy="2857500"/>
            </a:xfrm>
            <a:custGeom>
              <a:avLst/>
              <a:gdLst/>
              <a:ahLst/>
              <a:cxnLst/>
              <a:rect r="r" b="b" t="t" l="l"/>
              <a:pathLst>
                <a:path h="2857500" w="11328400">
                  <a:moveTo>
                    <a:pt x="0" y="0"/>
                  </a:moveTo>
                  <a:lnTo>
                    <a:pt x="11328400" y="0"/>
                  </a:lnTo>
                  <a:lnTo>
                    <a:pt x="11328400" y="2857500"/>
                  </a:lnTo>
                  <a:lnTo>
                    <a:pt x="0" y="2857500"/>
                  </a:lnTo>
                  <a:close/>
                </a:path>
              </a:pathLst>
            </a:custGeom>
            <a:blipFill>
              <a:blip r:embed="rId17"/>
              <a:stretch>
                <a:fillRect l="0" t="0" r="0" b="0"/>
              </a:stretch>
            </a:blipFill>
          </p:spPr>
        </p:sp>
      </p:grpSp>
      <p:sp>
        <p:nvSpPr>
          <p:cNvPr name="TextBox 43" id="43"/>
          <p:cNvSpPr txBox="true"/>
          <p:nvPr/>
        </p:nvSpPr>
        <p:spPr>
          <a:xfrm rot="0">
            <a:off x="1042416" y="8281609"/>
            <a:ext cx="621792" cy="662553"/>
          </a:xfrm>
          <a:prstGeom prst="rect">
            <a:avLst/>
          </a:prstGeom>
        </p:spPr>
        <p:txBody>
          <a:bodyPr anchor="t" rtlCol="false" tIns="0" lIns="0" bIns="0" rIns="0">
            <a:spAutoFit/>
          </a:bodyPr>
          <a:lstStyle/>
          <a:p>
            <a:pPr algn="l">
              <a:lnSpc>
                <a:spcPts val="5481"/>
              </a:lnSpc>
            </a:pPr>
            <a:r>
              <a:rPr lang="en-US" sz="3915" b="true">
                <a:solidFill>
                  <a:srgbClr val="008037"/>
                </a:solidFill>
                <a:latin typeface="DM Sans Bold"/>
                <a:ea typeface="DM Sans Bold"/>
                <a:cs typeface="DM Sans Bold"/>
                <a:sym typeface="DM Sans Bold"/>
              </a:rPr>
              <a:t>07</a:t>
            </a:r>
          </a:p>
        </p:txBody>
      </p:sp>
      <p:grpSp>
        <p:nvGrpSpPr>
          <p:cNvPr name="Group 44" id="44"/>
          <p:cNvGrpSpPr/>
          <p:nvPr/>
        </p:nvGrpSpPr>
        <p:grpSpPr>
          <a:xfrm rot="0">
            <a:off x="1952625" y="8353425"/>
            <a:ext cx="447675" cy="1504950"/>
            <a:chOff x="0" y="0"/>
            <a:chExt cx="596900" cy="2006600"/>
          </a:xfrm>
        </p:grpSpPr>
        <p:sp>
          <p:nvSpPr>
            <p:cNvPr name="Freeform 45" id="45"/>
            <p:cNvSpPr/>
            <p:nvPr/>
          </p:nvSpPr>
          <p:spPr>
            <a:xfrm flipH="false" flipV="false" rot="0">
              <a:off x="0" y="0"/>
              <a:ext cx="596900" cy="2006600"/>
            </a:xfrm>
            <a:custGeom>
              <a:avLst/>
              <a:gdLst/>
              <a:ahLst/>
              <a:cxnLst/>
              <a:rect r="r" b="b" t="t" l="l"/>
              <a:pathLst>
                <a:path h="2006600" w="596900">
                  <a:moveTo>
                    <a:pt x="0" y="0"/>
                  </a:moveTo>
                  <a:lnTo>
                    <a:pt x="596900" y="0"/>
                  </a:lnTo>
                  <a:lnTo>
                    <a:pt x="596900" y="2006600"/>
                  </a:lnTo>
                  <a:lnTo>
                    <a:pt x="0" y="2006600"/>
                  </a:lnTo>
                  <a:close/>
                </a:path>
              </a:pathLst>
            </a:custGeom>
            <a:blipFill>
              <a:blip r:embed="rId18"/>
              <a:stretch>
                <a:fillRect l="0" t="0" r="0" b="0"/>
              </a:stretch>
            </a:blipFill>
          </p:spPr>
        </p:sp>
      </p:grpSp>
      <p:grpSp>
        <p:nvGrpSpPr>
          <p:cNvPr name="Group 46" id="46"/>
          <p:cNvGrpSpPr/>
          <p:nvPr/>
        </p:nvGrpSpPr>
        <p:grpSpPr>
          <a:xfrm rot="0">
            <a:off x="866775" y="9001125"/>
            <a:ext cx="1095375" cy="1076325"/>
            <a:chOff x="0" y="0"/>
            <a:chExt cx="1460500" cy="1435100"/>
          </a:xfrm>
        </p:grpSpPr>
        <p:sp>
          <p:nvSpPr>
            <p:cNvPr name="Freeform 47" id="47"/>
            <p:cNvSpPr/>
            <p:nvPr/>
          </p:nvSpPr>
          <p:spPr>
            <a:xfrm flipH="false" flipV="false" rot="0">
              <a:off x="0" y="0"/>
              <a:ext cx="1460500" cy="1435100"/>
            </a:xfrm>
            <a:custGeom>
              <a:avLst/>
              <a:gdLst/>
              <a:ahLst/>
              <a:cxnLst/>
              <a:rect r="r" b="b" t="t" l="l"/>
              <a:pathLst>
                <a:path h="1435100" w="1460500">
                  <a:moveTo>
                    <a:pt x="0" y="0"/>
                  </a:moveTo>
                  <a:lnTo>
                    <a:pt x="1460500" y="0"/>
                  </a:lnTo>
                  <a:lnTo>
                    <a:pt x="1460500" y="1435100"/>
                  </a:lnTo>
                  <a:lnTo>
                    <a:pt x="0" y="1435100"/>
                  </a:lnTo>
                  <a:close/>
                </a:path>
              </a:pathLst>
            </a:custGeom>
            <a:blipFill>
              <a:blip r:embed="rId19"/>
              <a:stretch>
                <a:fillRect l="0" t="0" r="0" b="0"/>
              </a:stretch>
            </a:blipFill>
          </p:spPr>
        </p:sp>
      </p:grpSp>
      <p:grpSp>
        <p:nvGrpSpPr>
          <p:cNvPr name="Group 48" id="48"/>
          <p:cNvGrpSpPr/>
          <p:nvPr/>
        </p:nvGrpSpPr>
        <p:grpSpPr>
          <a:xfrm rot="0">
            <a:off x="1085850" y="9001125"/>
            <a:ext cx="876300" cy="857250"/>
            <a:chOff x="0" y="0"/>
            <a:chExt cx="1168400" cy="1143000"/>
          </a:xfrm>
        </p:grpSpPr>
        <p:sp>
          <p:nvSpPr>
            <p:cNvPr name="Freeform 49" id="49"/>
            <p:cNvSpPr/>
            <p:nvPr/>
          </p:nvSpPr>
          <p:spPr>
            <a:xfrm flipH="false" flipV="false" rot="0">
              <a:off x="0" y="0"/>
              <a:ext cx="1168400" cy="1143000"/>
            </a:xfrm>
            <a:custGeom>
              <a:avLst/>
              <a:gdLst/>
              <a:ahLst/>
              <a:cxnLst/>
              <a:rect r="r" b="b" t="t" l="l"/>
              <a:pathLst>
                <a:path h="1143000" w="1168400">
                  <a:moveTo>
                    <a:pt x="0" y="0"/>
                  </a:moveTo>
                  <a:lnTo>
                    <a:pt x="1168400" y="0"/>
                  </a:lnTo>
                  <a:lnTo>
                    <a:pt x="1168400" y="1143000"/>
                  </a:lnTo>
                  <a:lnTo>
                    <a:pt x="0" y="1143000"/>
                  </a:lnTo>
                  <a:close/>
                </a:path>
              </a:pathLst>
            </a:custGeom>
            <a:blipFill>
              <a:blip r:embed="rId20"/>
              <a:stretch>
                <a:fillRect l="0" t="0" r="0" b="0"/>
              </a:stretch>
            </a:blipFill>
          </p:spPr>
        </p:sp>
      </p:grpSp>
      <p:sp>
        <p:nvSpPr>
          <p:cNvPr name="TextBox 50" id="50"/>
          <p:cNvSpPr txBox="true"/>
          <p:nvPr/>
        </p:nvSpPr>
        <p:spPr>
          <a:xfrm rot="0">
            <a:off x="2542032" y="8378202"/>
            <a:ext cx="1847088" cy="322302"/>
          </a:xfrm>
          <a:prstGeom prst="rect">
            <a:avLst/>
          </a:prstGeom>
        </p:spPr>
        <p:txBody>
          <a:bodyPr anchor="t" rtlCol="false" tIns="0" lIns="0" bIns="0" rIns="0">
            <a:spAutoFit/>
          </a:bodyPr>
          <a:lstStyle/>
          <a:p>
            <a:pPr algn="l">
              <a:lnSpc>
                <a:spcPts val="2710"/>
              </a:lnSpc>
            </a:pPr>
            <a:r>
              <a:rPr lang="en-US" sz="1935" b="true">
                <a:solidFill>
                  <a:srgbClr val="222222"/>
                </a:solidFill>
                <a:latin typeface="DM Sans Bold"/>
                <a:ea typeface="DM Sans Bold"/>
                <a:cs typeface="DM Sans Bold"/>
                <a:sym typeface="DM Sans Bold"/>
              </a:rPr>
              <a:t>Outlier nominal</a:t>
            </a:r>
          </a:p>
        </p:txBody>
      </p:sp>
      <p:sp>
        <p:nvSpPr>
          <p:cNvPr name="TextBox 51" id="51"/>
          <p:cNvSpPr txBox="true"/>
          <p:nvPr/>
        </p:nvSpPr>
        <p:spPr>
          <a:xfrm rot="0">
            <a:off x="2542032" y="8732014"/>
            <a:ext cx="5779008" cy="1271647"/>
          </a:xfrm>
          <a:prstGeom prst="rect">
            <a:avLst/>
          </a:prstGeom>
        </p:spPr>
        <p:txBody>
          <a:bodyPr anchor="t" rtlCol="false" tIns="0" lIns="0" bIns="0" rIns="0">
            <a:spAutoFit/>
          </a:bodyPr>
          <a:lstStyle/>
          <a:p>
            <a:pPr algn="l">
              <a:lnSpc>
                <a:spcPts val="2060"/>
              </a:lnSpc>
            </a:pPr>
            <a:r>
              <a:rPr lang="en-US" sz="1373" b="true">
                <a:solidFill>
                  <a:srgbClr val="222222"/>
                </a:solidFill>
                <a:latin typeface="DM Sans Bold"/>
                <a:ea typeface="DM Sans Bold"/>
                <a:cs typeface="DM Sans Bold"/>
                <a:sym typeface="DM Sans Bold"/>
              </a:rPr>
              <a:t>• TUJUAN:</a:t>
            </a:r>
            <a:r>
              <a:rPr lang="en-US" sz="1373">
                <a:solidFill>
                  <a:srgbClr val="222222"/>
                </a:solidFill>
                <a:latin typeface="DM Sans"/>
                <a:ea typeface="DM Sans"/>
                <a:cs typeface="DM Sans"/>
                <a:sym typeface="DM Sans"/>
              </a:rPr>
              <a:t> kuarang pengaruhi transaksi ekstrem pada GMV &amp; rata-rata order.</a:t>
            </a:r>
          </a:p>
          <a:p>
            <a:pPr algn="l">
              <a:lnSpc>
                <a:spcPts val="2060"/>
              </a:lnSpc>
            </a:pPr>
            <a:r>
              <a:rPr lang="en-US" sz="1373" b="true">
                <a:solidFill>
                  <a:srgbClr val="222222"/>
                </a:solidFill>
                <a:latin typeface="DM Sans Bold"/>
                <a:ea typeface="DM Sans Bold"/>
                <a:cs typeface="DM Sans Bold"/>
                <a:sym typeface="DM Sans Bold"/>
              </a:rPr>
              <a:t>• PROSES:</a:t>
            </a:r>
            <a:r>
              <a:rPr lang="en-US" sz="1373">
                <a:solidFill>
                  <a:srgbClr val="222222"/>
                </a:solidFill>
                <a:latin typeface="DM Sans"/>
                <a:ea typeface="DM Sans"/>
                <a:cs typeface="DM Sans"/>
                <a:sym typeface="DM Sans"/>
              </a:rPr>
              <a:t> hitung kuartil &amp; Q&amp;R; keluarkan transaksi &gt;</a:t>
            </a:r>
          </a:p>
          <a:p>
            <a:pPr algn="l">
              <a:lnSpc>
                <a:spcPts val="2060"/>
              </a:lnSpc>
            </a:pPr>
            <a:r>
              <a:rPr lang="en-US" sz="1373">
                <a:solidFill>
                  <a:srgbClr val="222222"/>
                </a:solidFill>
                <a:latin typeface="DM Sans"/>
                <a:ea typeface="DM Sans"/>
                <a:cs typeface="DM Sans"/>
                <a:sym typeface="DM Sans"/>
              </a:rPr>
              <a:t>Q3 + 1.5 x IQR.</a:t>
            </a:r>
          </a:p>
          <a:p>
            <a:pPr algn="l">
              <a:lnSpc>
                <a:spcPts val="2060"/>
              </a:lnSpc>
            </a:pPr>
            <a:r>
              <a:rPr lang="en-US" sz="1373" b="true">
                <a:solidFill>
                  <a:srgbClr val="222222"/>
                </a:solidFill>
                <a:latin typeface="DM Sans Bold"/>
                <a:ea typeface="DM Sans Bold"/>
                <a:cs typeface="DM Sans Bold"/>
                <a:sym typeface="DM Sans Bold"/>
              </a:rPr>
              <a:t>• HASIL:</a:t>
            </a:r>
            <a:r>
              <a:rPr lang="en-US" sz="1373">
                <a:solidFill>
                  <a:srgbClr val="222222"/>
                </a:solidFill>
                <a:latin typeface="DM Sans"/>
                <a:ea typeface="DM Sans"/>
                <a:cs typeface="DM Sans"/>
                <a:sym typeface="DM Sans"/>
              </a:rPr>
              <a:t> tampilkan jumlah outlier &amp; batas atas untuk audit.</a:t>
            </a:r>
          </a:p>
        </p:txBody>
      </p:sp>
      <p:grpSp>
        <p:nvGrpSpPr>
          <p:cNvPr name="Group 52" id="52"/>
          <p:cNvGrpSpPr/>
          <p:nvPr/>
        </p:nvGrpSpPr>
        <p:grpSpPr>
          <a:xfrm rot="0">
            <a:off x="9144000" y="1495425"/>
            <a:ext cx="8496300" cy="2362200"/>
            <a:chOff x="0" y="0"/>
            <a:chExt cx="11328400" cy="3149600"/>
          </a:xfrm>
        </p:grpSpPr>
        <p:sp>
          <p:nvSpPr>
            <p:cNvPr name="Freeform 53" id="53"/>
            <p:cNvSpPr/>
            <p:nvPr/>
          </p:nvSpPr>
          <p:spPr>
            <a:xfrm flipH="false" flipV="false" rot="0">
              <a:off x="0" y="0"/>
              <a:ext cx="11328400" cy="3149600"/>
            </a:xfrm>
            <a:custGeom>
              <a:avLst/>
              <a:gdLst/>
              <a:ahLst/>
              <a:cxnLst/>
              <a:rect r="r" b="b" t="t" l="l"/>
              <a:pathLst>
                <a:path h="3149600" w="11328400">
                  <a:moveTo>
                    <a:pt x="0" y="0"/>
                  </a:moveTo>
                  <a:lnTo>
                    <a:pt x="11328400" y="0"/>
                  </a:lnTo>
                  <a:lnTo>
                    <a:pt x="11328400" y="3149600"/>
                  </a:lnTo>
                  <a:lnTo>
                    <a:pt x="0" y="3149600"/>
                  </a:lnTo>
                  <a:close/>
                </a:path>
              </a:pathLst>
            </a:custGeom>
            <a:blipFill>
              <a:blip r:embed="rId21"/>
              <a:stretch>
                <a:fillRect l="0" t="0" r="0" b="0"/>
              </a:stretch>
            </a:blipFill>
          </p:spPr>
        </p:sp>
      </p:grpSp>
      <p:sp>
        <p:nvSpPr>
          <p:cNvPr name="TextBox 54" id="54"/>
          <p:cNvSpPr txBox="true"/>
          <p:nvPr/>
        </p:nvSpPr>
        <p:spPr>
          <a:xfrm rot="0">
            <a:off x="9528048" y="1777252"/>
            <a:ext cx="658368" cy="679549"/>
          </a:xfrm>
          <a:prstGeom prst="rect">
            <a:avLst/>
          </a:prstGeom>
        </p:spPr>
        <p:txBody>
          <a:bodyPr anchor="t" rtlCol="false" tIns="0" lIns="0" bIns="0" rIns="0">
            <a:spAutoFit/>
          </a:bodyPr>
          <a:lstStyle/>
          <a:p>
            <a:pPr algn="l">
              <a:lnSpc>
                <a:spcPts val="5594"/>
              </a:lnSpc>
            </a:pPr>
            <a:r>
              <a:rPr lang="en-US" sz="3996" b="true">
                <a:solidFill>
                  <a:srgbClr val="008037"/>
                </a:solidFill>
                <a:latin typeface="DM Sans Bold"/>
                <a:ea typeface="DM Sans Bold"/>
                <a:cs typeface="DM Sans Bold"/>
                <a:sym typeface="DM Sans Bold"/>
              </a:rPr>
              <a:t>02</a:t>
            </a:r>
          </a:p>
        </p:txBody>
      </p:sp>
      <p:grpSp>
        <p:nvGrpSpPr>
          <p:cNvPr name="Group 55" id="55"/>
          <p:cNvGrpSpPr/>
          <p:nvPr/>
        </p:nvGrpSpPr>
        <p:grpSpPr>
          <a:xfrm rot="0">
            <a:off x="10668000" y="1924050"/>
            <a:ext cx="219075" cy="1724025"/>
            <a:chOff x="0" y="0"/>
            <a:chExt cx="292100" cy="2298700"/>
          </a:xfrm>
        </p:grpSpPr>
        <p:sp>
          <p:nvSpPr>
            <p:cNvPr name="Freeform 56" id="56"/>
            <p:cNvSpPr/>
            <p:nvPr/>
          </p:nvSpPr>
          <p:spPr>
            <a:xfrm flipH="false" flipV="false" rot="0">
              <a:off x="0" y="0"/>
              <a:ext cx="292100" cy="2298700"/>
            </a:xfrm>
            <a:custGeom>
              <a:avLst/>
              <a:gdLst/>
              <a:ahLst/>
              <a:cxnLst/>
              <a:rect r="r" b="b" t="t" l="l"/>
              <a:pathLst>
                <a:path h="2298700" w="292100">
                  <a:moveTo>
                    <a:pt x="0" y="0"/>
                  </a:moveTo>
                  <a:lnTo>
                    <a:pt x="292100" y="0"/>
                  </a:lnTo>
                  <a:lnTo>
                    <a:pt x="292100" y="2298700"/>
                  </a:lnTo>
                  <a:lnTo>
                    <a:pt x="0" y="2298700"/>
                  </a:lnTo>
                  <a:close/>
                </a:path>
              </a:pathLst>
            </a:custGeom>
            <a:blipFill>
              <a:blip r:embed="rId22"/>
              <a:stretch>
                <a:fillRect l="0" t="0" r="0" b="0"/>
              </a:stretch>
            </a:blipFill>
          </p:spPr>
        </p:sp>
      </p:grpSp>
      <p:grpSp>
        <p:nvGrpSpPr>
          <p:cNvPr name="Group 57" id="57"/>
          <p:cNvGrpSpPr/>
          <p:nvPr/>
        </p:nvGrpSpPr>
        <p:grpSpPr>
          <a:xfrm rot="0">
            <a:off x="9353550" y="2352675"/>
            <a:ext cx="1104900" cy="1076325"/>
            <a:chOff x="0" y="0"/>
            <a:chExt cx="1473200" cy="1435100"/>
          </a:xfrm>
        </p:grpSpPr>
        <p:sp>
          <p:nvSpPr>
            <p:cNvPr name="Freeform 58" id="58"/>
            <p:cNvSpPr/>
            <p:nvPr/>
          </p:nvSpPr>
          <p:spPr>
            <a:xfrm flipH="false" flipV="false" rot="0">
              <a:off x="0" y="0"/>
              <a:ext cx="1473200" cy="1435100"/>
            </a:xfrm>
            <a:custGeom>
              <a:avLst/>
              <a:gdLst/>
              <a:ahLst/>
              <a:cxnLst/>
              <a:rect r="r" b="b" t="t" l="l"/>
              <a:pathLst>
                <a:path h="1435100" w="1473200">
                  <a:moveTo>
                    <a:pt x="0" y="0"/>
                  </a:moveTo>
                  <a:lnTo>
                    <a:pt x="1473200" y="0"/>
                  </a:lnTo>
                  <a:lnTo>
                    <a:pt x="1473200" y="1435100"/>
                  </a:lnTo>
                  <a:lnTo>
                    <a:pt x="0" y="1435100"/>
                  </a:lnTo>
                  <a:close/>
                </a:path>
              </a:pathLst>
            </a:custGeom>
            <a:blipFill>
              <a:blip r:embed="rId23"/>
              <a:stretch>
                <a:fillRect l="0" t="0" r="0" b="0"/>
              </a:stretch>
            </a:blipFill>
          </p:spPr>
        </p:sp>
      </p:grpSp>
      <p:grpSp>
        <p:nvGrpSpPr>
          <p:cNvPr name="Group 59" id="59"/>
          <p:cNvGrpSpPr/>
          <p:nvPr/>
        </p:nvGrpSpPr>
        <p:grpSpPr>
          <a:xfrm rot="0">
            <a:off x="9572625" y="2571750"/>
            <a:ext cx="666750" cy="857250"/>
            <a:chOff x="0" y="0"/>
            <a:chExt cx="889000" cy="1143000"/>
          </a:xfrm>
        </p:grpSpPr>
        <p:sp>
          <p:nvSpPr>
            <p:cNvPr name="Freeform 60" id="60"/>
            <p:cNvSpPr/>
            <p:nvPr/>
          </p:nvSpPr>
          <p:spPr>
            <a:xfrm flipH="false" flipV="false" rot="0">
              <a:off x="0" y="0"/>
              <a:ext cx="889000" cy="1143000"/>
            </a:xfrm>
            <a:custGeom>
              <a:avLst/>
              <a:gdLst/>
              <a:ahLst/>
              <a:cxnLst/>
              <a:rect r="r" b="b" t="t" l="l"/>
              <a:pathLst>
                <a:path h="1143000" w="889000">
                  <a:moveTo>
                    <a:pt x="0" y="0"/>
                  </a:moveTo>
                  <a:lnTo>
                    <a:pt x="889000" y="0"/>
                  </a:lnTo>
                  <a:lnTo>
                    <a:pt x="889000" y="1143000"/>
                  </a:lnTo>
                  <a:lnTo>
                    <a:pt x="0" y="1143000"/>
                  </a:lnTo>
                  <a:close/>
                </a:path>
              </a:pathLst>
            </a:custGeom>
            <a:blipFill>
              <a:blip r:embed="rId24"/>
              <a:stretch>
                <a:fillRect l="0" t="0" r="0" b="0"/>
              </a:stretch>
            </a:blipFill>
          </p:spPr>
        </p:sp>
      </p:grpSp>
      <p:sp>
        <p:nvSpPr>
          <p:cNvPr name="TextBox 61" id="61"/>
          <p:cNvSpPr txBox="true"/>
          <p:nvPr/>
        </p:nvSpPr>
        <p:spPr>
          <a:xfrm rot="0">
            <a:off x="11082528" y="1802419"/>
            <a:ext cx="1060704" cy="349181"/>
          </a:xfrm>
          <a:prstGeom prst="rect">
            <a:avLst/>
          </a:prstGeom>
        </p:spPr>
        <p:txBody>
          <a:bodyPr anchor="t" rtlCol="false" tIns="0" lIns="0" bIns="0" rIns="0">
            <a:spAutoFit/>
          </a:bodyPr>
          <a:lstStyle/>
          <a:p>
            <a:pPr algn="l">
              <a:lnSpc>
                <a:spcPts val="2803"/>
              </a:lnSpc>
            </a:pPr>
            <a:r>
              <a:rPr lang="en-US" sz="2002" b="true">
                <a:solidFill>
                  <a:srgbClr val="222222"/>
                </a:solidFill>
                <a:latin typeface="DM Sans Bold"/>
                <a:ea typeface="DM Sans Bold"/>
                <a:cs typeface="DM Sans Bold"/>
                <a:sym typeface="DM Sans Bold"/>
              </a:rPr>
              <a:t>Duplikat</a:t>
            </a:r>
          </a:p>
        </p:txBody>
      </p:sp>
      <p:sp>
        <p:nvSpPr>
          <p:cNvPr name="TextBox 62" id="62"/>
          <p:cNvSpPr txBox="true"/>
          <p:nvPr/>
        </p:nvSpPr>
        <p:spPr>
          <a:xfrm rot="0">
            <a:off x="11082528" y="2217566"/>
            <a:ext cx="4590288" cy="1472654"/>
          </a:xfrm>
          <a:prstGeom prst="rect">
            <a:avLst/>
          </a:prstGeom>
        </p:spPr>
        <p:txBody>
          <a:bodyPr anchor="t" rtlCol="false" tIns="0" lIns="0" bIns="0" rIns="0">
            <a:spAutoFit/>
          </a:bodyPr>
          <a:lstStyle/>
          <a:p>
            <a:pPr algn="l">
              <a:lnSpc>
                <a:spcPts val="2021"/>
              </a:lnSpc>
            </a:pPr>
            <a:r>
              <a:rPr lang="en-US" sz="1347" b="true">
                <a:solidFill>
                  <a:srgbClr val="222222"/>
                </a:solidFill>
                <a:latin typeface="DM Sans Bold"/>
                <a:ea typeface="DM Sans Bold"/>
                <a:cs typeface="DM Sans Bold"/>
                <a:sym typeface="DM Sans Bold"/>
              </a:rPr>
              <a:t>• TUJUAN:</a:t>
            </a:r>
            <a:r>
              <a:rPr lang="en-US" sz="1347">
                <a:solidFill>
                  <a:srgbClr val="222222"/>
                </a:solidFill>
                <a:latin typeface="DM Sans"/>
                <a:ea typeface="DM Sans"/>
                <a:cs typeface="DM Sans"/>
                <a:sym typeface="DM Sans"/>
              </a:rPr>
              <a:t> record unik via key utama; menggandakan transaksi.</a:t>
            </a:r>
          </a:p>
          <a:p>
            <a:pPr algn="l">
              <a:lnSpc>
                <a:spcPts val="2021"/>
              </a:lnSpc>
            </a:pPr>
            <a:r>
              <a:rPr lang="en-US" sz="1347" b="true">
                <a:solidFill>
                  <a:srgbClr val="222222"/>
                </a:solidFill>
                <a:latin typeface="DM Sans Bold"/>
                <a:ea typeface="DM Sans Bold"/>
                <a:cs typeface="DM Sans Bold"/>
                <a:sym typeface="DM Sans Bold"/>
              </a:rPr>
              <a:t>• PROSES:</a:t>
            </a:r>
            <a:r>
              <a:rPr lang="en-US" sz="1347">
                <a:solidFill>
                  <a:srgbClr val="222222"/>
                </a:solidFill>
                <a:latin typeface="DM Sans"/>
                <a:ea typeface="DM Sans"/>
                <a:cs typeface="DM Sans"/>
                <a:sym typeface="DM Sans"/>
              </a:rPr>
              <a:t> deduplikasi user_id (users); order_id (transactions; deliveries).</a:t>
            </a:r>
          </a:p>
          <a:p>
            <a:pPr algn="l">
              <a:lnSpc>
                <a:spcPts val="2021"/>
              </a:lnSpc>
            </a:pPr>
            <a:r>
              <a:rPr lang="en-US" sz="1347" b="true">
                <a:solidFill>
                  <a:srgbClr val="222222"/>
                </a:solidFill>
                <a:latin typeface="DM Sans Bold"/>
                <a:ea typeface="DM Sans Bold"/>
                <a:cs typeface="DM Sans Bold"/>
                <a:sym typeface="DM Sans Bold"/>
              </a:rPr>
              <a:t>• HASIL:</a:t>
            </a:r>
            <a:r>
              <a:rPr lang="en-US" sz="1347">
                <a:solidFill>
                  <a:srgbClr val="222222"/>
                </a:solidFill>
                <a:latin typeface="DM Sans"/>
                <a:ea typeface="DM Sans"/>
                <a:cs typeface="DM Sans"/>
                <a:sym typeface="DM Sans"/>
              </a:rPr>
              <a:t> bandingkan baris sebelum/sesudah dalam laporan cleaning.</a:t>
            </a:r>
          </a:p>
        </p:txBody>
      </p:sp>
      <p:grpSp>
        <p:nvGrpSpPr>
          <p:cNvPr name="Group 63" id="63"/>
          <p:cNvGrpSpPr/>
          <p:nvPr/>
        </p:nvGrpSpPr>
        <p:grpSpPr>
          <a:xfrm rot="0">
            <a:off x="9144000" y="3857625"/>
            <a:ext cx="8496300" cy="2362200"/>
            <a:chOff x="0" y="0"/>
            <a:chExt cx="11328400" cy="3149600"/>
          </a:xfrm>
        </p:grpSpPr>
        <p:sp>
          <p:nvSpPr>
            <p:cNvPr name="Freeform 64" id="64"/>
            <p:cNvSpPr/>
            <p:nvPr/>
          </p:nvSpPr>
          <p:spPr>
            <a:xfrm flipH="false" flipV="false" rot="0">
              <a:off x="0" y="0"/>
              <a:ext cx="11328400" cy="3149600"/>
            </a:xfrm>
            <a:custGeom>
              <a:avLst/>
              <a:gdLst/>
              <a:ahLst/>
              <a:cxnLst/>
              <a:rect r="r" b="b" t="t" l="l"/>
              <a:pathLst>
                <a:path h="3149600" w="11328400">
                  <a:moveTo>
                    <a:pt x="0" y="0"/>
                  </a:moveTo>
                  <a:lnTo>
                    <a:pt x="11328400" y="0"/>
                  </a:lnTo>
                  <a:lnTo>
                    <a:pt x="11328400" y="3149600"/>
                  </a:lnTo>
                  <a:lnTo>
                    <a:pt x="0" y="3149600"/>
                  </a:lnTo>
                  <a:close/>
                </a:path>
              </a:pathLst>
            </a:custGeom>
            <a:blipFill>
              <a:blip r:embed="rId25"/>
              <a:stretch>
                <a:fillRect l="0" t="0" r="0" b="0"/>
              </a:stretch>
            </a:blipFill>
          </p:spPr>
        </p:sp>
      </p:grpSp>
      <p:sp>
        <p:nvSpPr>
          <p:cNvPr name="TextBox 65" id="65"/>
          <p:cNvSpPr txBox="true"/>
          <p:nvPr/>
        </p:nvSpPr>
        <p:spPr>
          <a:xfrm rot="0">
            <a:off x="9528048" y="4021003"/>
            <a:ext cx="658368" cy="645557"/>
          </a:xfrm>
          <a:prstGeom prst="rect">
            <a:avLst/>
          </a:prstGeom>
        </p:spPr>
        <p:txBody>
          <a:bodyPr anchor="t" rtlCol="false" tIns="0" lIns="0" bIns="0" rIns="0">
            <a:spAutoFit/>
          </a:bodyPr>
          <a:lstStyle/>
          <a:p>
            <a:pPr algn="l">
              <a:lnSpc>
                <a:spcPts val="5368"/>
              </a:lnSpc>
            </a:pPr>
            <a:r>
              <a:rPr lang="en-US" sz="3834" b="true">
                <a:solidFill>
                  <a:srgbClr val="008037"/>
                </a:solidFill>
                <a:latin typeface="DM Sans Bold"/>
                <a:ea typeface="DM Sans Bold"/>
                <a:cs typeface="DM Sans Bold"/>
                <a:sym typeface="DM Sans Bold"/>
              </a:rPr>
              <a:t>04</a:t>
            </a:r>
          </a:p>
        </p:txBody>
      </p:sp>
      <p:grpSp>
        <p:nvGrpSpPr>
          <p:cNvPr name="Group 66" id="66"/>
          <p:cNvGrpSpPr/>
          <p:nvPr/>
        </p:nvGrpSpPr>
        <p:grpSpPr>
          <a:xfrm rot="0">
            <a:off x="10668000" y="4067175"/>
            <a:ext cx="219075" cy="1724025"/>
            <a:chOff x="0" y="0"/>
            <a:chExt cx="292100" cy="2298700"/>
          </a:xfrm>
        </p:grpSpPr>
        <p:sp>
          <p:nvSpPr>
            <p:cNvPr name="Freeform 67" id="67"/>
            <p:cNvSpPr/>
            <p:nvPr/>
          </p:nvSpPr>
          <p:spPr>
            <a:xfrm flipH="false" flipV="false" rot="0">
              <a:off x="0" y="0"/>
              <a:ext cx="292100" cy="2298700"/>
            </a:xfrm>
            <a:custGeom>
              <a:avLst/>
              <a:gdLst/>
              <a:ahLst/>
              <a:cxnLst/>
              <a:rect r="r" b="b" t="t" l="l"/>
              <a:pathLst>
                <a:path h="2298700" w="292100">
                  <a:moveTo>
                    <a:pt x="0" y="0"/>
                  </a:moveTo>
                  <a:lnTo>
                    <a:pt x="292100" y="0"/>
                  </a:lnTo>
                  <a:lnTo>
                    <a:pt x="292100" y="2298700"/>
                  </a:lnTo>
                  <a:lnTo>
                    <a:pt x="0" y="2298700"/>
                  </a:lnTo>
                  <a:close/>
                </a:path>
              </a:pathLst>
            </a:custGeom>
            <a:blipFill>
              <a:blip r:embed="rId26"/>
              <a:stretch>
                <a:fillRect l="0" t="0" r="0" b="0"/>
              </a:stretch>
            </a:blipFill>
          </p:spPr>
        </p:sp>
      </p:grpSp>
      <p:grpSp>
        <p:nvGrpSpPr>
          <p:cNvPr name="Group 68" id="68"/>
          <p:cNvGrpSpPr/>
          <p:nvPr/>
        </p:nvGrpSpPr>
        <p:grpSpPr>
          <a:xfrm rot="0">
            <a:off x="9353550" y="4714875"/>
            <a:ext cx="1104900" cy="1076325"/>
            <a:chOff x="0" y="0"/>
            <a:chExt cx="1473200" cy="1435100"/>
          </a:xfrm>
        </p:grpSpPr>
        <p:sp>
          <p:nvSpPr>
            <p:cNvPr name="Freeform 69" id="69"/>
            <p:cNvSpPr/>
            <p:nvPr/>
          </p:nvSpPr>
          <p:spPr>
            <a:xfrm flipH="false" flipV="false" rot="0">
              <a:off x="0" y="0"/>
              <a:ext cx="1473200" cy="1435100"/>
            </a:xfrm>
            <a:custGeom>
              <a:avLst/>
              <a:gdLst/>
              <a:ahLst/>
              <a:cxnLst/>
              <a:rect r="r" b="b" t="t" l="l"/>
              <a:pathLst>
                <a:path h="1435100" w="1473200">
                  <a:moveTo>
                    <a:pt x="0" y="0"/>
                  </a:moveTo>
                  <a:lnTo>
                    <a:pt x="1473200" y="0"/>
                  </a:lnTo>
                  <a:lnTo>
                    <a:pt x="1473200" y="1435100"/>
                  </a:lnTo>
                  <a:lnTo>
                    <a:pt x="0" y="1435100"/>
                  </a:lnTo>
                  <a:close/>
                </a:path>
              </a:pathLst>
            </a:custGeom>
            <a:blipFill>
              <a:blip r:embed="rId27"/>
              <a:stretch>
                <a:fillRect l="0" t="0" r="0" b="0"/>
              </a:stretch>
            </a:blipFill>
          </p:spPr>
        </p:sp>
      </p:grpSp>
      <p:grpSp>
        <p:nvGrpSpPr>
          <p:cNvPr name="Group 70" id="70"/>
          <p:cNvGrpSpPr/>
          <p:nvPr/>
        </p:nvGrpSpPr>
        <p:grpSpPr>
          <a:xfrm rot="0">
            <a:off x="9572625" y="4924425"/>
            <a:ext cx="885825" cy="647700"/>
            <a:chOff x="0" y="0"/>
            <a:chExt cx="1181100" cy="863600"/>
          </a:xfrm>
        </p:grpSpPr>
        <p:sp>
          <p:nvSpPr>
            <p:cNvPr name="Freeform 71" id="71"/>
            <p:cNvSpPr/>
            <p:nvPr/>
          </p:nvSpPr>
          <p:spPr>
            <a:xfrm flipH="false" flipV="false" rot="0">
              <a:off x="0" y="0"/>
              <a:ext cx="1181100" cy="863600"/>
            </a:xfrm>
            <a:custGeom>
              <a:avLst/>
              <a:gdLst/>
              <a:ahLst/>
              <a:cxnLst/>
              <a:rect r="r" b="b" t="t" l="l"/>
              <a:pathLst>
                <a:path h="863600" w="1181100">
                  <a:moveTo>
                    <a:pt x="0" y="0"/>
                  </a:moveTo>
                  <a:lnTo>
                    <a:pt x="1181100" y="0"/>
                  </a:lnTo>
                  <a:lnTo>
                    <a:pt x="1181100" y="863600"/>
                  </a:lnTo>
                  <a:lnTo>
                    <a:pt x="0" y="863600"/>
                  </a:lnTo>
                  <a:close/>
                </a:path>
              </a:pathLst>
            </a:custGeom>
            <a:blipFill>
              <a:blip r:embed="rId28"/>
              <a:stretch>
                <a:fillRect l="0" t="0" r="0" b="0"/>
              </a:stretch>
            </a:blipFill>
          </p:spPr>
        </p:sp>
      </p:grpSp>
      <p:sp>
        <p:nvSpPr>
          <p:cNvPr name="TextBox 72" id="72"/>
          <p:cNvSpPr txBox="true"/>
          <p:nvPr/>
        </p:nvSpPr>
        <p:spPr>
          <a:xfrm rot="0">
            <a:off x="11082528" y="4093765"/>
            <a:ext cx="2487168" cy="322868"/>
          </a:xfrm>
          <a:prstGeom prst="rect">
            <a:avLst/>
          </a:prstGeom>
        </p:spPr>
        <p:txBody>
          <a:bodyPr anchor="t" rtlCol="false" tIns="0" lIns="0" bIns="0" rIns="0">
            <a:spAutoFit/>
          </a:bodyPr>
          <a:lstStyle/>
          <a:p>
            <a:pPr algn="l">
              <a:lnSpc>
                <a:spcPts val="2679"/>
              </a:lnSpc>
            </a:pPr>
            <a:r>
              <a:rPr lang="en-US" sz="1913" b="true">
                <a:solidFill>
                  <a:srgbClr val="222222"/>
                </a:solidFill>
                <a:latin typeface="DM Sans Bold"/>
                <a:ea typeface="DM Sans Bold"/>
                <a:cs typeface="DM Sans Bold"/>
                <a:sym typeface="DM Sans Bold"/>
              </a:rPr>
              <a:t>Metode pembayaran</a:t>
            </a:r>
          </a:p>
        </p:txBody>
      </p:sp>
      <p:sp>
        <p:nvSpPr>
          <p:cNvPr name="TextBox 73" id="73"/>
          <p:cNvSpPr txBox="true"/>
          <p:nvPr/>
        </p:nvSpPr>
        <p:spPr>
          <a:xfrm rot="0">
            <a:off x="11082528" y="4555983"/>
            <a:ext cx="4407408" cy="1270665"/>
          </a:xfrm>
          <a:prstGeom prst="rect">
            <a:avLst/>
          </a:prstGeom>
        </p:spPr>
        <p:txBody>
          <a:bodyPr anchor="t" rtlCol="false" tIns="0" lIns="0" bIns="0" rIns="0">
            <a:spAutoFit/>
          </a:bodyPr>
          <a:lstStyle/>
          <a:p>
            <a:pPr algn="l">
              <a:lnSpc>
                <a:spcPts val="2098"/>
              </a:lnSpc>
            </a:pPr>
            <a:r>
              <a:rPr lang="en-US" sz="1399" b="true">
                <a:solidFill>
                  <a:srgbClr val="222222"/>
                </a:solidFill>
                <a:latin typeface="DM Sans Bold"/>
                <a:ea typeface="DM Sans Bold"/>
                <a:cs typeface="DM Sans Bold"/>
                <a:sym typeface="DM Sans Bold"/>
              </a:rPr>
              <a:t>• TUJUAN:</a:t>
            </a:r>
            <a:r>
              <a:rPr lang="en-US" sz="1399">
                <a:solidFill>
                  <a:srgbClr val="222222"/>
                </a:solidFill>
                <a:latin typeface="DM Sans"/>
                <a:ea typeface="DM Sans"/>
                <a:cs typeface="DM Sans"/>
                <a:sym typeface="DM Sans"/>
              </a:rPr>
              <a:t> kanal sama tidak terpecah saat agregasi.</a:t>
            </a:r>
          </a:p>
          <a:p>
            <a:pPr algn="l">
              <a:lnSpc>
                <a:spcPts val="2098"/>
              </a:lnSpc>
            </a:pPr>
            <a:r>
              <a:rPr lang="en-US" sz="1399" b="true">
                <a:solidFill>
                  <a:srgbClr val="222222"/>
                </a:solidFill>
                <a:latin typeface="DM Sans Bold"/>
                <a:ea typeface="DM Sans Bold"/>
                <a:cs typeface="DM Sans Bold"/>
                <a:sym typeface="DM Sans Bold"/>
              </a:rPr>
              <a:t>• PROSES:</a:t>
            </a:r>
            <a:r>
              <a:rPr lang="en-US" sz="1399">
                <a:solidFill>
                  <a:srgbClr val="222222"/>
                </a:solidFill>
                <a:latin typeface="DM Sans"/>
                <a:ea typeface="DM Sans"/>
                <a:cs typeface="DM Sans"/>
                <a:sym typeface="DM Sans"/>
              </a:rPr>
              <a:t> hapus spasi, samakan huruf, petakan alissa GoPay &amp; virtual account.</a:t>
            </a:r>
          </a:p>
          <a:p>
            <a:pPr algn="l">
              <a:lnSpc>
                <a:spcPts val="2098"/>
              </a:lnSpc>
            </a:pPr>
            <a:r>
              <a:rPr lang="en-US" sz="1399" b="true">
                <a:solidFill>
                  <a:srgbClr val="222222"/>
                </a:solidFill>
                <a:latin typeface="DM Sans Bold"/>
                <a:ea typeface="DM Sans Bold"/>
                <a:cs typeface="DM Sans Bold"/>
                <a:sym typeface="DM Sans Bold"/>
              </a:rPr>
              <a:t>• HASIL:</a:t>
            </a:r>
            <a:r>
              <a:rPr lang="en-US" sz="1399">
                <a:solidFill>
                  <a:srgbClr val="222222"/>
                </a:solidFill>
                <a:latin typeface="DM Sans"/>
                <a:ea typeface="DM Sans"/>
                <a:cs typeface="DM Sans"/>
                <a:sym typeface="DM Sans"/>
              </a:rPr>
              <a:t> bandingkan distribusi kategori sebelum/sesudah.</a:t>
            </a:r>
          </a:p>
        </p:txBody>
      </p:sp>
      <p:grpSp>
        <p:nvGrpSpPr>
          <p:cNvPr name="Group 74" id="74"/>
          <p:cNvGrpSpPr/>
          <p:nvPr/>
        </p:nvGrpSpPr>
        <p:grpSpPr>
          <a:xfrm rot="0">
            <a:off x="9144000" y="6000750"/>
            <a:ext cx="8496300" cy="2362200"/>
            <a:chOff x="0" y="0"/>
            <a:chExt cx="11328400" cy="3149600"/>
          </a:xfrm>
        </p:grpSpPr>
        <p:sp>
          <p:nvSpPr>
            <p:cNvPr name="Freeform 75" id="75"/>
            <p:cNvSpPr/>
            <p:nvPr/>
          </p:nvSpPr>
          <p:spPr>
            <a:xfrm flipH="false" flipV="false" rot="0">
              <a:off x="0" y="0"/>
              <a:ext cx="11328400" cy="3149600"/>
            </a:xfrm>
            <a:custGeom>
              <a:avLst/>
              <a:gdLst/>
              <a:ahLst/>
              <a:cxnLst/>
              <a:rect r="r" b="b" t="t" l="l"/>
              <a:pathLst>
                <a:path h="3149600" w="11328400">
                  <a:moveTo>
                    <a:pt x="0" y="0"/>
                  </a:moveTo>
                  <a:lnTo>
                    <a:pt x="11328400" y="0"/>
                  </a:lnTo>
                  <a:lnTo>
                    <a:pt x="11328400" y="3149600"/>
                  </a:lnTo>
                  <a:lnTo>
                    <a:pt x="0" y="3149600"/>
                  </a:lnTo>
                  <a:close/>
                </a:path>
              </a:pathLst>
            </a:custGeom>
            <a:blipFill>
              <a:blip r:embed="rId29"/>
              <a:stretch>
                <a:fillRect l="0" t="0" r="0" b="0"/>
              </a:stretch>
            </a:blipFill>
          </p:spPr>
        </p:sp>
      </p:grpSp>
      <p:sp>
        <p:nvSpPr>
          <p:cNvPr name="TextBox 76" id="76"/>
          <p:cNvSpPr txBox="true"/>
          <p:nvPr/>
        </p:nvSpPr>
        <p:spPr>
          <a:xfrm rot="0">
            <a:off x="9528048" y="6170986"/>
            <a:ext cx="658368" cy="645557"/>
          </a:xfrm>
          <a:prstGeom prst="rect">
            <a:avLst/>
          </a:prstGeom>
        </p:spPr>
        <p:txBody>
          <a:bodyPr anchor="t" rtlCol="false" tIns="0" lIns="0" bIns="0" rIns="0">
            <a:spAutoFit/>
          </a:bodyPr>
          <a:lstStyle/>
          <a:p>
            <a:pPr algn="l">
              <a:lnSpc>
                <a:spcPts val="5368"/>
              </a:lnSpc>
            </a:pPr>
            <a:r>
              <a:rPr lang="en-US" sz="3834" b="true">
                <a:solidFill>
                  <a:srgbClr val="008037"/>
                </a:solidFill>
                <a:latin typeface="DM Sans Bold"/>
                <a:ea typeface="DM Sans Bold"/>
                <a:cs typeface="DM Sans Bold"/>
                <a:sym typeface="DM Sans Bold"/>
              </a:rPr>
              <a:t>06</a:t>
            </a:r>
          </a:p>
        </p:txBody>
      </p:sp>
      <p:grpSp>
        <p:nvGrpSpPr>
          <p:cNvPr name="Group 77" id="77"/>
          <p:cNvGrpSpPr/>
          <p:nvPr/>
        </p:nvGrpSpPr>
        <p:grpSpPr>
          <a:xfrm rot="0">
            <a:off x="10668000" y="6210300"/>
            <a:ext cx="219075" cy="1724025"/>
            <a:chOff x="0" y="0"/>
            <a:chExt cx="292100" cy="2298700"/>
          </a:xfrm>
        </p:grpSpPr>
        <p:sp>
          <p:nvSpPr>
            <p:cNvPr name="Freeform 78" id="78"/>
            <p:cNvSpPr/>
            <p:nvPr/>
          </p:nvSpPr>
          <p:spPr>
            <a:xfrm flipH="false" flipV="false" rot="0">
              <a:off x="0" y="0"/>
              <a:ext cx="292100" cy="2298700"/>
            </a:xfrm>
            <a:custGeom>
              <a:avLst/>
              <a:gdLst/>
              <a:ahLst/>
              <a:cxnLst/>
              <a:rect r="r" b="b" t="t" l="l"/>
              <a:pathLst>
                <a:path h="2298700" w="292100">
                  <a:moveTo>
                    <a:pt x="0" y="0"/>
                  </a:moveTo>
                  <a:lnTo>
                    <a:pt x="292100" y="0"/>
                  </a:lnTo>
                  <a:lnTo>
                    <a:pt x="292100" y="2298700"/>
                  </a:lnTo>
                  <a:lnTo>
                    <a:pt x="0" y="2298700"/>
                  </a:lnTo>
                  <a:close/>
                </a:path>
              </a:pathLst>
            </a:custGeom>
            <a:blipFill>
              <a:blip r:embed="rId30"/>
              <a:stretch>
                <a:fillRect l="0" t="0" r="0" b="0"/>
              </a:stretch>
            </a:blipFill>
          </p:spPr>
        </p:sp>
      </p:grpSp>
      <p:sp>
        <p:nvSpPr>
          <p:cNvPr name="TextBox 79" id="79"/>
          <p:cNvSpPr txBox="true"/>
          <p:nvPr/>
        </p:nvSpPr>
        <p:spPr>
          <a:xfrm rot="0">
            <a:off x="11082528" y="6197358"/>
            <a:ext cx="1737360" cy="322302"/>
          </a:xfrm>
          <a:prstGeom prst="rect">
            <a:avLst/>
          </a:prstGeom>
        </p:spPr>
        <p:txBody>
          <a:bodyPr anchor="t" rtlCol="false" tIns="0" lIns="0" bIns="0" rIns="0">
            <a:spAutoFit/>
          </a:bodyPr>
          <a:lstStyle/>
          <a:p>
            <a:pPr algn="l">
              <a:lnSpc>
                <a:spcPts val="2710"/>
              </a:lnSpc>
            </a:pPr>
            <a:r>
              <a:rPr lang="en-US" sz="1935" b="true">
                <a:solidFill>
                  <a:srgbClr val="222222"/>
                </a:solidFill>
                <a:latin typeface="DM Sans Bold"/>
                <a:ea typeface="DM Sans Bold"/>
                <a:cs typeface="DM Sans Bold"/>
                <a:sym typeface="DM Sans Bold"/>
              </a:rPr>
              <a:t>Missing values</a:t>
            </a:r>
          </a:p>
        </p:txBody>
      </p:sp>
      <p:sp>
        <p:nvSpPr>
          <p:cNvPr name="TextBox 80" id="80"/>
          <p:cNvSpPr txBox="true"/>
          <p:nvPr/>
        </p:nvSpPr>
        <p:spPr>
          <a:xfrm rot="0">
            <a:off x="11082528" y="8501929"/>
            <a:ext cx="1572768" cy="321737"/>
          </a:xfrm>
          <a:prstGeom prst="rect">
            <a:avLst/>
          </a:prstGeom>
        </p:spPr>
        <p:txBody>
          <a:bodyPr anchor="t" rtlCol="false" tIns="0" lIns="0" bIns="0" rIns="0">
            <a:spAutoFit/>
          </a:bodyPr>
          <a:lstStyle/>
          <a:p>
            <a:pPr algn="l">
              <a:lnSpc>
                <a:spcPts val="2741"/>
              </a:lnSpc>
            </a:pPr>
            <a:r>
              <a:rPr lang="en-US" sz="1958" b="true">
                <a:solidFill>
                  <a:srgbClr val="222222"/>
                </a:solidFill>
                <a:latin typeface="DM Sans Bold"/>
                <a:ea typeface="DM Sans Bold"/>
                <a:cs typeface="DM Sans Bold"/>
                <a:sym typeface="DM Sans Bold"/>
              </a:rPr>
              <a:t>Output audit</a:t>
            </a:r>
          </a:p>
        </p:txBody>
      </p:sp>
      <p:sp>
        <p:nvSpPr>
          <p:cNvPr name="TextBox 81" id="81"/>
          <p:cNvSpPr txBox="true"/>
          <p:nvPr/>
        </p:nvSpPr>
        <p:spPr>
          <a:xfrm rot="0">
            <a:off x="9528048" y="8276162"/>
            <a:ext cx="658368" cy="663922"/>
          </a:xfrm>
          <a:prstGeom prst="rect">
            <a:avLst/>
          </a:prstGeom>
        </p:spPr>
        <p:txBody>
          <a:bodyPr anchor="t" rtlCol="false" tIns="0" lIns="0" bIns="0" rIns="0">
            <a:spAutoFit/>
          </a:bodyPr>
          <a:lstStyle/>
          <a:p>
            <a:pPr algn="l">
              <a:lnSpc>
                <a:spcPts val="5405"/>
              </a:lnSpc>
            </a:pPr>
            <a:r>
              <a:rPr lang="en-US" sz="3861" b="true">
                <a:solidFill>
                  <a:srgbClr val="008037"/>
                </a:solidFill>
                <a:latin typeface="DM Sans Bold"/>
                <a:ea typeface="DM Sans Bold"/>
                <a:cs typeface="DM Sans Bold"/>
                <a:sym typeface="DM Sans Bold"/>
              </a:rPr>
              <a:t>08</a:t>
            </a:r>
          </a:p>
        </p:txBody>
      </p:sp>
      <p:sp>
        <p:nvSpPr>
          <p:cNvPr name="TextBox 82" id="82"/>
          <p:cNvSpPr txBox="true"/>
          <p:nvPr/>
        </p:nvSpPr>
        <p:spPr>
          <a:xfrm rot="0">
            <a:off x="11082528" y="6675105"/>
            <a:ext cx="5779008" cy="1270665"/>
          </a:xfrm>
          <a:prstGeom prst="rect">
            <a:avLst/>
          </a:prstGeom>
        </p:spPr>
        <p:txBody>
          <a:bodyPr anchor="t" rtlCol="false" tIns="0" lIns="0" bIns="0" rIns="0">
            <a:spAutoFit/>
          </a:bodyPr>
          <a:lstStyle/>
          <a:p>
            <a:pPr algn="l">
              <a:lnSpc>
                <a:spcPts val="2098"/>
              </a:lnSpc>
            </a:pPr>
            <a:r>
              <a:rPr lang="en-US" sz="1399" b="true">
                <a:solidFill>
                  <a:srgbClr val="222222"/>
                </a:solidFill>
                <a:latin typeface="DM Sans Bold"/>
                <a:ea typeface="DM Sans Bold"/>
                <a:cs typeface="DM Sans Bold"/>
                <a:sym typeface="DM Sans Bold"/>
              </a:rPr>
              <a:t>• TUJUAN:</a:t>
            </a:r>
            <a:r>
              <a:rPr lang="en-US" sz="1399">
                <a:solidFill>
                  <a:srgbClr val="222222"/>
                </a:solidFill>
                <a:latin typeface="DM Sans"/>
                <a:ea typeface="DM Sans"/>
                <a:cs typeface="DM Sans"/>
                <a:sym typeface="DM Sans"/>
              </a:rPr>
              <a:t> menangani nilai kosong tanpa asumsi yang tidak terbukti.</a:t>
            </a:r>
          </a:p>
          <a:p>
            <a:pPr algn="l">
              <a:lnSpc>
                <a:spcPts val="2098"/>
              </a:lnSpc>
            </a:pPr>
            <a:r>
              <a:rPr lang="en-US" sz="1399" b="true">
                <a:solidFill>
                  <a:srgbClr val="222222"/>
                </a:solidFill>
                <a:latin typeface="DM Sans Bold"/>
                <a:ea typeface="DM Sans Bold"/>
                <a:cs typeface="DM Sans Bold"/>
                <a:sym typeface="DM Sans Bold"/>
              </a:rPr>
              <a:t>• PROSES:</a:t>
            </a:r>
            <a:r>
              <a:rPr lang="en-US" sz="1399">
                <a:solidFill>
                  <a:srgbClr val="222222"/>
                </a:solidFill>
                <a:latin typeface="DM Sans"/>
                <a:ea typeface="DM Sans"/>
                <a:cs typeface="DM Sans"/>
                <a:sym typeface="DM Sans"/>
              </a:rPr>
              <a:t> missing gender diubah menjadi kategori "Unknown";</a:t>
            </a:r>
          </a:p>
          <a:p>
            <a:pPr algn="l">
              <a:lnSpc>
                <a:spcPts val="2098"/>
              </a:lnSpc>
            </a:pPr>
            <a:r>
              <a:rPr lang="en-US" sz="1399">
                <a:solidFill>
                  <a:srgbClr val="222222"/>
                </a:solidFill>
                <a:latin typeface="DM Sans"/>
                <a:ea typeface="DM Sans"/>
                <a:cs typeface="DM Sans"/>
                <a:sym typeface="DM Sans"/>
              </a:rPr>
              <a:t>missing courier name dipertahankan dan dikeluarkan dan agregasi kurir.</a:t>
            </a:r>
          </a:p>
          <a:p>
            <a:pPr algn="l">
              <a:lnSpc>
                <a:spcPts val="2098"/>
              </a:lnSpc>
            </a:pPr>
            <a:r>
              <a:rPr lang="en-US" sz="1399" b="true">
                <a:solidFill>
                  <a:srgbClr val="222222"/>
                </a:solidFill>
                <a:latin typeface="DM Sans Bold"/>
                <a:ea typeface="DM Sans Bold"/>
                <a:cs typeface="DM Sans Bold"/>
                <a:sym typeface="DM Sans Bold"/>
              </a:rPr>
              <a:t>• HASIL:</a:t>
            </a:r>
            <a:r>
              <a:rPr lang="en-US" sz="1399">
                <a:solidFill>
                  <a:srgbClr val="222222"/>
                </a:solidFill>
                <a:latin typeface="DM Sans"/>
                <a:ea typeface="DM Sans"/>
                <a:cs typeface="DM Sans"/>
                <a:sym typeface="DM Sans"/>
              </a:rPr>
              <a:t> jumlah missing sebelum dan sesudah dicatat dalam laporan</a:t>
            </a:r>
          </a:p>
        </p:txBody>
      </p:sp>
      <p:sp>
        <p:nvSpPr>
          <p:cNvPr name="TextBox 83" id="83"/>
          <p:cNvSpPr txBox="true"/>
          <p:nvPr/>
        </p:nvSpPr>
        <p:spPr>
          <a:xfrm rot="0">
            <a:off x="11082528" y="8992698"/>
            <a:ext cx="5779008" cy="729704"/>
          </a:xfrm>
          <a:prstGeom prst="rect">
            <a:avLst/>
          </a:prstGeom>
        </p:spPr>
        <p:txBody>
          <a:bodyPr anchor="t" rtlCol="false" tIns="0" lIns="0" bIns="0" rIns="0">
            <a:spAutoFit/>
          </a:bodyPr>
          <a:lstStyle/>
          <a:p>
            <a:pPr algn="l">
              <a:lnSpc>
                <a:spcPts val="2021"/>
              </a:lnSpc>
            </a:pPr>
            <a:r>
              <a:rPr lang="en-US" sz="1347" b="true">
                <a:solidFill>
                  <a:srgbClr val="222222"/>
                </a:solidFill>
                <a:latin typeface="DM Sans Bold"/>
                <a:ea typeface="DM Sans Bold"/>
                <a:cs typeface="DM Sans Bold"/>
                <a:sym typeface="DM Sans Bold"/>
              </a:rPr>
              <a:t>• RECORD UNIK:</a:t>
            </a:r>
            <a:r>
              <a:rPr lang="en-US" sz="1347">
                <a:solidFill>
                  <a:srgbClr val="222222"/>
                </a:solidFill>
                <a:latin typeface="DM Sans"/>
                <a:ea typeface="DM Sans"/>
                <a:cs typeface="DM Sans"/>
                <a:sym typeface="DM Sans"/>
              </a:rPr>
              <a:t> tanggal siap dianalisis + nominal valid.</a:t>
            </a:r>
          </a:p>
          <a:p>
            <a:pPr algn="l">
              <a:lnSpc>
                <a:spcPts val="2021"/>
              </a:lnSpc>
            </a:pPr>
            <a:r>
              <a:rPr lang="en-US" sz="1347" b="true">
                <a:solidFill>
                  <a:srgbClr val="222222"/>
                </a:solidFill>
                <a:latin typeface="DM Sans Bold"/>
                <a:ea typeface="DM Sans Bold"/>
                <a:cs typeface="DM Sans Bold"/>
                <a:sym typeface="DM Sans Bold"/>
              </a:rPr>
              <a:t>• KANAL KONSISTEN:</a:t>
            </a:r>
            <a:r>
              <a:rPr lang="en-US" sz="1347">
                <a:solidFill>
                  <a:srgbClr val="222222"/>
                </a:solidFill>
                <a:latin typeface="DM Sans"/>
                <a:ea typeface="DM Sans"/>
                <a:cs typeface="DM Sans"/>
                <a:sym typeface="DM Sans"/>
              </a:rPr>
              <a:t> missing transparen + outlier terdokumentasi.</a:t>
            </a:r>
          </a:p>
          <a:p>
            <a:pPr algn="l">
              <a:lnSpc>
                <a:spcPts val="2021"/>
              </a:lnSpc>
            </a:pPr>
            <a:r>
              <a:rPr lang="en-US" sz="1347" b="true">
                <a:solidFill>
                  <a:srgbClr val="222222"/>
                </a:solidFill>
                <a:latin typeface="DM Sans Bold"/>
                <a:ea typeface="DM Sans Bold"/>
                <a:cs typeface="DM Sans Bold"/>
                <a:sym typeface="DM Sans Bold"/>
              </a:rPr>
              <a:t>• PRINSIP:</a:t>
            </a:r>
            <a:r>
              <a:rPr lang="en-US" sz="1347">
                <a:solidFill>
                  <a:srgbClr val="222222"/>
                </a:solidFill>
                <a:latin typeface="DM Sans"/>
                <a:ea typeface="DM Sans"/>
                <a:cs typeface="DM Sans"/>
                <a:sym typeface="DM Sans"/>
              </a:rPr>
              <a:t> cleaning tanpa menghapus informasi yang masih relevan.</a:t>
            </a:r>
          </a:p>
        </p:txBody>
      </p:sp>
      <p:sp>
        <p:nvSpPr>
          <p:cNvPr name="TextBox 84" id="84"/>
          <p:cNvSpPr txBox="true"/>
          <p:nvPr/>
        </p:nvSpPr>
        <p:spPr>
          <a:xfrm rot="0">
            <a:off x="786384" y="1178266"/>
            <a:ext cx="4370832" cy="248364"/>
          </a:xfrm>
          <a:prstGeom prst="rect">
            <a:avLst/>
          </a:prstGeom>
        </p:spPr>
        <p:txBody>
          <a:bodyPr anchor="t" rtlCol="false" tIns="0" lIns="0" bIns="0" rIns="0">
            <a:spAutoFit/>
          </a:bodyPr>
          <a:lstStyle/>
          <a:p>
            <a:pPr algn="l">
              <a:lnSpc>
                <a:spcPts val="2060"/>
              </a:lnSpc>
            </a:pPr>
            <a:r>
              <a:rPr lang="en-US" sz="1471">
                <a:solidFill>
                  <a:srgbClr val="222222"/>
                </a:solidFill>
                <a:latin typeface="DM Sans"/>
                <a:ea typeface="DM Sans"/>
                <a:cs typeface="DM Sans"/>
                <a:sym typeface="DM Sans"/>
              </a:rPr>
              <a:t>Proses, validasi, dan hasil audit sebelum analisis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76200"/>
            <a:chOff x="0" y="0"/>
            <a:chExt cx="24384000" cy="101600"/>
          </a:xfrm>
        </p:grpSpPr>
        <p:sp>
          <p:nvSpPr>
            <p:cNvPr name="Freeform 3" id="3"/>
            <p:cNvSpPr/>
            <p:nvPr/>
          </p:nvSpPr>
          <p:spPr>
            <a:xfrm flipH="false" flipV="false" rot="0">
              <a:off x="0" y="0"/>
              <a:ext cx="24384000" cy="101600"/>
            </a:xfrm>
            <a:custGeom>
              <a:avLst/>
              <a:gdLst/>
              <a:ahLst/>
              <a:cxnLst/>
              <a:rect r="r" b="b" t="t" l="l"/>
              <a:pathLst>
                <a:path h="101600" w="24384000">
                  <a:moveTo>
                    <a:pt x="0" y="0"/>
                  </a:moveTo>
                  <a:lnTo>
                    <a:pt x="24384000" y="0"/>
                  </a:lnTo>
                  <a:lnTo>
                    <a:pt x="24384000" y="101600"/>
                  </a:lnTo>
                  <a:lnTo>
                    <a:pt x="0" y="101600"/>
                  </a:lnTo>
                  <a:close/>
                </a:path>
              </a:pathLst>
            </a:custGeom>
            <a:solidFill>
              <a:srgbClr val="03AC0E"/>
            </a:solidFill>
          </p:spPr>
        </p:sp>
        <p:sp>
          <p:nvSpPr>
            <p:cNvPr name="TextBox 4" id="4"/>
            <p:cNvSpPr txBox="true"/>
            <p:nvPr/>
          </p:nvSpPr>
          <p:spPr>
            <a:xfrm>
              <a:off x="0" y="-38100"/>
              <a:ext cx="24384000" cy="1397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952500" y="409575"/>
            <a:ext cx="4762500" cy="264160"/>
          </a:xfrm>
          <a:prstGeom prst="rect">
            <a:avLst/>
          </a:prstGeom>
        </p:spPr>
        <p:txBody>
          <a:bodyPr anchor="t" rtlCol="false" tIns="0" lIns="0" bIns="0" rIns="0">
            <a:spAutoFit/>
          </a:bodyPr>
          <a:lstStyle/>
          <a:p>
            <a:pPr algn="l">
              <a:lnSpc>
                <a:spcPts val="2239"/>
              </a:lnSpc>
            </a:pPr>
            <a:r>
              <a:rPr lang="en-US" sz="1599" b="true">
                <a:solidFill>
                  <a:srgbClr val="03AC0E"/>
                </a:solidFill>
                <a:latin typeface="Nunito Sans Expanded Bold"/>
                <a:ea typeface="Nunito Sans Expanded Bold"/>
                <a:cs typeface="Nunito Sans Expanded Bold"/>
                <a:sym typeface="Nunito Sans Expanded Bold"/>
              </a:rPr>
              <a:t>08 · EDA</a:t>
            </a:r>
          </a:p>
        </p:txBody>
      </p:sp>
      <p:sp>
        <p:nvSpPr>
          <p:cNvPr name="TextBox 6" id="6"/>
          <p:cNvSpPr txBox="true"/>
          <p:nvPr/>
        </p:nvSpPr>
        <p:spPr>
          <a:xfrm rot="0">
            <a:off x="952500" y="692785"/>
            <a:ext cx="14287500" cy="712470"/>
          </a:xfrm>
          <a:prstGeom prst="rect">
            <a:avLst/>
          </a:prstGeom>
        </p:spPr>
        <p:txBody>
          <a:bodyPr anchor="t" rtlCol="false" tIns="0" lIns="0" bIns="0" rIns="0">
            <a:spAutoFit/>
          </a:bodyPr>
          <a:lstStyle/>
          <a:p>
            <a:pPr algn="l">
              <a:lnSpc>
                <a:spcPts val="5880"/>
              </a:lnSpc>
            </a:pPr>
            <a:r>
              <a:rPr lang="en-US" sz="4200" b="true">
                <a:solidFill>
                  <a:srgbClr val="03AC0E"/>
                </a:solidFill>
                <a:latin typeface="Nunito Sans Expanded Bold"/>
                <a:ea typeface="Nunito Sans Expanded Bold"/>
                <a:cs typeface="Nunito Sans Expanded Bold"/>
                <a:sym typeface="Nunito Sans Expanded Bold"/>
              </a:rPr>
              <a:t>EDA · Pola Order, GMV, dan Demografi</a:t>
            </a:r>
          </a:p>
        </p:txBody>
      </p:sp>
      <p:sp>
        <p:nvSpPr>
          <p:cNvPr name="TextBox 7" id="7"/>
          <p:cNvSpPr txBox="true"/>
          <p:nvPr/>
        </p:nvSpPr>
        <p:spPr>
          <a:xfrm rot="0">
            <a:off x="952500" y="1443355"/>
            <a:ext cx="14287500" cy="323215"/>
          </a:xfrm>
          <a:prstGeom prst="rect">
            <a:avLst/>
          </a:prstGeom>
        </p:spPr>
        <p:txBody>
          <a:bodyPr anchor="t" rtlCol="false" tIns="0" lIns="0" bIns="0" rIns="0">
            <a:spAutoFit/>
          </a:bodyPr>
          <a:lstStyle/>
          <a:p>
            <a:pPr algn="l">
              <a:lnSpc>
                <a:spcPts val="2659"/>
              </a:lnSpc>
            </a:pPr>
            <a:r>
              <a:rPr lang="en-US" sz="1899">
                <a:solidFill>
                  <a:srgbClr val="4D4D4D"/>
                </a:solidFill>
                <a:latin typeface="Nunito Sans Expanded"/>
                <a:ea typeface="Nunito Sans Expanded"/>
                <a:cs typeface="Nunito Sans Expanded"/>
                <a:sym typeface="Nunito Sans Expanded"/>
              </a:rPr>
              <a:t>Eksplorasi distribusi performa berdasarkan lokasi dan kelompok usia</a:t>
            </a:r>
          </a:p>
        </p:txBody>
      </p:sp>
      <p:grpSp>
        <p:nvGrpSpPr>
          <p:cNvPr name="Group 8" id="8"/>
          <p:cNvGrpSpPr/>
          <p:nvPr/>
        </p:nvGrpSpPr>
        <p:grpSpPr>
          <a:xfrm rot="0">
            <a:off x="952500" y="1957070"/>
            <a:ext cx="16383000" cy="609600"/>
            <a:chOff x="0" y="0"/>
            <a:chExt cx="21844000" cy="812800"/>
          </a:xfrm>
        </p:grpSpPr>
        <p:sp>
          <p:nvSpPr>
            <p:cNvPr name="Freeform 9" id="9"/>
            <p:cNvSpPr/>
            <p:nvPr/>
          </p:nvSpPr>
          <p:spPr>
            <a:xfrm flipH="false" flipV="false" rot="0">
              <a:off x="0" y="0"/>
              <a:ext cx="21844000" cy="812800"/>
            </a:xfrm>
            <a:custGeom>
              <a:avLst/>
              <a:gdLst/>
              <a:ahLst/>
              <a:cxnLst/>
              <a:rect r="r" b="b" t="t" l="l"/>
              <a:pathLst>
                <a:path h="812800" w="21844000">
                  <a:moveTo>
                    <a:pt x="101600" y="0"/>
                  </a:moveTo>
                  <a:lnTo>
                    <a:pt x="21742400" y="0"/>
                  </a:lnTo>
                  <a:cubicBezTo>
                    <a:pt x="21798513" y="0"/>
                    <a:pt x="21844000" y="45488"/>
                    <a:pt x="21844000" y="101600"/>
                  </a:cubicBezTo>
                  <a:lnTo>
                    <a:pt x="21844000" y="711200"/>
                  </a:lnTo>
                  <a:cubicBezTo>
                    <a:pt x="21844000" y="767312"/>
                    <a:pt x="21798513" y="812800"/>
                    <a:pt x="21742400" y="812800"/>
                  </a:cubicBezTo>
                  <a:lnTo>
                    <a:pt x="101600" y="812800"/>
                  </a:lnTo>
                  <a:cubicBezTo>
                    <a:pt x="45488" y="812800"/>
                    <a:pt x="0" y="767312"/>
                    <a:pt x="0" y="711200"/>
                  </a:cubicBezTo>
                  <a:lnTo>
                    <a:pt x="0" y="101600"/>
                  </a:lnTo>
                  <a:cubicBezTo>
                    <a:pt x="0" y="45488"/>
                    <a:pt x="45488" y="0"/>
                    <a:pt x="101600" y="0"/>
                  </a:cubicBezTo>
                  <a:close/>
                </a:path>
              </a:pathLst>
            </a:custGeom>
            <a:solidFill>
              <a:srgbClr val="F4FAF5"/>
            </a:solidFill>
            <a:ln w="9525" cap="sq">
              <a:solidFill>
                <a:srgbClr val="C8E6CC"/>
              </a:solidFill>
              <a:prstDash val="solid"/>
              <a:miter/>
            </a:ln>
          </p:spPr>
        </p:sp>
        <p:sp>
          <p:nvSpPr>
            <p:cNvPr name="TextBox 10" id="10"/>
            <p:cNvSpPr txBox="true"/>
            <p:nvPr/>
          </p:nvSpPr>
          <p:spPr>
            <a:xfrm>
              <a:off x="0" y="-38100"/>
              <a:ext cx="21844000" cy="8509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1257300" y="2099945"/>
            <a:ext cx="15716250" cy="264160"/>
          </a:xfrm>
          <a:prstGeom prst="rect">
            <a:avLst/>
          </a:prstGeom>
        </p:spPr>
        <p:txBody>
          <a:bodyPr anchor="t" rtlCol="false" tIns="0" lIns="0" bIns="0" rIns="0">
            <a:spAutoFit/>
          </a:bodyPr>
          <a:lstStyle/>
          <a:p>
            <a:pPr algn="l">
              <a:lnSpc>
                <a:spcPts val="2239"/>
              </a:lnSpc>
            </a:pPr>
            <a:r>
              <a:rPr lang="en-US" sz="1599" b="true">
                <a:solidFill>
                  <a:srgbClr val="173B24"/>
                </a:solidFill>
                <a:latin typeface="Nunito Sans Expanded Bold"/>
                <a:ea typeface="Nunito Sans Expanded Bold"/>
                <a:cs typeface="Nunito Sans Expanded Bold"/>
                <a:sym typeface="Nunito Sans Expanded Bold"/>
              </a:rPr>
              <a:t>Lokasi: 6     ·     Kelompok usia: 5     ·     Users tercatat: 8.217–8.415 per lokasi     ·     AOV: Rp1.022.548–Rp1.027.185</a:t>
            </a:r>
          </a:p>
        </p:txBody>
      </p:sp>
      <p:pic>
        <p:nvPicPr>
          <p:cNvPr name="Picture 12" id="12"/>
          <p:cNvPicPr>
            <a:picLocks noChangeAspect="true"/>
          </p:cNvPicPr>
          <p:nvPr/>
        </p:nvPicPr>
        <p:blipFill>
          <a:blip r:embed="rId2"/>
          <a:stretch>
            <a:fillRect/>
          </a:stretch>
        </p:blipFill>
        <p:spPr>
          <a:xfrm rot="0">
            <a:off x="521051" y="2060548"/>
            <a:ext cx="8768647" cy="6231944"/>
          </a:xfrm>
          <a:prstGeom prst="rect">
            <a:avLst/>
          </a:prstGeom>
        </p:spPr>
      </p:pic>
      <p:pic>
        <p:nvPicPr>
          <p:cNvPr name="Picture 13" id="13"/>
          <p:cNvPicPr>
            <a:picLocks noChangeAspect="true"/>
          </p:cNvPicPr>
          <p:nvPr/>
        </p:nvPicPr>
        <p:blipFill>
          <a:blip r:embed="rId3"/>
          <a:stretch>
            <a:fillRect/>
          </a:stretch>
        </p:blipFill>
        <p:spPr>
          <a:xfrm rot="0">
            <a:off x="8670551" y="2080945"/>
            <a:ext cx="9424148" cy="6191149"/>
          </a:xfrm>
          <a:prstGeom prst="rect">
            <a:avLst/>
          </a:prstGeom>
        </p:spPr>
      </p:pic>
      <p:sp>
        <p:nvSpPr>
          <p:cNvPr name="TextBox 14" id="14"/>
          <p:cNvSpPr txBox="true"/>
          <p:nvPr/>
        </p:nvSpPr>
        <p:spPr>
          <a:xfrm rot="0">
            <a:off x="1143000" y="7605395"/>
            <a:ext cx="7524750" cy="257175"/>
          </a:xfrm>
          <a:prstGeom prst="rect">
            <a:avLst/>
          </a:prstGeom>
        </p:spPr>
        <p:txBody>
          <a:bodyPr anchor="t" rtlCol="false" tIns="0" lIns="0" bIns="0" rIns="0">
            <a:spAutoFit/>
          </a:bodyPr>
          <a:lstStyle/>
          <a:p>
            <a:pPr algn="l">
              <a:lnSpc>
                <a:spcPts val="2100"/>
              </a:lnSpc>
            </a:pPr>
            <a:r>
              <a:rPr lang="en-US" sz="1500" b="true">
                <a:solidFill>
                  <a:srgbClr val="03AC0E"/>
                </a:solidFill>
                <a:latin typeface="Nunito Sans Expanded Bold"/>
                <a:ea typeface="Nunito Sans Expanded Bold"/>
                <a:cs typeface="Nunito Sans Expanded Bold"/>
                <a:sym typeface="Nunito Sans Expanded Bold"/>
              </a:rPr>
              <a:t>Surabaya tertinggi  ·  Yogyakarta terendah</a:t>
            </a:r>
          </a:p>
        </p:txBody>
      </p:sp>
      <p:sp>
        <p:nvSpPr>
          <p:cNvPr name="TextBox 15" id="15"/>
          <p:cNvSpPr txBox="true"/>
          <p:nvPr/>
        </p:nvSpPr>
        <p:spPr>
          <a:xfrm rot="0">
            <a:off x="9620250" y="7605395"/>
            <a:ext cx="7524750" cy="257175"/>
          </a:xfrm>
          <a:prstGeom prst="rect">
            <a:avLst/>
          </a:prstGeom>
        </p:spPr>
        <p:txBody>
          <a:bodyPr anchor="t" rtlCol="false" tIns="0" lIns="0" bIns="0" rIns="0">
            <a:spAutoFit/>
          </a:bodyPr>
          <a:lstStyle/>
          <a:p>
            <a:pPr algn="l">
              <a:lnSpc>
                <a:spcPts val="2100"/>
              </a:lnSpc>
            </a:pPr>
            <a:r>
              <a:rPr lang="en-US" sz="1500" b="true">
                <a:solidFill>
                  <a:srgbClr val="03AC0E"/>
                </a:solidFill>
                <a:latin typeface="Nunito Sans Expanded Bold"/>
                <a:ea typeface="Nunito Sans Expanded Bold"/>
                <a:cs typeface="Nunito Sans Expanded Bold"/>
                <a:sym typeface="Nunito Sans Expanded Bold"/>
              </a:rPr>
              <a:t>&gt;50 memiliki order terbanyak</a:t>
            </a:r>
          </a:p>
        </p:txBody>
      </p:sp>
      <p:sp>
        <p:nvSpPr>
          <p:cNvPr name="TextBox 16" id="16"/>
          <p:cNvSpPr txBox="true"/>
          <p:nvPr/>
        </p:nvSpPr>
        <p:spPr>
          <a:xfrm rot="0">
            <a:off x="952500" y="7957820"/>
            <a:ext cx="16383000" cy="466725"/>
          </a:xfrm>
          <a:prstGeom prst="rect">
            <a:avLst/>
          </a:prstGeom>
        </p:spPr>
        <p:txBody>
          <a:bodyPr anchor="t" rtlCol="false" tIns="0" lIns="0" bIns="0" rIns="0">
            <a:spAutoFit/>
          </a:bodyPr>
          <a:lstStyle/>
          <a:p>
            <a:pPr algn="l">
              <a:lnSpc>
                <a:spcPts val="1875"/>
              </a:lnSpc>
            </a:pPr>
            <a:r>
              <a:rPr lang="en-US" sz="1500">
                <a:solidFill>
                  <a:srgbClr val="173B24"/>
                </a:solidFill>
                <a:latin typeface="Nunito Sans Expanded"/>
                <a:ea typeface="Nunito Sans Expanded"/>
                <a:cs typeface="Nunito Sans Expanded"/>
                <a:sym typeface="Nunito Sans Expanded"/>
              </a:rPr>
              <a:t>Insight awal: Surabaya memimpin GMV lokasi, sedangkan kelompok usia &gt;50 menyumbang jumlah order tertinggi. AOV relatif stabil di seluruh kelompok usia, dengan rentang sekitar Rp1,02–1,03 juta.</a:t>
            </a:r>
          </a:p>
        </p:txBody>
      </p:sp>
      <p:sp>
        <p:nvSpPr>
          <p:cNvPr name="TextBox 17" id="17"/>
          <p:cNvSpPr txBox="true"/>
          <p:nvPr/>
        </p:nvSpPr>
        <p:spPr>
          <a:xfrm rot="0">
            <a:off x="952500" y="9867900"/>
            <a:ext cx="11430000" cy="188595"/>
          </a:xfrm>
          <a:prstGeom prst="rect">
            <a:avLst/>
          </a:prstGeom>
        </p:spPr>
        <p:txBody>
          <a:bodyPr anchor="t" rtlCol="false" tIns="0" lIns="0" bIns="0" rIns="0">
            <a:spAutoFit/>
          </a:bodyPr>
          <a:lstStyle/>
          <a:p>
            <a:pPr algn="l">
              <a:lnSpc>
                <a:spcPts val="1679"/>
              </a:lnSpc>
            </a:pPr>
            <a:r>
              <a:rPr lang="en-US" sz="1200">
                <a:solidFill>
                  <a:srgbClr val="4D4D4D"/>
                </a:solidFill>
                <a:latin typeface="Nunito Sans Expanded"/>
                <a:ea typeface="Nunito Sans Expanded"/>
                <a:cs typeface="Nunito Sans Expanded"/>
                <a:sym typeface="Nunito Sans Expanded"/>
              </a:rPr>
              <a:t>EDA bersifat eksploratif dan belum menyimpulkan kausalitas.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52500" y="495300"/>
            <a:ext cx="14287500" cy="297180"/>
          </a:xfrm>
          <a:prstGeom prst="rect">
            <a:avLst/>
          </a:prstGeom>
        </p:spPr>
        <p:txBody>
          <a:bodyPr anchor="t" rtlCol="false" tIns="0" lIns="0" bIns="0" rIns="0">
            <a:spAutoFit/>
          </a:bodyPr>
          <a:lstStyle/>
          <a:p>
            <a:pPr algn="l">
              <a:lnSpc>
                <a:spcPts val="2520"/>
              </a:lnSpc>
            </a:pPr>
            <a:r>
              <a:rPr lang="en-US" sz="1800" spc="144" b="true">
                <a:solidFill>
                  <a:srgbClr val="03AC0E"/>
                </a:solidFill>
                <a:latin typeface="Nunito Sans Expanded Bold"/>
                <a:ea typeface="Nunito Sans Expanded Bold"/>
                <a:cs typeface="Nunito Sans Expanded Bold"/>
                <a:sym typeface="Nunito Sans Expanded Bold"/>
              </a:rPr>
              <a:t>09 · DIAGNOSTIC / AD-HOC ANALYSIS</a:t>
            </a:r>
          </a:p>
        </p:txBody>
      </p:sp>
      <p:sp>
        <p:nvSpPr>
          <p:cNvPr name="TextBox 3" id="3"/>
          <p:cNvSpPr txBox="true"/>
          <p:nvPr/>
        </p:nvSpPr>
        <p:spPr>
          <a:xfrm rot="0">
            <a:off x="952500" y="952500"/>
            <a:ext cx="14668500" cy="1228725"/>
          </a:xfrm>
          <a:prstGeom prst="rect">
            <a:avLst/>
          </a:prstGeom>
        </p:spPr>
        <p:txBody>
          <a:bodyPr anchor="t" rtlCol="false" tIns="0" lIns="0" bIns="0" rIns="0">
            <a:spAutoFit/>
          </a:bodyPr>
          <a:lstStyle/>
          <a:p>
            <a:pPr algn="l">
              <a:lnSpc>
                <a:spcPts val="4725"/>
              </a:lnSpc>
            </a:pPr>
            <a:r>
              <a:rPr lang="en-US" sz="4500" b="true">
                <a:solidFill>
                  <a:srgbClr val="03AC0E"/>
                </a:solidFill>
                <a:latin typeface="Nunito Sans Expanded Bold"/>
                <a:ea typeface="Nunito Sans Expanded Bold"/>
                <a:cs typeface="Nunito Sans Expanded Bold"/>
                <a:sym typeface="Nunito Sans Expanded Bold"/>
              </a:rPr>
              <a:t>Order Tertinggi Datang dari Usia &gt;50, Bukan dari AOV yang Lebih Tinggi</a:t>
            </a:r>
          </a:p>
        </p:txBody>
      </p:sp>
      <p:sp>
        <p:nvSpPr>
          <p:cNvPr name="TextBox 4" id="4"/>
          <p:cNvSpPr txBox="true"/>
          <p:nvPr/>
        </p:nvSpPr>
        <p:spPr>
          <a:xfrm rot="0">
            <a:off x="952500" y="2314575"/>
            <a:ext cx="14287500" cy="356235"/>
          </a:xfrm>
          <a:prstGeom prst="rect">
            <a:avLst/>
          </a:prstGeom>
        </p:spPr>
        <p:txBody>
          <a:bodyPr anchor="t" rtlCol="false" tIns="0" lIns="0" bIns="0" rIns="0">
            <a:spAutoFit/>
          </a:bodyPr>
          <a:lstStyle/>
          <a:p>
            <a:pPr algn="l">
              <a:lnSpc>
                <a:spcPts val="2940"/>
              </a:lnSpc>
            </a:pPr>
            <a:r>
              <a:rPr lang="en-US" sz="2100">
                <a:solidFill>
                  <a:srgbClr val="55705D"/>
                </a:solidFill>
                <a:latin typeface="Nunito Sans Expanded"/>
                <a:ea typeface="Nunito Sans Expanded"/>
                <a:cs typeface="Nunito Sans Expanded"/>
                <a:sym typeface="Nunito Sans Expanded"/>
              </a:rPr>
              <a:t>Menjawab business question: segmen demografi mana yang paling bernilai?</a:t>
            </a:r>
          </a:p>
        </p:txBody>
      </p:sp>
      <p:pic>
        <p:nvPicPr>
          <p:cNvPr name="Picture 5" id="5"/>
          <p:cNvPicPr>
            <a:picLocks noChangeAspect="true"/>
          </p:cNvPicPr>
          <p:nvPr/>
        </p:nvPicPr>
        <p:blipFill>
          <a:blip r:embed="rId2"/>
          <a:stretch>
            <a:fillRect/>
          </a:stretch>
        </p:blipFill>
        <p:spPr>
          <a:xfrm rot="0">
            <a:off x="208601" y="2392284"/>
            <a:ext cx="9345924" cy="5740558"/>
          </a:xfrm>
          <a:prstGeom prst="rect">
            <a:avLst/>
          </a:prstGeom>
        </p:spPr>
      </p:pic>
      <p:pic>
        <p:nvPicPr>
          <p:cNvPr name="Picture 6" id="6"/>
          <p:cNvPicPr>
            <a:picLocks noChangeAspect="true"/>
          </p:cNvPicPr>
          <p:nvPr/>
        </p:nvPicPr>
        <p:blipFill>
          <a:blip r:embed="rId3"/>
          <a:stretch>
            <a:fillRect/>
          </a:stretch>
        </p:blipFill>
        <p:spPr>
          <a:xfrm rot="0">
            <a:off x="8722376" y="2272562"/>
            <a:ext cx="9368122" cy="5980001"/>
          </a:xfrm>
          <a:prstGeom prst="rect">
            <a:avLst/>
          </a:prstGeom>
        </p:spPr>
      </p:pic>
      <p:sp>
        <p:nvSpPr>
          <p:cNvPr name="TextBox 7" id="7"/>
          <p:cNvSpPr txBox="true"/>
          <p:nvPr/>
        </p:nvSpPr>
        <p:spPr>
          <a:xfrm rot="0">
            <a:off x="5191125" y="7496175"/>
            <a:ext cx="3333750" cy="297180"/>
          </a:xfrm>
          <a:prstGeom prst="rect">
            <a:avLst/>
          </a:prstGeom>
        </p:spPr>
        <p:txBody>
          <a:bodyPr anchor="t" rtlCol="false" tIns="0" lIns="0" bIns="0" rIns="0">
            <a:spAutoFit/>
          </a:bodyPr>
          <a:lstStyle/>
          <a:p>
            <a:pPr algn="r">
              <a:lnSpc>
                <a:spcPts val="2520"/>
              </a:lnSpc>
            </a:pPr>
            <a:r>
              <a:rPr lang="en-US" sz="1800" b="true">
                <a:solidFill>
                  <a:srgbClr val="03AC0E"/>
                </a:solidFill>
                <a:latin typeface="Nunito Sans Expanded Bold"/>
                <a:ea typeface="Nunito Sans Expanded Bold"/>
                <a:cs typeface="Nunito Sans Expanded Bold"/>
                <a:sym typeface="Nunito Sans Expanded Bold"/>
              </a:rPr>
              <a:t>&gt;50: 83.168 order</a:t>
            </a:r>
          </a:p>
        </p:txBody>
      </p:sp>
      <p:sp>
        <p:nvSpPr>
          <p:cNvPr name="TextBox 8" id="8"/>
          <p:cNvSpPr txBox="true"/>
          <p:nvPr/>
        </p:nvSpPr>
        <p:spPr>
          <a:xfrm rot="0">
            <a:off x="10477500" y="7496175"/>
            <a:ext cx="6858000" cy="240533"/>
          </a:xfrm>
          <a:prstGeom prst="rect">
            <a:avLst/>
          </a:prstGeom>
        </p:spPr>
        <p:txBody>
          <a:bodyPr anchor="t" rtlCol="false" tIns="0" lIns="0" bIns="0" rIns="0">
            <a:spAutoFit/>
          </a:bodyPr>
          <a:lstStyle/>
          <a:p>
            <a:pPr algn="r">
              <a:lnSpc>
                <a:spcPts val="1967"/>
              </a:lnSpc>
            </a:pPr>
            <a:r>
              <a:rPr lang="en-US" sz="1405">
                <a:solidFill>
                  <a:srgbClr val="55705D"/>
                </a:solidFill>
                <a:latin typeface="Nunito Sans Expanded"/>
                <a:ea typeface="Nunito Sans Expanded"/>
                <a:cs typeface="Nunito Sans Expanded"/>
                <a:sym typeface="Nunito Sans Expanded"/>
              </a:rPr>
              <a:t>Rentang AOV hanya sekitar Rp1,02–1,03 juta dan relatif stabil.</a:t>
            </a:r>
          </a:p>
        </p:txBody>
      </p:sp>
      <p:grpSp>
        <p:nvGrpSpPr>
          <p:cNvPr name="Group 9" id="9"/>
          <p:cNvGrpSpPr/>
          <p:nvPr/>
        </p:nvGrpSpPr>
        <p:grpSpPr>
          <a:xfrm rot="0">
            <a:off x="952500" y="7858125"/>
            <a:ext cx="16383000" cy="1190625"/>
            <a:chOff x="0" y="0"/>
            <a:chExt cx="21844000" cy="1587500"/>
          </a:xfrm>
        </p:grpSpPr>
        <p:sp>
          <p:nvSpPr>
            <p:cNvPr name="Freeform 10" id="10"/>
            <p:cNvSpPr/>
            <p:nvPr/>
          </p:nvSpPr>
          <p:spPr>
            <a:xfrm flipH="false" flipV="false" rot="0">
              <a:off x="0" y="0"/>
              <a:ext cx="21844000" cy="1587500"/>
            </a:xfrm>
            <a:custGeom>
              <a:avLst/>
              <a:gdLst/>
              <a:ahLst/>
              <a:cxnLst/>
              <a:rect r="r" b="b" t="t" l="l"/>
              <a:pathLst>
                <a:path h="1587500" w="21844000">
                  <a:moveTo>
                    <a:pt x="50800" y="0"/>
                  </a:moveTo>
                  <a:lnTo>
                    <a:pt x="21793200" y="0"/>
                  </a:lnTo>
                  <a:cubicBezTo>
                    <a:pt x="21821256" y="0"/>
                    <a:pt x="21844000" y="22744"/>
                    <a:pt x="21844000" y="50800"/>
                  </a:cubicBezTo>
                  <a:lnTo>
                    <a:pt x="21844000" y="1536700"/>
                  </a:lnTo>
                  <a:cubicBezTo>
                    <a:pt x="21844000" y="1564756"/>
                    <a:pt x="21821256" y="1587500"/>
                    <a:pt x="21793200" y="1587500"/>
                  </a:cubicBezTo>
                  <a:lnTo>
                    <a:pt x="50800" y="1587500"/>
                  </a:lnTo>
                  <a:cubicBezTo>
                    <a:pt x="22744" y="1587500"/>
                    <a:pt x="0" y="1564756"/>
                    <a:pt x="0" y="1536700"/>
                  </a:cubicBezTo>
                  <a:lnTo>
                    <a:pt x="0" y="50800"/>
                  </a:lnTo>
                  <a:cubicBezTo>
                    <a:pt x="0" y="22744"/>
                    <a:pt x="22744" y="0"/>
                    <a:pt x="50800" y="0"/>
                  </a:cubicBezTo>
                  <a:close/>
                </a:path>
              </a:pathLst>
            </a:custGeom>
            <a:solidFill>
              <a:srgbClr val="03AC0E"/>
            </a:solidFill>
          </p:spPr>
        </p:sp>
        <p:sp>
          <p:nvSpPr>
            <p:cNvPr name="TextBox 11" id="11"/>
            <p:cNvSpPr txBox="true"/>
            <p:nvPr/>
          </p:nvSpPr>
          <p:spPr>
            <a:xfrm>
              <a:off x="0" y="-38100"/>
              <a:ext cx="21844000" cy="162560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1238250" y="7962900"/>
            <a:ext cx="2381250" cy="181610"/>
          </a:xfrm>
          <a:prstGeom prst="rect">
            <a:avLst/>
          </a:prstGeom>
        </p:spPr>
        <p:txBody>
          <a:bodyPr anchor="t" rtlCol="false" tIns="0" lIns="0" bIns="0" rIns="0">
            <a:spAutoFit/>
          </a:bodyPr>
          <a:lstStyle/>
          <a:p>
            <a:pPr algn="l">
              <a:lnSpc>
                <a:spcPts val="1540"/>
              </a:lnSpc>
            </a:pPr>
            <a:r>
              <a:rPr lang="en-US" sz="1100" spc="55" b="true">
                <a:solidFill>
                  <a:srgbClr val="80EB93"/>
                </a:solidFill>
                <a:latin typeface="Nunito Sans Expanded Bold"/>
                <a:ea typeface="Nunito Sans Expanded Bold"/>
                <a:cs typeface="Nunito Sans Expanded Bold"/>
                <a:sym typeface="Nunito Sans Expanded Bold"/>
              </a:rPr>
              <a:t>DIAGNOSTIC INSIGHT</a:t>
            </a:r>
          </a:p>
        </p:txBody>
      </p:sp>
      <p:sp>
        <p:nvSpPr>
          <p:cNvPr name="TextBox 13" id="13"/>
          <p:cNvSpPr txBox="true"/>
          <p:nvPr/>
        </p:nvSpPr>
        <p:spPr>
          <a:xfrm rot="0">
            <a:off x="1238250" y="8362950"/>
            <a:ext cx="15430500" cy="560070"/>
          </a:xfrm>
          <a:prstGeom prst="rect">
            <a:avLst/>
          </a:prstGeom>
        </p:spPr>
        <p:txBody>
          <a:bodyPr anchor="t" rtlCol="false" tIns="0" lIns="0" bIns="0" rIns="0">
            <a:spAutoFit/>
          </a:bodyPr>
          <a:lstStyle/>
          <a:p>
            <a:pPr algn="l">
              <a:lnSpc>
                <a:spcPts val="2250"/>
              </a:lnSpc>
            </a:pPr>
            <a:r>
              <a:rPr lang="en-US" sz="1800">
                <a:solidFill>
                  <a:srgbClr val="FFFFFF"/>
                </a:solidFill>
                <a:latin typeface="Nunito Sans Expanded"/>
                <a:ea typeface="Nunito Sans Expanded"/>
                <a:cs typeface="Nunito Sans Expanded"/>
                <a:sym typeface="Nunito Sans Expanded"/>
              </a:rPr>
              <a:t>Kelompok usia &gt;50 memimpin volume order secara jelas, sementara AOV antar-kelompok relatif datar. Jadi, nilai segmen ini terutama terlihat dari frekuensi order, bukan dari nilai rata-rata per order yang jauh lebih tinggi.</a:t>
            </a:r>
          </a:p>
        </p:txBody>
      </p:sp>
      <p:sp>
        <p:nvSpPr>
          <p:cNvPr name="TextBox 14" id="14"/>
          <p:cNvSpPr txBox="true"/>
          <p:nvPr/>
        </p:nvSpPr>
        <p:spPr>
          <a:xfrm rot="0">
            <a:off x="952500" y="9667875"/>
            <a:ext cx="14287500" cy="224155"/>
          </a:xfrm>
          <a:prstGeom prst="rect">
            <a:avLst/>
          </a:prstGeom>
        </p:spPr>
        <p:txBody>
          <a:bodyPr anchor="t" rtlCol="false" tIns="0" lIns="0" bIns="0" rIns="0">
            <a:spAutoFit/>
          </a:bodyPr>
          <a:lstStyle/>
          <a:p>
            <a:pPr algn="l">
              <a:lnSpc>
                <a:spcPts val="1819"/>
              </a:lnSpc>
            </a:pPr>
            <a:r>
              <a:rPr lang="en-US" sz="1299">
                <a:solidFill>
                  <a:srgbClr val="55705D"/>
                </a:solidFill>
                <a:latin typeface="Nunito Sans Expanded"/>
                <a:ea typeface="Nunito Sans Expanded"/>
                <a:cs typeface="Nunito Sans Expanded"/>
                <a:sym typeface="Nunito Sans Expanded"/>
              </a:rPr>
              <a:t>Basis analisis: data agregat per kelompok usia; temuan bersifat diagnostik dan tidak menyimpulkan kausalitas.</a:t>
            </a:r>
          </a:p>
        </p:txBody>
      </p:sp>
      <p:sp>
        <p:nvSpPr>
          <p:cNvPr name="TextBox 15" id="15"/>
          <p:cNvSpPr txBox="true"/>
          <p:nvPr/>
        </p:nvSpPr>
        <p:spPr>
          <a:xfrm rot="0">
            <a:off x="16668750" y="9667875"/>
            <a:ext cx="666750" cy="240665"/>
          </a:xfrm>
          <a:prstGeom prst="rect">
            <a:avLst/>
          </a:prstGeom>
        </p:spPr>
        <p:txBody>
          <a:bodyPr anchor="t" rtlCol="false" tIns="0" lIns="0" bIns="0" rIns="0">
            <a:spAutoFit/>
          </a:bodyPr>
          <a:lstStyle/>
          <a:p>
            <a:pPr algn="r">
              <a:lnSpc>
                <a:spcPts val="1960"/>
              </a:lnSpc>
            </a:pPr>
            <a:r>
              <a:rPr lang="en-US" sz="1400">
                <a:solidFill>
                  <a:srgbClr val="55705D"/>
                </a:solidFill>
                <a:latin typeface="Nunito Sans Expanded"/>
                <a:ea typeface="Nunito Sans Expanded"/>
                <a:cs typeface="Nunito Sans Expanded"/>
                <a:sym typeface="Nunito Sans Expanded"/>
              </a:rPr>
              <a:t>09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47472" y="200852"/>
            <a:ext cx="1664208" cy="376297"/>
          </a:xfrm>
          <a:prstGeom prst="rect">
            <a:avLst/>
          </a:prstGeom>
        </p:spPr>
        <p:txBody>
          <a:bodyPr anchor="t" rtlCol="false" tIns="0" lIns="0" bIns="0" rIns="0">
            <a:spAutoFit/>
          </a:bodyPr>
          <a:lstStyle/>
          <a:p>
            <a:pPr algn="l">
              <a:lnSpc>
                <a:spcPts val="2814"/>
              </a:lnSpc>
            </a:pPr>
            <a:r>
              <a:rPr lang="en-US" sz="2814" b="true">
                <a:solidFill>
                  <a:srgbClr val="00946A"/>
                </a:solidFill>
                <a:latin typeface="Nunito Bold"/>
                <a:ea typeface="Nunito Bold"/>
                <a:cs typeface="Nunito Bold"/>
                <a:sym typeface="Nunito Bold"/>
              </a:rPr>
              <a:t>tokopedia</a:t>
            </a:r>
          </a:p>
        </p:txBody>
      </p:sp>
      <p:sp>
        <p:nvSpPr>
          <p:cNvPr name="TextBox 4" id="4"/>
          <p:cNvSpPr txBox="true"/>
          <p:nvPr/>
        </p:nvSpPr>
        <p:spPr>
          <a:xfrm rot="0">
            <a:off x="2194560" y="212477"/>
            <a:ext cx="8503920" cy="424294"/>
          </a:xfrm>
          <a:prstGeom prst="rect">
            <a:avLst/>
          </a:prstGeom>
        </p:spPr>
        <p:txBody>
          <a:bodyPr anchor="t" rtlCol="false" tIns="0" lIns="0" bIns="0" rIns="0">
            <a:spAutoFit/>
          </a:bodyPr>
          <a:lstStyle/>
          <a:p>
            <a:pPr algn="l">
              <a:lnSpc>
                <a:spcPts val="3204"/>
              </a:lnSpc>
            </a:pPr>
            <a:r>
              <a:rPr lang="en-US" sz="3204" b="true">
                <a:solidFill>
                  <a:srgbClr val="00946A"/>
                </a:solidFill>
                <a:latin typeface="Nunito Bold"/>
                <a:ea typeface="Nunito Bold"/>
                <a:cs typeface="Nunito Bold"/>
                <a:sym typeface="Nunito Bold"/>
              </a:rPr>
              <a:t>Conclusion | Growth &amp; Margin Optimization</a:t>
            </a:r>
          </a:p>
        </p:txBody>
      </p:sp>
      <p:sp>
        <p:nvSpPr>
          <p:cNvPr name="Freeform 5" id="5"/>
          <p:cNvSpPr/>
          <p:nvPr/>
        </p:nvSpPr>
        <p:spPr>
          <a:xfrm flipH="false" flipV="false" rot="0">
            <a:off x="16544925" y="0"/>
            <a:ext cx="1533525" cy="647700"/>
          </a:xfrm>
          <a:custGeom>
            <a:avLst/>
            <a:gdLst/>
            <a:ahLst/>
            <a:cxnLst/>
            <a:rect r="r" b="b" t="t" l="l"/>
            <a:pathLst>
              <a:path h="647700" w="1533525">
                <a:moveTo>
                  <a:pt x="0" y="0"/>
                </a:moveTo>
                <a:lnTo>
                  <a:pt x="1533525" y="0"/>
                </a:lnTo>
                <a:lnTo>
                  <a:pt x="1533525" y="647700"/>
                </a:lnTo>
                <a:lnTo>
                  <a:pt x="0" y="647700"/>
                </a:lnTo>
                <a:lnTo>
                  <a:pt x="0" y="0"/>
                </a:lnTo>
                <a:close/>
              </a:path>
            </a:pathLst>
          </a:custGeom>
          <a:blipFill>
            <a:blip r:embed="rId3"/>
            <a:stretch>
              <a:fillRect l="0" t="0" r="0" b="0"/>
            </a:stretch>
          </a:blipFill>
        </p:spPr>
      </p:sp>
      <p:sp>
        <p:nvSpPr>
          <p:cNvPr name="Freeform 6" id="6"/>
          <p:cNvSpPr/>
          <p:nvPr/>
        </p:nvSpPr>
        <p:spPr>
          <a:xfrm flipH="false" flipV="false" rot="0">
            <a:off x="16764000" y="0"/>
            <a:ext cx="438150" cy="647700"/>
          </a:xfrm>
          <a:custGeom>
            <a:avLst/>
            <a:gdLst/>
            <a:ahLst/>
            <a:cxnLst/>
            <a:rect r="r" b="b" t="t" l="l"/>
            <a:pathLst>
              <a:path h="647700" w="438150">
                <a:moveTo>
                  <a:pt x="0" y="0"/>
                </a:moveTo>
                <a:lnTo>
                  <a:pt x="438150" y="0"/>
                </a:lnTo>
                <a:lnTo>
                  <a:pt x="438150" y="647700"/>
                </a:lnTo>
                <a:lnTo>
                  <a:pt x="0" y="647700"/>
                </a:lnTo>
                <a:lnTo>
                  <a:pt x="0" y="0"/>
                </a:lnTo>
                <a:close/>
              </a:path>
            </a:pathLst>
          </a:custGeom>
          <a:blipFill>
            <a:blip r:embed="rId4"/>
            <a:stretch>
              <a:fillRect l="0" t="0" r="0" b="0"/>
            </a:stretch>
          </a:blipFill>
        </p:spPr>
      </p:sp>
      <p:sp>
        <p:nvSpPr>
          <p:cNvPr name="Freeform 7" id="7"/>
          <p:cNvSpPr/>
          <p:nvPr/>
        </p:nvSpPr>
        <p:spPr>
          <a:xfrm flipH="false" flipV="false" rot="0">
            <a:off x="209550" y="857250"/>
            <a:ext cx="8724900" cy="4076700"/>
          </a:xfrm>
          <a:custGeom>
            <a:avLst/>
            <a:gdLst/>
            <a:ahLst/>
            <a:cxnLst/>
            <a:rect r="r" b="b" t="t" l="l"/>
            <a:pathLst>
              <a:path h="4076700" w="8724900">
                <a:moveTo>
                  <a:pt x="0" y="0"/>
                </a:moveTo>
                <a:lnTo>
                  <a:pt x="8724900" y="0"/>
                </a:lnTo>
                <a:lnTo>
                  <a:pt x="8724900" y="4076700"/>
                </a:lnTo>
                <a:lnTo>
                  <a:pt x="0" y="4076700"/>
                </a:lnTo>
                <a:lnTo>
                  <a:pt x="0" y="0"/>
                </a:lnTo>
                <a:close/>
              </a:path>
            </a:pathLst>
          </a:custGeom>
          <a:blipFill>
            <a:blip r:embed="rId5"/>
            <a:stretch>
              <a:fillRect l="0" t="0" r="0" b="0"/>
            </a:stretch>
          </a:blipFill>
        </p:spPr>
      </p:sp>
      <p:sp>
        <p:nvSpPr>
          <p:cNvPr name="Freeform 8" id="8"/>
          <p:cNvSpPr/>
          <p:nvPr/>
        </p:nvSpPr>
        <p:spPr>
          <a:xfrm flipH="false" flipV="false" rot="0">
            <a:off x="428625" y="857250"/>
            <a:ext cx="447675" cy="647700"/>
          </a:xfrm>
          <a:custGeom>
            <a:avLst/>
            <a:gdLst/>
            <a:ahLst/>
            <a:cxnLst/>
            <a:rect r="r" b="b" t="t" l="l"/>
            <a:pathLst>
              <a:path h="647700" w="447675">
                <a:moveTo>
                  <a:pt x="0" y="0"/>
                </a:moveTo>
                <a:lnTo>
                  <a:pt x="447675" y="0"/>
                </a:lnTo>
                <a:lnTo>
                  <a:pt x="447675" y="647700"/>
                </a:lnTo>
                <a:lnTo>
                  <a:pt x="0" y="647700"/>
                </a:lnTo>
                <a:lnTo>
                  <a:pt x="0" y="0"/>
                </a:lnTo>
                <a:close/>
              </a:path>
            </a:pathLst>
          </a:custGeom>
          <a:blipFill>
            <a:blip r:embed="rId6"/>
            <a:stretch>
              <a:fillRect l="0" t="0" r="0" b="0"/>
            </a:stretch>
          </a:blipFill>
        </p:spPr>
      </p:sp>
      <p:sp>
        <p:nvSpPr>
          <p:cNvPr name="Freeform 9" id="9"/>
          <p:cNvSpPr/>
          <p:nvPr/>
        </p:nvSpPr>
        <p:spPr>
          <a:xfrm flipH="false" flipV="false" rot="0">
            <a:off x="866775" y="857250"/>
            <a:ext cx="3495675" cy="647700"/>
          </a:xfrm>
          <a:custGeom>
            <a:avLst/>
            <a:gdLst/>
            <a:ahLst/>
            <a:cxnLst/>
            <a:rect r="r" b="b" t="t" l="l"/>
            <a:pathLst>
              <a:path h="647700" w="3495675">
                <a:moveTo>
                  <a:pt x="0" y="0"/>
                </a:moveTo>
                <a:lnTo>
                  <a:pt x="3495675" y="0"/>
                </a:lnTo>
                <a:lnTo>
                  <a:pt x="3495675" y="647700"/>
                </a:lnTo>
                <a:lnTo>
                  <a:pt x="0" y="647700"/>
                </a:lnTo>
                <a:lnTo>
                  <a:pt x="0" y="0"/>
                </a:lnTo>
                <a:close/>
              </a:path>
            </a:pathLst>
          </a:custGeom>
          <a:blipFill>
            <a:blip r:embed="rId7"/>
            <a:stretch>
              <a:fillRect l="0" t="0" r="0" b="0"/>
            </a:stretch>
          </a:blipFill>
        </p:spPr>
      </p:sp>
      <p:sp>
        <p:nvSpPr>
          <p:cNvPr name="Freeform 10" id="10"/>
          <p:cNvSpPr/>
          <p:nvPr/>
        </p:nvSpPr>
        <p:spPr>
          <a:xfrm flipH="false" flipV="false" rot="0">
            <a:off x="428625" y="1495425"/>
            <a:ext cx="447675" cy="438150"/>
          </a:xfrm>
          <a:custGeom>
            <a:avLst/>
            <a:gdLst/>
            <a:ahLst/>
            <a:cxnLst/>
            <a:rect r="r" b="b" t="t" l="l"/>
            <a:pathLst>
              <a:path h="438150" w="447675">
                <a:moveTo>
                  <a:pt x="0" y="0"/>
                </a:moveTo>
                <a:lnTo>
                  <a:pt x="447675" y="0"/>
                </a:lnTo>
                <a:lnTo>
                  <a:pt x="447675" y="438150"/>
                </a:lnTo>
                <a:lnTo>
                  <a:pt x="0" y="438150"/>
                </a:lnTo>
                <a:lnTo>
                  <a:pt x="0" y="0"/>
                </a:lnTo>
                <a:close/>
              </a:path>
            </a:pathLst>
          </a:custGeom>
          <a:blipFill>
            <a:blip r:embed="rId8"/>
            <a:stretch>
              <a:fillRect l="0" t="0" r="0" b="0"/>
            </a:stretch>
          </a:blipFill>
        </p:spPr>
      </p:sp>
      <p:sp>
        <p:nvSpPr>
          <p:cNvPr name="TextBox 11" id="11"/>
          <p:cNvSpPr txBox="true"/>
          <p:nvPr/>
        </p:nvSpPr>
        <p:spPr>
          <a:xfrm rot="0">
            <a:off x="877824" y="1577530"/>
            <a:ext cx="7406640" cy="476250"/>
          </a:xfrm>
          <a:prstGeom prst="rect">
            <a:avLst/>
          </a:prstGeom>
        </p:spPr>
        <p:txBody>
          <a:bodyPr anchor="t" rtlCol="false" tIns="0" lIns="0" bIns="0" rIns="0">
            <a:spAutoFit/>
          </a:bodyPr>
          <a:lstStyle/>
          <a:p>
            <a:pPr algn="l">
              <a:lnSpc>
                <a:spcPts val="1940"/>
              </a:lnSpc>
            </a:pPr>
            <a:r>
              <a:rPr lang="en-US" sz="1617">
                <a:solidFill>
                  <a:srgbClr val="2E2E2E"/>
                </a:solidFill>
                <a:latin typeface="Nunito"/>
                <a:ea typeface="Nunito"/>
                <a:cs typeface="Nunito"/>
                <a:sym typeface="Nunito"/>
              </a:rPr>
              <a:t>Kelompok usia &gt;50 adalah volume driver: 83.168 order, tertinggi di antara 5 kelompok usia.</a:t>
            </a:r>
          </a:p>
        </p:txBody>
      </p:sp>
      <p:sp>
        <p:nvSpPr>
          <p:cNvPr name="Freeform 12" id="12"/>
          <p:cNvSpPr/>
          <p:nvPr/>
        </p:nvSpPr>
        <p:spPr>
          <a:xfrm flipH="false" flipV="false" rot="0">
            <a:off x="428625" y="2143125"/>
            <a:ext cx="447675" cy="219075"/>
          </a:xfrm>
          <a:custGeom>
            <a:avLst/>
            <a:gdLst/>
            <a:ahLst/>
            <a:cxnLst/>
            <a:rect r="r" b="b" t="t" l="l"/>
            <a:pathLst>
              <a:path h="219075" w="447675">
                <a:moveTo>
                  <a:pt x="0" y="0"/>
                </a:moveTo>
                <a:lnTo>
                  <a:pt x="447675" y="0"/>
                </a:lnTo>
                <a:lnTo>
                  <a:pt x="447675" y="219075"/>
                </a:lnTo>
                <a:lnTo>
                  <a:pt x="0" y="219075"/>
                </a:lnTo>
                <a:lnTo>
                  <a:pt x="0" y="0"/>
                </a:lnTo>
                <a:close/>
              </a:path>
            </a:pathLst>
          </a:custGeom>
          <a:blipFill>
            <a:blip r:embed="rId9"/>
            <a:stretch>
              <a:fillRect l="0" t="0" r="0" b="0"/>
            </a:stretch>
          </a:blipFill>
        </p:spPr>
      </p:sp>
      <p:sp>
        <p:nvSpPr>
          <p:cNvPr name="TextBox 13" id="13"/>
          <p:cNvSpPr txBox="true"/>
          <p:nvPr/>
        </p:nvSpPr>
        <p:spPr>
          <a:xfrm rot="0">
            <a:off x="877824" y="2143316"/>
            <a:ext cx="7406640" cy="476250"/>
          </a:xfrm>
          <a:prstGeom prst="rect">
            <a:avLst/>
          </a:prstGeom>
        </p:spPr>
        <p:txBody>
          <a:bodyPr anchor="t" rtlCol="false" tIns="0" lIns="0" bIns="0" rIns="0">
            <a:spAutoFit/>
          </a:bodyPr>
          <a:lstStyle/>
          <a:p>
            <a:pPr algn="l">
              <a:lnSpc>
                <a:spcPts val="1940"/>
              </a:lnSpc>
            </a:pPr>
            <a:r>
              <a:rPr lang="en-US" sz="1617">
                <a:solidFill>
                  <a:srgbClr val="2E2E2E"/>
                </a:solidFill>
                <a:latin typeface="Nunito"/>
                <a:ea typeface="Nunito"/>
                <a:cs typeface="Nunito"/>
                <a:sym typeface="Nunito"/>
              </a:rPr>
              <a:t>AOV antar kelompok usia stabil pada Rp1.024,548-Rp1.027,185, sehingga keunggulan usia &gt;50 berasal dari frekuensi, bukan AOV premium.</a:t>
            </a:r>
          </a:p>
        </p:txBody>
      </p:sp>
      <p:sp>
        <p:nvSpPr>
          <p:cNvPr name="Freeform 14" id="14"/>
          <p:cNvSpPr/>
          <p:nvPr/>
        </p:nvSpPr>
        <p:spPr>
          <a:xfrm flipH="false" flipV="false" rot="0">
            <a:off x="428625" y="2781300"/>
            <a:ext cx="447675" cy="219075"/>
          </a:xfrm>
          <a:custGeom>
            <a:avLst/>
            <a:gdLst/>
            <a:ahLst/>
            <a:cxnLst/>
            <a:rect r="r" b="b" t="t" l="l"/>
            <a:pathLst>
              <a:path h="219075" w="447675">
                <a:moveTo>
                  <a:pt x="0" y="0"/>
                </a:moveTo>
                <a:lnTo>
                  <a:pt x="447675" y="0"/>
                </a:lnTo>
                <a:lnTo>
                  <a:pt x="447675" y="219075"/>
                </a:lnTo>
                <a:lnTo>
                  <a:pt x="0" y="219075"/>
                </a:lnTo>
                <a:lnTo>
                  <a:pt x="0" y="0"/>
                </a:lnTo>
                <a:close/>
              </a:path>
            </a:pathLst>
          </a:custGeom>
          <a:blipFill>
            <a:blip r:embed="rId10"/>
            <a:stretch>
              <a:fillRect l="0" t="0" r="0" b="0"/>
            </a:stretch>
          </a:blipFill>
        </p:spPr>
      </p:sp>
      <p:sp>
        <p:nvSpPr>
          <p:cNvPr name="TextBox 15" id="15"/>
          <p:cNvSpPr txBox="true"/>
          <p:nvPr/>
        </p:nvSpPr>
        <p:spPr>
          <a:xfrm rot="0">
            <a:off x="877824" y="2850071"/>
            <a:ext cx="7406640" cy="400050"/>
          </a:xfrm>
          <a:prstGeom prst="rect">
            <a:avLst/>
          </a:prstGeom>
        </p:spPr>
        <p:txBody>
          <a:bodyPr anchor="t" rtlCol="false" tIns="0" lIns="0" bIns="0" rIns="0">
            <a:spAutoFit/>
          </a:bodyPr>
          <a:lstStyle/>
          <a:p>
            <a:pPr algn="l">
              <a:lnSpc>
                <a:spcPts val="1586"/>
              </a:lnSpc>
            </a:pPr>
            <a:r>
              <a:rPr lang="en-US" sz="1321">
                <a:solidFill>
                  <a:srgbClr val="2E2E2E"/>
                </a:solidFill>
                <a:latin typeface="Nunito"/>
                <a:ea typeface="Nunito"/>
                <a:cs typeface="Nunito"/>
                <a:sym typeface="Nunito"/>
              </a:rPr>
              <a:t>Performa wilayah relatif datar: GMV Rp49,5-50,7 miliar, dengan Surabaya tertinggi dan Yogyakarta terendah; fokus pertumbuhan lebih tepat pada perilaku segmen daripedsi si wilayah.</a:t>
            </a:r>
          </a:p>
        </p:txBody>
      </p:sp>
      <p:sp>
        <p:nvSpPr>
          <p:cNvPr name="Freeform 16" id="16"/>
          <p:cNvSpPr/>
          <p:nvPr/>
        </p:nvSpPr>
        <p:spPr>
          <a:xfrm flipH="false" flipV="false" rot="0">
            <a:off x="428625" y="3638550"/>
            <a:ext cx="447675" cy="219075"/>
          </a:xfrm>
          <a:custGeom>
            <a:avLst/>
            <a:gdLst/>
            <a:ahLst/>
            <a:cxnLst/>
            <a:rect r="r" b="b" t="t" l="l"/>
            <a:pathLst>
              <a:path h="219075" w="447675">
                <a:moveTo>
                  <a:pt x="0" y="0"/>
                </a:moveTo>
                <a:lnTo>
                  <a:pt x="447675" y="0"/>
                </a:lnTo>
                <a:lnTo>
                  <a:pt x="447675" y="219075"/>
                </a:lnTo>
                <a:lnTo>
                  <a:pt x="0" y="219075"/>
                </a:lnTo>
                <a:lnTo>
                  <a:pt x="0" y="0"/>
                </a:lnTo>
                <a:close/>
              </a:path>
            </a:pathLst>
          </a:custGeom>
          <a:blipFill>
            <a:blip r:embed="rId11"/>
            <a:stretch>
              <a:fillRect l="0" t="0" r="0" b="0"/>
            </a:stretch>
          </a:blipFill>
        </p:spPr>
      </p:sp>
      <p:sp>
        <p:nvSpPr>
          <p:cNvPr name="TextBox 17" id="17"/>
          <p:cNvSpPr txBox="true"/>
          <p:nvPr/>
        </p:nvSpPr>
        <p:spPr>
          <a:xfrm rot="0">
            <a:off x="877824" y="3614356"/>
            <a:ext cx="6839712" cy="476250"/>
          </a:xfrm>
          <a:prstGeom prst="rect">
            <a:avLst/>
          </a:prstGeom>
        </p:spPr>
        <p:txBody>
          <a:bodyPr anchor="t" rtlCol="false" tIns="0" lIns="0" bIns="0" rIns="0">
            <a:spAutoFit/>
          </a:bodyPr>
          <a:lstStyle/>
          <a:p>
            <a:pPr algn="l">
              <a:lnSpc>
                <a:spcPts val="1940"/>
              </a:lnSpc>
            </a:pPr>
            <a:r>
              <a:rPr lang="en-US" sz="1617">
                <a:solidFill>
                  <a:srgbClr val="2E2E2E"/>
                </a:solidFill>
                <a:latin typeface="Nunito"/>
                <a:ea typeface="Nunito"/>
                <a:cs typeface="Nunito"/>
                <a:sym typeface="Nunito"/>
              </a:rPr>
              <a:t>Promo memiliki peluang optimasi: median promoamount Rp0, mean Rp7,473,60, distribusi promo yang tidak merata.</a:t>
            </a:r>
          </a:p>
        </p:txBody>
      </p:sp>
      <p:sp>
        <p:nvSpPr>
          <p:cNvPr name="Freeform 18" id="18"/>
          <p:cNvSpPr/>
          <p:nvPr/>
        </p:nvSpPr>
        <p:spPr>
          <a:xfrm flipH="false" flipV="false" rot="0">
            <a:off x="428625" y="4286250"/>
            <a:ext cx="447675" cy="219075"/>
          </a:xfrm>
          <a:custGeom>
            <a:avLst/>
            <a:gdLst/>
            <a:ahLst/>
            <a:cxnLst/>
            <a:rect r="r" b="b" t="t" l="l"/>
            <a:pathLst>
              <a:path h="219075" w="447675">
                <a:moveTo>
                  <a:pt x="0" y="0"/>
                </a:moveTo>
                <a:lnTo>
                  <a:pt x="447675" y="0"/>
                </a:lnTo>
                <a:lnTo>
                  <a:pt x="447675" y="219075"/>
                </a:lnTo>
                <a:lnTo>
                  <a:pt x="0" y="219075"/>
                </a:lnTo>
                <a:lnTo>
                  <a:pt x="0" y="0"/>
                </a:lnTo>
                <a:close/>
              </a:path>
            </a:pathLst>
          </a:custGeom>
          <a:blipFill>
            <a:blip r:embed="rId12"/>
            <a:stretch>
              <a:fillRect l="0" t="0" r="0" b="0"/>
            </a:stretch>
          </a:blipFill>
        </p:spPr>
      </p:sp>
      <p:sp>
        <p:nvSpPr>
          <p:cNvPr name="TextBox 19" id="19"/>
          <p:cNvSpPr txBox="true"/>
          <p:nvPr/>
        </p:nvSpPr>
        <p:spPr>
          <a:xfrm rot="0">
            <a:off x="877824" y="4231576"/>
            <a:ext cx="7406640" cy="476250"/>
          </a:xfrm>
          <a:prstGeom prst="rect">
            <a:avLst/>
          </a:prstGeom>
        </p:spPr>
        <p:txBody>
          <a:bodyPr anchor="t" rtlCol="false" tIns="0" lIns="0" bIns="0" rIns="0">
            <a:spAutoFit/>
          </a:bodyPr>
          <a:lstStyle/>
          <a:p>
            <a:pPr algn="l">
              <a:lnSpc>
                <a:spcPts val="1940"/>
              </a:lnSpc>
            </a:pPr>
            <a:r>
              <a:rPr lang="en-US" sz="1617">
                <a:solidFill>
                  <a:srgbClr val="2E2E2E"/>
                </a:solidFill>
                <a:latin typeface="Nunito"/>
                <a:ea typeface="Nunito"/>
                <a:cs typeface="Nunito"/>
                <a:sym typeface="Nunito"/>
              </a:rPr>
              <a:t>Data dasar tervalidasi: 50.000 users, 300.000 transactions, 300.000 deliveriesies; tidak ada duplikat user_id atau order_id.</a:t>
            </a:r>
          </a:p>
        </p:txBody>
      </p:sp>
      <p:sp>
        <p:nvSpPr>
          <p:cNvPr name="Freeform 20" id="20"/>
          <p:cNvSpPr/>
          <p:nvPr/>
        </p:nvSpPr>
        <p:spPr>
          <a:xfrm flipH="false" flipV="false" rot="0">
            <a:off x="209550" y="4924425"/>
            <a:ext cx="8724900" cy="3648075"/>
          </a:xfrm>
          <a:custGeom>
            <a:avLst/>
            <a:gdLst/>
            <a:ahLst/>
            <a:cxnLst/>
            <a:rect r="r" b="b" t="t" l="l"/>
            <a:pathLst>
              <a:path h="3648075" w="8724900">
                <a:moveTo>
                  <a:pt x="0" y="0"/>
                </a:moveTo>
                <a:lnTo>
                  <a:pt x="8724900" y="0"/>
                </a:lnTo>
                <a:lnTo>
                  <a:pt x="8724900" y="3648075"/>
                </a:lnTo>
                <a:lnTo>
                  <a:pt x="0" y="3648075"/>
                </a:lnTo>
                <a:lnTo>
                  <a:pt x="0" y="0"/>
                </a:lnTo>
                <a:close/>
              </a:path>
            </a:pathLst>
          </a:custGeom>
          <a:blipFill>
            <a:blip r:embed="rId13"/>
            <a:stretch>
              <a:fillRect l="0" t="0" r="0" b="0"/>
            </a:stretch>
          </a:blipFill>
        </p:spPr>
      </p:sp>
      <p:sp>
        <p:nvSpPr>
          <p:cNvPr name="Freeform 21" id="21"/>
          <p:cNvSpPr/>
          <p:nvPr/>
        </p:nvSpPr>
        <p:spPr>
          <a:xfrm flipH="false" flipV="false" rot="0">
            <a:off x="428625" y="4924425"/>
            <a:ext cx="447675" cy="647700"/>
          </a:xfrm>
          <a:custGeom>
            <a:avLst/>
            <a:gdLst/>
            <a:ahLst/>
            <a:cxnLst/>
            <a:rect r="r" b="b" t="t" l="l"/>
            <a:pathLst>
              <a:path h="647700" w="447675">
                <a:moveTo>
                  <a:pt x="0" y="0"/>
                </a:moveTo>
                <a:lnTo>
                  <a:pt x="447675" y="0"/>
                </a:lnTo>
                <a:lnTo>
                  <a:pt x="447675" y="647700"/>
                </a:lnTo>
                <a:lnTo>
                  <a:pt x="0" y="647700"/>
                </a:lnTo>
                <a:lnTo>
                  <a:pt x="0" y="0"/>
                </a:lnTo>
                <a:close/>
              </a:path>
            </a:pathLst>
          </a:custGeom>
          <a:blipFill>
            <a:blip r:embed="rId14"/>
            <a:stretch>
              <a:fillRect l="0" t="0" r="0" b="0"/>
            </a:stretch>
          </a:blipFill>
        </p:spPr>
      </p:sp>
      <p:sp>
        <p:nvSpPr>
          <p:cNvPr name="Freeform 22" id="22"/>
          <p:cNvSpPr/>
          <p:nvPr/>
        </p:nvSpPr>
        <p:spPr>
          <a:xfrm flipH="false" flipV="false" rot="0">
            <a:off x="866775" y="4924425"/>
            <a:ext cx="4143375" cy="647700"/>
          </a:xfrm>
          <a:custGeom>
            <a:avLst/>
            <a:gdLst/>
            <a:ahLst/>
            <a:cxnLst/>
            <a:rect r="r" b="b" t="t" l="l"/>
            <a:pathLst>
              <a:path h="647700" w="4143375">
                <a:moveTo>
                  <a:pt x="0" y="0"/>
                </a:moveTo>
                <a:lnTo>
                  <a:pt x="4143375" y="0"/>
                </a:lnTo>
                <a:lnTo>
                  <a:pt x="4143375" y="647700"/>
                </a:lnTo>
                <a:lnTo>
                  <a:pt x="0" y="647700"/>
                </a:lnTo>
                <a:lnTo>
                  <a:pt x="0" y="0"/>
                </a:lnTo>
                <a:close/>
              </a:path>
            </a:pathLst>
          </a:custGeom>
          <a:blipFill>
            <a:blip r:embed="rId15"/>
            <a:stretch>
              <a:fillRect l="0" t="0" r="0" b="0"/>
            </a:stretch>
          </a:blipFill>
        </p:spPr>
      </p:sp>
      <p:sp>
        <p:nvSpPr>
          <p:cNvPr name="Freeform 23" id="23"/>
          <p:cNvSpPr/>
          <p:nvPr/>
        </p:nvSpPr>
        <p:spPr>
          <a:xfrm flipH="false" flipV="false" rot="0">
            <a:off x="428625" y="5353050"/>
            <a:ext cx="4143375" cy="647700"/>
          </a:xfrm>
          <a:custGeom>
            <a:avLst/>
            <a:gdLst/>
            <a:ahLst/>
            <a:cxnLst/>
            <a:rect r="r" b="b" t="t" l="l"/>
            <a:pathLst>
              <a:path h="647700" w="4143375">
                <a:moveTo>
                  <a:pt x="0" y="0"/>
                </a:moveTo>
                <a:lnTo>
                  <a:pt x="4143375" y="0"/>
                </a:lnTo>
                <a:lnTo>
                  <a:pt x="4143375" y="647700"/>
                </a:lnTo>
                <a:lnTo>
                  <a:pt x="0" y="647700"/>
                </a:lnTo>
                <a:lnTo>
                  <a:pt x="0" y="0"/>
                </a:lnTo>
                <a:close/>
              </a:path>
            </a:pathLst>
          </a:custGeom>
          <a:blipFill>
            <a:blip r:embed="rId16"/>
            <a:stretch>
              <a:fillRect l="0" t="0" r="0" b="0"/>
            </a:stretch>
          </a:blipFill>
        </p:spPr>
      </p:sp>
      <p:sp>
        <p:nvSpPr>
          <p:cNvPr name="TextBox 24" id="24"/>
          <p:cNvSpPr txBox="true"/>
          <p:nvPr/>
        </p:nvSpPr>
        <p:spPr>
          <a:xfrm rot="0">
            <a:off x="1682496" y="5599724"/>
            <a:ext cx="1609344" cy="176451"/>
          </a:xfrm>
          <a:prstGeom prst="rect">
            <a:avLst/>
          </a:prstGeom>
        </p:spPr>
        <p:txBody>
          <a:bodyPr anchor="t" rtlCol="false" tIns="0" lIns="0" bIns="0" rIns="0">
            <a:spAutoFit/>
          </a:bodyPr>
          <a:lstStyle/>
          <a:p>
            <a:pPr algn="ctr">
              <a:lnSpc>
                <a:spcPts val="1321"/>
              </a:lnSpc>
            </a:pPr>
            <a:r>
              <a:rPr lang="en-US" b="true" sz="1321">
                <a:solidFill>
                  <a:srgbClr val="FFFFFF"/>
                </a:solidFill>
                <a:latin typeface="Nunito Bold"/>
                <a:ea typeface="Nunito Bold"/>
                <a:cs typeface="Nunito Bold"/>
                <a:sym typeface="Nunito Bold"/>
              </a:rPr>
              <a:t>SEBELUM ANALISIS</a:t>
            </a:r>
          </a:p>
        </p:txBody>
      </p:sp>
      <p:sp>
        <p:nvSpPr>
          <p:cNvPr name="Freeform 25" id="25"/>
          <p:cNvSpPr/>
          <p:nvPr/>
        </p:nvSpPr>
        <p:spPr>
          <a:xfrm flipH="false" flipV="false" rot="0">
            <a:off x="4352925" y="5353050"/>
            <a:ext cx="4362450" cy="647700"/>
          </a:xfrm>
          <a:custGeom>
            <a:avLst/>
            <a:gdLst/>
            <a:ahLst/>
            <a:cxnLst/>
            <a:rect r="r" b="b" t="t" l="l"/>
            <a:pathLst>
              <a:path h="647700" w="4362450">
                <a:moveTo>
                  <a:pt x="0" y="0"/>
                </a:moveTo>
                <a:lnTo>
                  <a:pt x="4362450" y="0"/>
                </a:lnTo>
                <a:lnTo>
                  <a:pt x="4362450" y="647700"/>
                </a:lnTo>
                <a:lnTo>
                  <a:pt x="0" y="647700"/>
                </a:lnTo>
                <a:lnTo>
                  <a:pt x="0" y="0"/>
                </a:lnTo>
                <a:close/>
              </a:path>
            </a:pathLst>
          </a:custGeom>
          <a:blipFill>
            <a:blip r:embed="rId17"/>
            <a:stretch>
              <a:fillRect l="0" t="0" r="0" b="0"/>
            </a:stretch>
          </a:blipFill>
        </p:spPr>
      </p:sp>
      <p:sp>
        <p:nvSpPr>
          <p:cNvPr name="TextBox 26" id="26"/>
          <p:cNvSpPr txBox="true"/>
          <p:nvPr/>
        </p:nvSpPr>
        <p:spPr>
          <a:xfrm rot="0">
            <a:off x="4882896" y="5599724"/>
            <a:ext cx="3456432" cy="176451"/>
          </a:xfrm>
          <a:prstGeom prst="rect">
            <a:avLst/>
          </a:prstGeom>
        </p:spPr>
        <p:txBody>
          <a:bodyPr anchor="t" rtlCol="false" tIns="0" lIns="0" bIns="0" rIns="0">
            <a:spAutoFit/>
          </a:bodyPr>
          <a:lstStyle/>
          <a:p>
            <a:pPr algn="ctr">
              <a:lnSpc>
                <a:spcPts val="1321"/>
              </a:lnSpc>
            </a:pPr>
            <a:r>
              <a:rPr lang="en-US" b="true" sz="1321">
                <a:solidFill>
                  <a:srgbClr val="FFFFFF"/>
                </a:solidFill>
                <a:latin typeface="Nunito Bold"/>
                <a:ea typeface="Nunito Bold"/>
                <a:cs typeface="Nunito Bold"/>
                <a:sym typeface="Nunito Bold"/>
              </a:rPr>
              <a:t>SESUDAH IMPLEMENTASI REKOMENDASI</a:t>
            </a:r>
          </a:p>
        </p:txBody>
      </p:sp>
      <p:sp>
        <p:nvSpPr>
          <p:cNvPr name="Freeform 27" id="27"/>
          <p:cNvSpPr/>
          <p:nvPr/>
        </p:nvSpPr>
        <p:spPr>
          <a:xfrm flipH="false" flipV="false" rot="0">
            <a:off x="428625" y="5781675"/>
            <a:ext cx="4143375" cy="2362200"/>
          </a:xfrm>
          <a:custGeom>
            <a:avLst/>
            <a:gdLst/>
            <a:ahLst/>
            <a:cxnLst/>
            <a:rect r="r" b="b" t="t" l="l"/>
            <a:pathLst>
              <a:path h="2362200" w="4143375">
                <a:moveTo>
                  <a:pt x="0" y="0"/>
                </a:moveTo>
                <a:lnTo>
                  <a:pt x="4143375" y="0"/>
                </a:lnTo>
                <a:lnTo>
                  <a:pt x="4143375" y="2362200"/>
                </a:lnTo>
                <a:lnTo>
                  <a:pt x="0" y="2362200"/>
                </a:lnTo>
                <a:lnTo>
                  <a:pt x="0" y="0"/>
                </a:lnTo>
                <a:close/>
              </a:path>
            </a:pathLst>
          </a:custGeom>
          <a:blipFill>
            <a:blip r:embed="rId18"/>
            <a:stretch>
              <a:fillRect l="0" t="0" r="0" b="0"/>
            </a:stretch>
          </a:blipFill>
        </p:spPr>
      </p:sp>
      <p:sp>
        <p:nvSpPr>
          <p:cNvPr name="Freeform 28" id="28"/>
          <p:cNvSpPr/>
          <p:nvPr/>
        </p:nvSpPr>
        <p:spPr>
          <a:xfrm flipH="false" flipV="false" rot="0">
            <a:off x="4133850" y="6000750"/>
            <a:ext cx="438150" cy="428625"/>
          </a:xfrm>
          <a:custGeom>
            <a:avLst/>
            <a:gdLst/>
            <a:ahLst/>
            <a:cxnLst/>
            <a:rect r="r" b="b" t="t" l="l"/>
            <a:pathLst>
              <a:path h="428625" w="438150">
                <a:moveTo>
                  <a:pt x="0" y="0"/>
                </a:moveTo>
                <a:lnTo>
                  <a:pt x="438150" y="0"/>
                </a:lnTo>
                <a:lnTo>
                  <a:pt x="438150" y="428625"/>
                </a:lnTo>
                <a:lnTo>
                  <a:pt x="0" y="428625"/>
                </a:lnTo>
                <a:lnTo>
                  <a:pt x="0" y="0"/>
                </a:lnTo>
                <a:close/>
              </a:path>
            </a:pathLst>
          </a:custGeom>
          <a:blipFill>
            <a:blip r:embed="rId19"/>
            <a:stretch>
              <a:fillRect l="0" t="0" r="0" b="0"/>
            </a:stretch>
          </a:blipFill>
        </p:spPr>
      </p:sp>
      <p:sp>
        <p:nvSpPr>
          <p:cNvPr name="TextBox 29" id="29"/>
          <p:cNvSpPr txBox="true"/>
          <p:nvPr/>
        </p:nvSpPr>
        <p:spPr>
          <a:xfrm rot="0">
            <a:off x="4681728" y="6009025"/>
            <a:ext cx="3749040" cy="452080"/>
          </a:xfrm>
          <a:prstGeom prst="rect">
            <a:avLst/>
          </a:prstGeom>
        </p:spPr>
        <p:txBody>
          <a:bodyPr anchor="t" rtlCol="false" tIns="0" lIns="0" bIns="0" rIns="0">
            <a:spAutoFit/>
          </a:bodyPr>
          <a:lstStyle/>
          <a:p>
            <a:pPr algn="l">
              <a:lnSpc>
                <a:spcPts val="1857"/>
              </a:lnSpc>
            </a:pPr>
            <a:r>
              <a:rPr lang="en-US" sz="1326" b="true">
                <a:solidFill>
                  <a:srgbClr val="2E2E2E"/>
                </a:solidFill>
                <a:latin typeface="Nunito Bold"/>
                <a:ea typeface="Nunito Bold"/>
                <a:cs typeface="Nunito Bold"/>
                <a:sym typeface="Nunito Bold"/>
              </a:rPr>
              <a:t>Prioritas retensi pada kelompok &gt;50 sebagai volume driver.</a:t>
            </a:r>
          </a:p>
        </p:txBody>
      </p:sp>
      <p:sp>
        <p:nvSpPr>
          <p:cNvPr name="TextBox 30" id="30"/>
          <p:cNvSpPr txBox="true"/>
          <p:nvPr/>
        </p:nvSpPr>
        <p:spPr>
          <a:xfrm rot="0">
            <a:off x="548640" y="6729115"/>
            <a:ext cx="3163824" cy="452080"/>
          </a:xfrm>
          <a:prstGeom prst="rect">
            <a:avLst/>
          </a:prstGeom>
        </p:spPr>
        <p:txBody>
          <a:bodyPr anchor="t" rtlCol="false" tIns="0" lIns="0" bIns="0" rIns="0">
            <a:spAutoFit/>
          </a:bodyPr>
          <a:lstStyle/>
          <a:p>
            <a:pPr algn="l">
              <a:lnSpc>
                <a:spcPts val="1857"/>
              </a:lnSpc>
            </a:pPr>
            <a:r>
              <a:rPr lang="en-US" sz="1326" b="true">
                <a:solidFill>
                  <a:srgbClr val="2E2E2E"/>
                </a:solidFill>
                <a:latin typeface="Nunito Bold"/>
                <a:ea typeface="Nunito Bold"/>
                <a:cs typeface="Nunito Bold"/>
                <a:sym typeface="Nunito Bold"/>
              </a:rPr>
              <a:t>Budget promo dan retensi belum dibelakan berdasarkan frekuensi/AOV.</a:t>
            </a:r>
          </a:p>
        </p:txBody>
      </p:sp>
      <p:sp>
        <p:nvSpPr>
          <p:cNvPr name="Freeform 31" id="31"/>
          <p:cNvSpPr/>
          <p:nvPr/>
        </p:nvSpPr>
        <p:spPr>
          <a:xfrm flipH="false" flipV="false" rot="0">
            <a:off x="4133850" y="6858000"/>
            <a:ext cx="438150" cy="219075"/>
          </a:xfrm>
          <a:custGeom>
            <a:avLst/>
            <a:gdLst/>
            <a:ahLst/>
            <a:cxnLst/>
            <a:rect r="r" b="b" t="t" l="l"/>
            <a:pathLst>
              <a:path h="219075" w="438150">
                <a:moveTo>
                  <a:pt x="0" y="0"/>
                </a:moveTo>
                <a:lnTo>
                  <a:pt x="438150" y="0"/>
                </a:lnTo>
                <a:lnTo>
                  <a:pt x="438150" y="219075"/>
                </a:lnTo>
                <a:lnTo>
                  <a:pt x="0" y="219075"/>
                </a:lnTo>
                <a:lnTo>
                  <a:pt x="0" y="0"/>
                </a:lnTo>
                <a:close/>
              </a:path>
            </a:pathLst>
          </a:custGeom>
          <a:blipFill>
            <a:blip r:embed="rId20"/>
            <a:stretch>
              <a:fillRect l="0" t="0" r="0" b="0"/>
            </a:stretch>
          </a:blipFill>
        </p:spPr>
      </p:sp>
      <p:sp>
        <p:nvSpPr>
          <p:cNvPr name="TextBox 32" id="32"/>
          <p:cNvSpPr txBox="true"/>
          <p:nvPr/>
        </p:nvSpPr>
        <p:spPr>
          <a:xfrm rot="0">
            <a:off x="4681728" y="6765131"/>
            <a:ext cx="3749040" cy="389572"/>
          </a:xfrm>
          <a:prstGeom prst="rect">
            <a:avLst/>
          </a:prstGeom>
        </p:spPr>
        <p:txBody>
          <a:bodyPr anchor="t" rtlCol="false" tIns="0" lIns="0" bIns="0" rIns="0">
            <a:spAutoFit/>
          </a:bodyPr>
          <a:lstStyle/>
          <a:p>
            <a:pPr algn="l">
              <a:lnSpc>
                <a:spcPts val="1627"/>
              </a:lnSpc>
            </a:pPr>
            <a:r>
              <a:rPr lang="en-US" sz="1162" b="true">
                <a:solidFill>
                  <a:srgbClr val="2E2E2E"/>
                </a:solidFill>
                <a:latin typeface="Nunito Bold"/>
                <a:ea typeface="Nunito Bold"/>
                <a:cs typeface="Nunito Bold"/>
                <a:sym typeface="Nunito Bold"/>
              </a:rPr>
              <a:t>Promo ditargetkan berdasarkan perilaku; cross-selling dijual pada segmen relevan.</a:t>
            </a:r>
          </a:p>
        </p:txBody>
      </p:sp>
      <p:sp>
        <p:nvSpPr>
          <p:cNvPr name="TextBox 33" id="33"/>
          <p:cNvSpPr txBox="true"/>
          <p:nvPr/>
        </p:nvSpPr>
        <p:spPr>
          <a:xfrm rot="0">
            <a:off x="548640" y="7449205"/>
            <a:ext cx="3163824" cy="452080"/>
          </a:xfrm>
          <a:prstGeom prst="rect">
            <a:avLst/>
          </a:prstGeom>
        </p:spPr>
        <p:txBody>
          <a:bodyPr anchor="t" rtlCol="false" tIns="0" lIns="0" bIns="0" rIns="0">
            <a:spAutoFit/>
          </a:bodyPr>
          <a:lstStyle/>
          <a:p>
            <a:pPr algn="l">
              <a:lnSpc>
                <a:spcPts val="1857"/>
              </a:lnSpc>
            </a:pPr>
            <a:r>
              <a:rPr lang="en-US" sz="1326" b="true">
                <a:solidFill>
                  <a:srgbClr val="2E2E2E"/>
                </a:solidFill>
                <a:latin typeface="Nunito Bold"/>
                <a:ea typeface="Nunito Bold"/>
                <a:cs typeface="Nunito Bold"/>
                <a:sym typeface="Nunito Bold"/>
              </a:rPr>
              <a:t>Performa wilayah dibaca terpisari dari user.</a:t>
            </a:r>
          </a:p>
        </p:txBody>
      </p:sp>
      <p:sp>
        <p:nvSpPr>
          <p:cNvPr name="Freeform 34" id="34"/>
          <p:cNvSpPr/>
          <p:nvPr/>
        </p:nvSpPr>
        <p:spPr>
          <a:xfrm flipH="false" flipV="false" rot="0">
            <a:off x="4133850" y="7496175"/>
            <a:ext cx="438150" cy="438150"/>
          </a:xfrm>
          <a:custGeom>
            <a:avLst/>
            <a:gdLst/>
            <a:ahLst/>
            <a:cxnLst/>
            <a:rect r="r" b="b" t="t" l="l"/>
            <a:pathLst>
              <a:path h="438150" w="438150">
                <a:moveTo>
                  <a:pt x="0" y="0"/>
                </a:moveTo>
                <a:lnTo>
                  <a:pt x="438150" y="0"/>
                </a:lnTo>
                <a:lnTo>
                  <a:pt x="438150" y="438150"/>
                </a:lnTo>
                <a:lnTo>
                  <a:pt x="0" y="438150"/>
                </a:lnTo>
                <a:lnTo>
                  <a:pt x="0" y="0"/>
                </a:lnTo>
                <a:close/>
              </a:path>
            </a:pathLst>
          </a:custGeom>
          <a:blipFill>
            <a:blip r:embed="rId21"/>
            <a:stretch>
              <a:fillRect l="0" t="0" r="0" b="0"/>
            </a:stretch>
          </a:blipFill>
        </p:spPr>
      </p:sp>
      <p:sp>
        <p:nvSpPr>
          <p:cNvPr name="TextBox 35" id="35"/>
          <p:cNvSpPr txBox="true"/>
          <p:nvPr/>
        </p:nvSpPr>
        <p:spPr>
          <a:xfrm rot="0">
            <a:off x="4681728" y="7449205"/>
            <a:ext cx="3749040" cy="452080"/>
          </a:xfrm>
          <a:prstGeom prst="rect">
            <a:avLst/>
          </a:prstGeom>
        </p:spPr>
        <p:txBody>
          <a:bodyPr anchor="t" rtlCol="false" tIns="0" lIns="0" bIns="0" rIns="0">
            <a:spAutoFit/>
          </a:bodyPr>
          <a:lstStyle/>
          <a:p>
            <a:pPr algn="l">
              <a:lnSpc>
                <a:spcPts val="1857"/>
              </a:lnSpc>
            </a:pPr>
            <a:r>
              <a:rPr lang="en-US" sz="1326" b="true">
                <a:solidFill>
                  <a:srgbClr val="2E2E2E"/>
                </a:solidFill>
                <a:latin typeface="Nunito Bold"/>
                <a:ea typeface="Nunito Bold"/>
                <a:cs typeface="Nunito Bold"/>
                <a:sym typeface="Nunito Bold"/>
              </a:rPr>
              <a:t>Keputusan wilayah, user, frekuensi, dan AOV dibaca dalam satu kerangka.</a:t>
            </a:r>
          </a:p>
        </p:txBody>
      </p:sp>
      <p:sp>
        <p:nvSpPr>
          <p:cNvPr name="Freeform 36" id="36"/>
          <p:cNvSpPr/>
          <p:nvPr/>
        </p:nvSpPr>
        <p:spPr>
          <a:xfrm flipH="false" flipV="false" rot="0">
            <a:off x="8924925" y="857250"/>
            <a:ext cx="9153525" cy="4076700"/>
          </a:xfrm>
          <a:custGeom>
            <a:avLst/>
            <a:gdLst/>
            <a:ahLst/>
            <a:cxnLst/>
            <a:rect r="r" b="b" t="t" l="l"/>
            <a:pathLst>
              <a:path h="4076700" w="9153525">
                <a:moveTo>
                  <a:pt x="0" y="0"/>
                </a:moveTo>
                <a:lnTo>
                  <a:pt x="9153525" y="0"/>
                </a:lnTo>
                <a:lnTo>
                  <a:pt x="9153525" y="4076700"/>
                </a:lnTo>
                <a:lnTo>
                  <a:pt x="0" y="4076700"/>
                </a:lnTo>
                <a:lnTo>
                  <a:pt x="0" y="0"/>
                </a:lnTo>
                <a:close/>
              </a:path>
            </a:pathLst>
          </a:custGeom>
          <a:blipFill>
            <a:blip r:embed="rId22"/>
            <a:stretch>
              <a:fillRect l="0" t="0" r="0" b="0"/>
            </a:stretch>
          </a:blipFill>
        </p:spPr>
      </p:sp>
      <p:sp>
        <p:nvSpPr>
          <p:cNvPr name="Freeform 37" id="37"/>
          <p:cNvSpPr/>
          <p:nvPr/>
        </p:nvSpPr>
        <p:spPr>
          <a:xfrm flipH="false" flipV="false" rot="0">
            <a:off x="9144000" y="857250"/>
            <a:ext cx="657225" cy="647700"/>
          </a:xfrm>
          <a:custGeom>
            <a:avLst/>
            <a:gdLst/>
            <a:ahLst/>
            <a:cxnLst/>
            <a:rect r="r" b="b" t="t" l="l"/>
            <a:pathLst>
              <a:path h="647700" w="657225">
                <a:moveTo>
                  <a:pt x="0" y="0"/>
                </a:moveTo>
                <a:lnTo>
                  <a:pt x="657225" y="0"/>
                </a:lnTo>
                <a:lnTo>
                  <a:pt x="657225" y="647700"/>
                </a:lnTo>
                <a:lnTo>
                  <a:pt x="0" y="647700"/>
                </a:lnTo>
                <a:lnTo>
                  <a:pt x="0" y="0"/>
                </a:lnTo>
                <a:close/>
              </a:path>
            </a:pathLst>
          </a:custGeom>
          <a:blipFill>
            <a:blip r:embed="rId23"/>
            <a:stretch>
              <a:fillRect l="0" t="0" r="0" b="0"/>
            </a:stretch>
          </a:blipFill>
        </p:spPr>
      </p:sp>
      <p:sp>
        <p:nvSpPr>
          <p:cNvPr name="Freeform 38" id="38"/>
          <p:cNvSpPr/>
          <p:nvPr/>
        </p:nvSpPr>
        <p:spPr>
          <a:xfrm flipH="false" flipV="false" rot="0">
            <a:off x="9572625" y="857250"/>
            <a:ext cx="4143375" cy="647700"/>
          </a:xfrm>
          <a:custGeom>
            <a:avLst/>
            <a:gdLst/>
            <a:ahLst/>
            <a:cxnLst/>
            <a:rect r="r" b="b" t="t" l="l"/>
            <a:pathLst>
              <a:path h="647700" w="4143375">
                <a:moveTo>
                  <a:pt x="0" y="0"/>
                </a:moveTo>
                <a:lnTo>
                  <a:pt x="4143375" y="0"/>
                </a:lnTo>
                <a:lnTo>
                  <a:pt x="4143375" y="647700"/>
                </a:lnTo>
                <a:lnTo>
                  <a:pt x="0" y="647700"/>
                </a:lnTo>
                <a:lnTo>
                  <a:pt x="0" y="0"/>
                </a:lnTo>
                <a:close/>
              </a:path>
            </a:pathLst>
          </a:custGeom>
          <a:blipFill>
            <a:blip r:embed="rId24"/>
            <a:stretch>
              <a:fillRect l="0" t="0" r="0" b="0"/>
            </a:stretch>
          </a:blipFill>
        </p:spPr>
      </p:sp>
      <p:sp>
        <p:nvSpPr>
          <p:cNvPr name="TextBox 39" id="39"/>
          <p:cNvSpPr txBox="true"/>
          <p:nvPr/>
        </p:nvSpPr>
        <p:spPr>
          <a:xfrm rot="0">
            <a:off x="10277856" y="1066633"/>
            <a:ext cx="2889504" cy="189309"/>
          </a:xfrm>
          <a:prstGeom prst="rect">
            <a:avLst/>
          </a:prstGeom>
        </p:spPr>
        <p:txBody>
          <a:bodyPr anchor="t" rtlCol="false" tIns="0" lIns="0" bIns="0" rIns="0">
            <a:spAutoFit/>
          </a:bodyPr>
          <a:lstStyle/>
          <a:p>
            <a:pPr algn="l">
              <a:lnSpc>
                <a:spcPts val="1453"/>
              </a:lnSpc>
            </a:pPr>
            <a:r>
              <a:rPr lang="en-US" sz="1453" b="true">
                <a:solidFill>
                  <a:srgbClr val="FFFFFF"/>
                </a:solidFill>
                <a:latin typeface="Nunito Bold"/>
                <a:ea typeface="Nunito Bold"/>
                <a:cs typeface="Nunito Bold"/>
                <a:sym typeface="Nunito Bold"/>
              </a:rPr>
              <a:t>JAWABAN BUSINESS PROBLEM</a:t>
            </a:r>
          </a:p>
        </p:txBody>
      </p:sp>
      <p:sp>
        <p:nvSpPr>
          <p:cNvPr name="Freeform 40" id="40"/>
          <p:cNvSpPr/>
          <p:nvPr/>
        </p:nvSpPr>
        <p:spPr>
          <a:xfrm flipH="false" flipV="false" rot="0">
            <a:off x="9144000" y="1285875"/>
            <a:ext cx="8496300" cy="1076325"/>
          </a:xfrm>
          <a:custGeom>
            <a:avLst/>
            <a:gdLst/>
            <a:ahLst/>
            <a:cxnLst/>
            <a:rect r="r" b="b" t="t" l="l"/>
            <a:pathLst>
              <a:path h="1076325" w="8496300">
                <a:moveTo>
                  <a:pt x="0" y="0"/>
                </a:moveTo>
                <a:lnTo>
                  <a:pt x="8496300" y="0"/>
                </a:lnTo>
                <a:lnTo>
                  <a:pt x="8496300" y="1076325"/>
                </a:lnTo>
                <a:lnTo>
                  <a:pt x="0" y="1076325"/>
                </a:lnTo>
                <a:lnTo>
                  <a:pt x="0" y="0"/>
                </a:lnTo>
                <a:close/>
              </a:path>
            </a:pathLst>
          </a:custGeom>
          <a:blipFill>
            <a:blip r:embed="rId25"/>
            <a:stretch>
              <a:fillRect l="0" t="0" r="0" b="0"/>
            </a:stretch>
          </a:blipFill>
        </p:spPr>
      </p:sp>
      <p:sp>
        <p:nvSpPr>
          <p:cNvPr name="TextBox 41" id="41"/>
          <p:cNvSpPr txBox="true"/>
          <p:nvPr/>
        </p:nvSpPr>
        <p:spPr>
          <a:xfrm rot="0">
            <a:off x="9509760" y="1711262"/>
            <a:ext cx="7534656" cy="476250"/>
          </a:xfrm>
          <a:prstGeom prst="rect">
            <a:avLst/>
          </a:prstGeom>
        </p:spPr>
        <p:txBody>
          <a:bodyPr anchor="t" rtlCol="false" tIns="0" lIns="0" bIns="0" rIns="0">
            <a:spAutoFit/>
          </a:bodyPr>
          <a:lstStyle/>
          <a:p>
            <a:pPr algn="l">
              <a:lnSpc>
                <a:spcPts val="1940"/>
              </a:lnSpc>
            </a:pPr>
            <a:r>
              <a:rPr lang="en-US" sz="1617" b="true">
                <a:solidFill>
                  <a:srgbClr val="2E2E2E"/>
                </a:solidFill>
                <a:latin typeface="Nunito Bold"/>
                <a:ea typeface="Nunito Bold"/>
                <a:cs typeface="Nunito Bold"/>
                <a:sym typeface="Nunito Bold"/>
              </a:rPr>
              <a:t>Prioritas strategi pertumbuhan sebaiknya ditentukan oleh frekuensi pembelian dan potensi upsell, bukan hanya wilayah atau AOV.</a:t>
            </a:r>
          </a:p>
        </p:txBody>
      </p:sp>
      <p:sp>
        <p:nvSpPr>
          <p:cNvPr name="Freeform 42" id="42"/>
          <p:cNvSpPr/>
          <p:nvPr/>
        </p:nvSpPr>
        <p:spPr>
          <a:xfrm flipH="false" flipV="false" rot="0">
            <a:off x="9144000" y="2571750"/>
            <a:ext cx="657225" cy="428625"/>
          </a:xfrm>
          <a:custGeom>
            <a:avLst/>
            <a:gdLst/>
            <a:ahLst/>
            <a:cxnLst/>
            <a:rect r="r" b="b" t="t" l="l"/>
            <a:pathLst>
              <a:path h="428625" w="657225">
                <a:moveTo>
                  <a:pt x="0" y="0"/>
                </a:moveTo>
                <a:lnTo>
                  <a:pt x="657225" y="0"/>
                </a:lnTo>
                <a:lnTo>
                  <a:pt x="657225" y="428625"/>
                </a:lnTo>
                <a:lnTo>
                  <a:pt x="0" y="428625"/>
                </a:lnTo>
                <a:lnTo>
                  <a:pt x="0" y="0"/>
                </a:lnTo>
                <a:close/>
              </a:path>
            </a:pathLst>
          </a:custGeom>
          <a:blipFill>
            <a:blip r:embed="rId26"/>
            <a:stretch>
              <a:fillRect l="0" t="0" r="0" b="0"/>
            </a:stretch>
          </a:blipFill>
        </p:spPr>
      </p:sp>
      <p:sp>
        <p:nvSpPr>
          <p:cNvPr name="TextBox 43" id="43"/>
          <p:cNvSpPr txBox="true"/>
          <p:nvPr/>
        </p:nvSpPr>
        <p:spPr>
          <a:xfrm rot="0">
            <a:off x="9747504" y="2672334"/>
            <a:ext cx="4846320" cy="209550"/>
          </a:xfrm>
          <a:prstGeom prst="rect">
            <a:avLst/>
          </a:prstGeom>
        </p:spPr>
        <p:txBody>
          <a:bodyPr anchor="t" rtlCol="false" tIns="0" lIns="0" bIns="0" rIns="0">
            <a:spAutoFit/>
          </a:bodyPr>
          <a:lstStyle/>
          <a:p>
            <a:pPr algn="l">
              <a:lnSpc>
                <a:spcPts val="1783"/>
              </a:lnSpc>
            </a:pPr>
            <a:r>
              <a:rPr lang="en-US" sz="1485" b="true">
                <a:solidFill>
                  <a:srgbClr val="2E2E2E"/>
                </a:solidFill>
                <a:latin typeface="Nunito Bold"/>
                <a:ea typeface="Nunito Bold"/>
                <a:cs typeface="Nunito Bold"/>
                <a:sym typeface="Nunito Bold"/>
              </a:rPr>
              <a:t>Pertahankan dan pelajari pola frekuensi kelompok &gt;50.</a:t>
            </a:r>
          </a:p>
        </p:txBody>
      </p:sp>
      <p:sp>
        <p:nvSpPr>
          <p:cNvPr name="TextBox 44" id="44"/>
          <p:cNvSpPr txBox="true"/>
          <p:nvPr/>
        </p:nvSpPr>
        <p:spPr>
          <a:xfrm rot="0">
            <a:off x="17282160" y="258616"/>
            <a:ext cx="384048" cy="271820"/>
          </a:xfrm>
          <a:prstGeom prst="rect">
            <a:avLst/>
          </a:prstGeom>
        </p:spPr>
        <p:txBody>
          <a:bodyPr anchor="t" rtlCol="false" tIns="0" lIns="0" bIns="0" rIns="0">
            <a:spAutoFit/>
          </a:bodyPr>
          <a:lstStyle/>
          <a:p>
            <a:pPr algn="ctr">
              <a:lnSpc>
                <a:spcPts val="2076"/>
              </a:lnSpc>
            </a:pPr>
            <a:r>
              <a:rPr lang="en-US" sz="2076" b="true">
                <a:solidFill>
                  <a:srgbClr val="FFFFFF"/>
                </a:solidFill>
                <a:latin typeface="Nunito Bold"/>
                <a:ea typeface="Nunito Bold"/>
                <a:cs typeface="Nunito Bold"/>
                <a:sym typeface="Nunito Bold"/>
              </a:rPr>
              <a:t>11</a:t>
            </a:r>
          </a:p>
        </p:txBody>
      </p:sp>
      <p:sp>
        <p:nvSpPr>
          <p:cNvPr name="TextBox 45" id="45"/>
          <p:cNvSpPr txBox="true"/>
          <p:nvPr/>
        </p:nvSpPr>
        <p:spPr>
          <a:xfrm rot="0">
            <a:off x="365760" y="9882592"/>
            <a:ext cx="932688" cy="189309"/>
          </a:xfrm>
          <a:prstGeom prst="rect">
            <a:avLst/>
          </a:prstGeom>
        </p:spPr>
        <p:txBody>
          <a:bodyPr anchor="t" rtlCol="false" tIns="0" lIns="0" bIns="0" rIns="0">
            <a:spAutoFit/>
          </a:bodyPr>
          <a:lstStyle/>
          <a:p>
            <a:pPr algn="l">
              <a:lnSpc>
                <a:spcPts val="1453"/>
              </a:lnSpc>
            </a:pPr>
            <a:r>
              <a:rPr lang="en-US" sz="1453">
                <a:solidFill>
                  <a:srgbClr val="545454"/>
                </a:solidFill>
                <a:latin typeface="Nunito"/>
                <a:ea typeface="Nunito"/>
                <a:cs typeface="Nunito"/>
                <a:sym typeface="Nunito"/>
              </a:rPr>
              <a:t>Conclusion</a:t>
            </a:r>
          </a:p>
        </p:txBody>
      </p:sp>
      <p:sp>
        <p:nvSpPr>
          <p:cNvPr name="TextBox 46" id="46"/>
          <p:cNvSpPr txBox="true"/>
          <p:nvPr/>
        </p:nvSpPr>
        <p:spPr>
          <a:xfrm rot="0">
            <a:off x="17647920" y="9870984"/>
            <a:ext cx="256032" cy="212527"/>
          </a:xfrm>
          <a:prstGeom prst="rect">
            <a:avLst/>
          </a:prstGeom>
        </p:spPr>
        <p:txBody>
          <a:bodyPr anchor="t" rtlCol="false" tIns="0" lIns="0" bIns="0" rIns="0">
            <a:spAutoFit/>
          </a:bodyPr>
          <a:lstStyle/>
          <a:p>
            <a:pPr algn="r">
              <a:lnSpc>
                <a:spcPts val="1617"/>
              </a:lnSpc>
            </a:pPr>
            <a:r>
              <a:rPr lang="en-US" sz="1617">
                <a:solidFill>
                  <a:srgbClr val="545454"/>
                </a:solidFill>
                <a:latin typeface="Nunito"/>
                <a:ea typeface="Nunito"/>
                <a:cs typeface="Nunito"/>
                <a:sym typeface="Nunito"/>
              </a:rPr>
              <a:t>11</a:t>
            </a:r>
          </a:p>
        </p:txBody>
      </p:sp>
      <p:sp>
        <p:nvSpPr>
          <p:cNvPr name="TextBox 47" id="47"/>
          <p:cNvSpPr txBox="true"/>
          <p:nvPr/>
        </p:nvSpPr>
        <p:spPr>
          <a:xfrm rot="0">
            <a:off x="585216" y="1055025"/>
            <a:ext cx="109728" cy="212527"/>
          </a:xfrm>
          <a:prstGeom prst="rect">
            <a:avLst/>
          </a:prstGeom>
        </p:spPr>
        <p:txBody>
          <a:bodyPr anchor="t" rtlCol="false" tIns="0" lIns="0" bIns="0" rIns="0">
            <a:spAutoFit/>
          </a:bodyPr>
          <a:lstStyle/>
          <a:p>
            <a:pPr algn="ctr">
              <a:lnSpc>
                <a:spcPts val="1617"/>
              </a:lnSpc>
            </a:pPr>
            <a:r>
              <a:rPr lang="en-US" sz="1617" b="true">
                <a:solidFill>
                  <a:srgbClr val="FFFFFF"/>
                </a:solidFill>
                <a:latin typeface="Nunito Bold"/>
                <a:ea typeface="Nunito Bold"/>
                <a:cs typeface="Nunito Bold"/>
                <a:sym typeface="Nunito Bold"/>
              </a:rPr>
              <a:t>1</a:t>
            </a:r>
          </a:p>
        </p:txBody>
      </p:sp>
      <p:sp>
        <p:nvSpPr>
          <p:cNvPr name="TextBox 48" id="48"/>
          <p:cNvSpPr txBox="true"/>
          <p:nvPr/>
        </p:nvSpPr>
        <p:spPr>
          <a:xfrm rot="0">
            <a:off x="1682496" y="1075742"/>
            <a:ext cx="1975104" cy="180618"/>
          </a:xfrm>
          <a:prstGeom prst="rect">
            <a:avLst/>
          </a:prstGeom>
        </p:spPr>
        <p:txBody>
          <a:bodyPr anchor="t" rtlCol="false" tIns="0" lIns="0" bIns="0" rIns="0">
            <a:spAutoFit/>
          </a:bodyPr>
          <a:lstStyle/>
          <a:p>
            <a:pPr algn="l">
              <a:lnSpc>
                <a:spcPts val="1485"/>
              </a:lnSpc>
            </a:pPr>
            <a:r>
              <a:rPr lang="en-US" sz="1485" b="true">
                <a:solidFill>
                  <a:srgbClr val="FFFFFF"/>
                </a:solidFill>
                <a:latin typeface="Nunito Bold"/>
                <a:ea typeface="Nunito Bold"/>
                <a:cs typeface="Nunito Bold"/>
                <a:sym typeface="Nunito Bold"/>
              </a:rPr>
              <a:t>KESIMPULAN UTAMA</a:t>
            </a:r>
          </a:p>
        </p:txBody>
      </p:sp>
      <p:sp>
        <p:nvSpPr>
          <p:cNvPr name="TextBox 49" id="49"/>
          <p:cNvSpPr txBox="true"/>
          <p:nvPr/>
        </p:nvSpPr>
        <p:spPr>
          <a:xfrm rot="0">
            <a:off x="9747504" y="3228594"/>
            <a:ext cx="6583680" cy="219075"/>
          </a:xfrm>
          <a:prstGeom prst="rect">
            <a:avLst/>
          </a:prstGeom>
        </p:spPr>
        <p:txBody>
          <a:bodyPr anchor="t" rtlCol="false" tIns="0" lIns="0" bIns="0" rIns="0">
            <a:spAutoFit/>
          </a:bodyPr>
          <a:lstStyle/>
          <a:p>
            <a:pPr algn="l">
              <a:lnSpc>
                <a:spcPts val="1743"/>
              </a:lnSpc>
            </a:pPr>
            <a:r>
              <a:rPr lang="en-US" sz="1453" b="true">
                <a:solidFill>
                  <a:srgbClr val="2E2E2E"/>
                </a:solidFill>
                <a:latin typeface="Nunito Bold"/>
                <a:ea typeface="Nunito Bold"/>
                <a:cs typeface="Nunito Bold"/>
                <a:sym typeface="Nunito Bold"/>
              </a:rPr>
              <a:t>Dorong frekuensi kelompok usia 21-50 melalui program loyalitas bertarget.</a:t>
            </a:r>
          </a:p>
        </p:txBody>
      </p:sp>
      <p:sp>
        <p:nvSpPr>
          <p:cNvPr name="TextBox 50" id="50"/>
          <p:cNvSpPr txBox="true"/>
          <p:nvPr/>
        </p:nvSpPr>
        <p:spPr>
          <a:xfrm rot="0">
            <a:off x="9747504" y="3803904"/>
            <a:ext cx="7406640" cy="209550"/>
          </a:xfrm>
          <a:prstGeom prst="rect">
            <a:avLst/>
          </a:prstGeom>
        </p:spPr>
        <p:txBody>
          <a:bodyPr anchor="t" rtlCol="false" tIns="0" lIns="0" bIns="0" rIns="0">
            <a:spAutoFit/>
          </a:bodyPr>
          <a:lstStyle/>
          <a:p>
            <a:pPr algn="l">
              <a:lnSpc>
                <a:spcPts val="1783"/>
              </a:lnSpc>
            </a:pPr>
            <a:r>
              <a:rPr lang="en-US" sz="1485" b="true">
                <a:solidFill>
                  <a:srgbClr val="2E2E2E"/>
                </a:solidFill>
                <a:latin typeface="Nunito Bold"/>
                <a:ea typeface="Nunito Bold"/>
                <a:cs typeface="Nunito Bold"/>
                <a:sym typeface="Nunito Bold"/>
              </a:rPr>
              <a:t>Uji cross-selling untuk meningkatkan AOV tanpa memperluas promo secara merata.</a:t>
            </a:r>
          </a:p>
        </p:txBody>
      </p:sp>
      <p:sp>
        <p:nvSpPr>
          <p:cNvPr name="TextBox 51" id="51"/>
          <p:cNvSpPr txBox="true"/>
          <p:nvPr/>
        </p:nvSpPr>
        <p:spPr>
          <a:xfrm rot="0">
            <a:off x="9418320" y="2649510"/>
            <a:ext cx="109728" cy="212527"/>
          </a:xfrm>
          <a:prstGeom prst="rect">
            <a:avLst/>
          </a:prstGeom>
        </p:spPr>
        <p:txBody>
          <a:bodyPr anchor="t" rtlCol="false" tIns="0" lIns="0" bIns="0" rIns="0">
            <a:spAutoFit/>
          </a:bodyPr>
          <a:lstStyle/>
          <a:p>
            <a:pPr algn="ctr">
              <a:lnSpc>
                <a:spcPts val="1617"/>
              </a:lnSpc>
            </a:pPr>
            <a:r>
              <a:rPr lang="en-US" sz="1617" b="true">
                <a:solidFill>
                  <a:srgbClr val="FFFFFF"/>
                </a:solidFill>
                <a:latin typeface="Nunito Bold"/>
                <a:ea typeface="Nunito Bold"/>
                <a:cs typeface="Nunito Bold"/>
                <a:sym typeface="Nunito Bold"/>
              </a:rPr>
              <a:t>1</a:t>
            </a:r>
          </a:p>
        </p:txBody>
      </p:sp>
      <p:sp>
        <p:nvSpPr>
          <p:cNvPr name="TextBox 52" id="52"/>
          <p:cNvSpPr txBox="true"/>
          <p:nvPr/>
        </p:nvSpPr>
        <p:spPr>
          <a:xfrm rot="0">
            <a:off x="9418320" y="3215295"/>
            <a:ext cx="109728" cy="212527"/>
          </a:xfrm>
          <a:prstGeom prst="rect">
            <a:avLst/>
          </a:prstGeom>
        </p:spPr>
        <p:txBody>
          <a:bodyPr anchor="t" rtlCol="false" tIns="0" lIns="0" bIns="0" rIns="0">
            <a:spAutoFit/>
          </a:bodyPr>
          <a:lstStyle/>
          <a:p>
            <a:pPr algn="ctr">
              <a:lnSpc>
                <a:spcPts val="1617"/>
              </a:lnSpc>
            </a:pPr>
            <a:r>
              <a:rPr lang="en-US" sz="1617" b="true">
                <a:solidFill>
                  <a:srgbClr val="FFFFFF"/>
                </a:solidFill>
                <a:latin typeface="Nunito Bold"/>
                <a:ea typeface="Nunito Bold"/>
                <a:cs typeface="Nunito Bold"/>
                <a:sym typeface="Nunito Bold"/>
              </a:rPr>
              <a:t>2</a:t>
            </a:r>
          </a:p>
        </p:txBody>
      </p:sp>
      <p:sp>
        <p:nvSpPr>
          <p:cNvPr name="TextBox 53" id="53"/>
          <p:cNvSpPr txBox="true"/>
          <p:nvPr/>
        </p:nvSpPr>
        <p:spPr>
          <a:xfrm rot="0">
            <a:off x="9418320" y="3811941"/>
            <a:ext cx="109728" cy="212527"/>
          </a:xfrm>
          <a:prstGeom prst="rect">
            <a:avLst/>
          </a:prstGeom>
        </p:spPr>
        <p:txBody>
          <a:bodyPr anchor="t" rtlCol="false" tIns="0" lIns="0" bIns="0" rIns="0">
            <a:spAutoFit/>
          </a:bodyPr>
          <a:lstStyle/>
          <a:p>
            <a:pPr algn="ctr">
              <a:lnSpc>
                <a:spcPts val="1617"/>
              </a:lnSpc>
            </a:pPr>
            <a:r>
              <a:rPr lang="en-US" sz="1617" b="true">
                <a:solidFill>
                  <a:srgbClr val="FFFFFF"/>
                </a:solidFill>
                <a:latin typeface="Nunito Bold"/>
                <a:ea typeface="Nunito Bold"/>
                <a:cs typeface="Nunito Bold"/>
                <a:sym typeface="Nunito Bold"/>
              </a:rPr>
              <a:t>3</a:t>
            </a:r>
          </a:p>
        </p:txBody>
      </p:sp>
      <p:sp>
        <p:nvSpPr>
          <p:cNvPr name="TextBox 54" id="54"/>
          <p:cNvSpPr txBox="true"/>
          <p:nvPr/>
        </p:nvSpPr>
        <p:spPr>
          <a:xfrm rot="0">
            <a:off x="585216" y="5108103"/>
            <a:ext cx="109728" cy="212527"/>
          </a:xfrm>
          <a:prstGeom prst="rect">
            <a:avLst/>
          </a:prstGeom>
        </p:spPr>
        <p:txBody>
          <a:bodyPr anchor="t" rtlCol="false" tIns="0" lIns="0" bIns="0" rIns="0">
            <a:spAutoFit/>
          </a:bodyPr>
          <a:lstStyle/>
          <a:p>
            <a:pPr algn="ctr">
              <a:lnSpc>
                <a:spcPts val="1617"/>
              </a:lnSpc>
            </a:pPr>
            <a:r>
              <a:rPr lang="en-US" sz="1617" b="true">
                <a:solidFill>
                  <a:srgbClr val="FFFFFF"/>
                </a:solidFill>
                <a:latin typeface="Nunito Bold"/>
                <a:ea typeface="Nunito Bold"/>
                <a:cs typeface="Nunito Bold"/>
                <a:sym typeface="Nunito Bold"/>
              </a:rPr>
              <a:t>3</a:t>
            </a:r>
          </a:p>
        </p:txBody>
      </p:sp>
      <p:sp>
        <p:nvSpPr>
          <p:cNvPr name="TextBox 55" id="55"/>
          <p:cNvSpPr txBox="true"/>
          <p:nvPr/>
        </p:nvSpPr>
        <p:spPr>
          <a:xfrm rot="0">
            <a:off x="1078992" y="5125307"/>
            <a:ext cx="3767328" cy="178117"/>
          </a:xfrm>
          <a:prstGeom prst="rect">
            <a:avLst/>
          </a:prstGeom>
        </p:spPr>
        <p:txBody>
          <a:bodyPr anchor="t" rtlCol="false" tIns="0" lIns="0" bIns="0" rIns="0">
            <a:spAutoFit/>
          </a:bodyPr>
          <a:lstStyle/>
          <a:p>
            <a:pPr algn="l">
              <a:lnSpc>
                <a:spcPts val="1387"/>
              </a:lnSpc>
            </a:pPr>
            <a:r>
              <a:rPr lang="en-US" sz="1387" b="true">
                <a:solidFill>
                  <a:srgbClr val="FFFFFF"/>
                </a:solidFill>
                <a:latin typeface="Nunito Bold"/>
                <a:ea typeface="Nunito Bold"/>
                <a:cs typeface="Nunito Bold"/>
                <a:sym typeface="Nunito Bold"/>
              </a:rPr>
              <a:t>BUSINESS IMPACT | SEBELUM → SESUDAH</a:t>
            </a:r>
          </a:p>
        </p:txBody>
      </p:sp>
      <p:sp>
        <p:nvSpPr>
          <p:cNvPr name="TextBox 56" id="56"/>
          <p:cNvSpPr txBox="true"/>
          <p:nvPr/>
        </p:nvSpPr>
        <p:spPr>
          <a:xfrm rot="0">
            <a:off x="548640" y="6050470"/>
            <a:ext cx="3072384" cy="171450"/>
          </a:xfrm>
          <a:prstGeom prst="rect">
            <a:avLst/>
          </a:prstGeom>
        </p:spPr>
        <p:txBody>
          <a:bodyPr anchor="t" rtlCol="false" tIns="0" lIns="0" bIns="0" rIns="0">
            <a:spAutoFit/>
          </a:bodyPr>
          <a:lstStyle/>
          <a:p>
            <a:pPr algn="l">
              <a:lnSpc>
                <a:spcPts val="1423"/>
              </a:lnSpc>
            </a:pPr>
            <a:r>
              <a:rPr lang="en-US" sz="1185" b="true">
                <a:solidFill>
                  <a:srgbClr val="2E2E2E"/>
                </a:solidFill>
                <a:latin typeface="Nunito Bold"/>
                <a:ea typeface="Nunito Bold"/>
                <a:cs typeface="Nunito Bold"/>
                <a:sym typeface="Nunito Bold"/>
              </a:rPr>
              <a:t>Target GMV global tanpa prioritas segmen.</a:t>
            </a:r>
          </a:p>
        </p:txBody>
      </p:sp>
      <p:sp>
        <p:nvSpPr>
          <p:cNvPr name="TextBox 57" id="57"/>
          <p:cNvSpPr txBox="true"/>
          <p:nvPr/>
        </p:nvSpPr>
        <p:spPr>
          <a:xfrm rot="0">
            <a:off x="10277856" y="5078563"/>
            <a:ext cx="2560320" cy="189309"/>
          </a:xfrm>
          <a:prstGeom prst="rect">
            <a:avLst/>
          </a:prstGeom>
        </p:spPr>
        <p:txBody>
          <a:bodyPr anchor="t" rtlCol="false" tIns="0" lIns="0" bIns="0" rIns="0">
            <a:spAutoFit/>
          </a:bodyPr>
          <a:lstStyle/>
          <a:p>
            <a:pPr algn="l">
              <a:lnSpc>
                <a:spcPts val="1453"/>
              </a:lnSpc>
            </a:pPr>
            <a:r>
              <a:rPr lang="en-US" sz="1453" b="true">
                <a:solidFill>
                  <a:srgbClr val="FFFFFF"/>
                </a:solidFill>
                <a:latin typeface="Nunito Bold"/>
                <a:ea typeface="Nunito Bold"/>
                <a:cs typeface="Nunito Bold"/>
                <a:sym typeface="Nunito Bold"/>
              </a:rPr>
              <a:t>SKENARIO REVENUE / COST</a:t>
            </a:r>
          </a:p>
        </p:txBody>
      </p:sp>
      <p:sp>
        <p:nvSpPr>
          <p:cNvPr name="TextBox 58" id="58"/>
          <p:cNvSpPr txBox="true"/>
          <p:nvPr/>
        </p:nvSpPr>
        <p:spPr>
          <a:xfrm rot="0">
            <a:off x="9747504" y="5568887"/>
            <a:ext cx="2816352" cy="209550"/>
          </a:xfrm>
          <a:prstGeom prst="rect">
            <a:avLst/>
          </a:prstGeom>
        </p:spPr>
        <p:txBody>
          <a:bodyPr anchor="t" rtlCol="false" tIns="0" lIns="0" bIns="0" rIns="0">
            <a:spAutoFit/>
          </a:bodyPr>
          <a:lstStyle/>
          <a:p>
            <a:pPr algn="l">
              <a:lnSpc>
                <a:spcPts val="1617"/>
              </a:lnSpc>
            </a:pPr>
            <a:r>
              <a:rPr lang="en-US" sz="1347" b="true">
                <a:solidFill>
                  <a:srgbClr val="2E2E2E"/>
                </a:solidFill>
                <a:latin typeface="Nunito Bold"/>
                <a:ea typeface="Nunito Bold"/>
                <a:cs typeface="Nunito Bold"/>
                <a:sym typeface="Nunito Bold"/>
              </a:rPr>
              <a:t>Total GMV Rp300,400 miliar e</a:t>
            </a:r>
            <a:r>
              <a:rPr lang="en-US" sz="1347" b="true">
                <a:solidFill>
                  <a:srgbClr val="2E2E2E"/>
                </a:solidFill>
                <a:latin typeface="Nunito Bold"/>
                <a:ea typeface="Nunito Bold"/>
                <a:cs typeface="Nunito Bold"/>
                <a:sym typeface="Nunito Bold"/>
              </a:rPr>
              <a:t>nda</a:t>
            </a:r>
            <a:r>
              <a:rPr lang="en-US" sz="1347" b="true">
                <a:solidFill>
                  <a:srgbClr val="2E2E2E"/>
                </a:solidFill>
                <a:latin typeface="Nunito Bold"/>
                <a:ea typeface="Nunito Bold"/>
                <a:cs typeface="Nunito Bold"/>
                <a:sym typeface="Nunito Bold"/>
              </a:rPr>
              <a:t>r</a:t>
            </a:r>
          </a:p>
        </p:txBody>
      </p:sp>
      <p:sp>
        <p:nvSpPr>
          <p:cNvPr name="TextBox 59" id="59"/>
          <p:cNvSpPr txBox="true"/>
          <p:nvPr/>
        </p:nvSpPr>
        <p:spPr>
          <a:xfrm rot="0">
            <a:off x="9747504" y="5568887"/>
            <a:ext cx="2816352" cy="209550"/>
          </a:xfrm>
          <a:prstGeom prst="rect">
            <a:avLst/>
          </a:prstGeom>
        </p:spPr>
        <p:txBody>
          <a:bodyPr anchor="t" rtlCol="false" tIns="0" lIns="0" bIns="0" rIns="0">
            <a:spAutoFit/>
          </a:bodyPr>
          <a:lstStyle/>
          <a:p>
            <a:pPr algn="l">
              <a:lnSpc>
                <a:spcPts val="1648"/>
              </a:lnSpc>
            </a:pPr>
            <a:r>
              <a:rPr lang="en-US" sz="1373" b="true">
                <a:solidFill>
                  <a:srgbClr val="2E2E2E"/>
                </a:solidFill>
                <a:latin typeface="Nunito Bold"/>
                <a:ea typeface="Nunito Bold"/>
                <a:cs typeface="Nunito Bold"/>
                <a:sym typeface="Nunito Bold"/>
              </a:rPr>
              <a:t>Total GMV Rp300,400 miliar e</a:t>
            </a:r>
            <a:r>
              <a:rPr lang="en-US" sz="1373" b="true">
                <a:solidFill>
                  <a:srgbClr val="2E2E2E"/>
                </a:solidFill>
                <a:latin typeface="Nunito Bold"/>
                <a:ea typeface="Nunito Bold"/>
                <a:cs typeface="Nunito Bold"/>
                <a:sym typeface="Nunito Bold"/>
              </a:rPr>
              <a:t>nda</a:t>
            </a:r>
          </a:p>
        </p:txBody>
      </p:sp>
      <p:sp>
        <p:nvSpPr>
          <p:cNvPr name="TextBox 60" id="60"/>
          <p:cNvSpPr txBox="true"/>
          <p:nvPr/>
        </p:nvSpPr>
        <p:spPr>
          <a:xfrm rot="0">
            <a:off x="9747504" y="6101608"/>
            <a:ext cx="7955280" cy="452080"/>
          </a:xfrm>
          <a:prstGeom prst="rect">
            <a:avLst/>
          </a:prstGeom>
        </p:spPr>
        <p:txBody>
          <a:bodyPr anchor="t" rtlCol="false" tIns="0" lIns="0" bIns="0" rIns="0">
            <a:spAutoFit/>
          </a:bodyPr>
          <a:lstStyle/>
          <a:p>
            <a:pPr algn="l">
              <a:lnSpc>
                <a:spcPts val="1857"/>
              </a:lnSpc>
            </a:pPr>
            <a:r>
              <a:rPr lang="en-US" sz="1326" b="true">
                <a:solidFill>
                  <a:srgbClr val="2E2E2E"/>
                </a:solidFill>
                <a:latin typeface="Nunito Bold"/>
                <a:ea typeface="Nunito Bold"/>
                <a:cs typeface="Nunito Bold"/>
                <a:sym typeface="Nunito Bold"/>
              </a:rPr>
              <a:t>Kelompok frekuensi 21-50 naik sekitar 11.5% menjadi 65.000 orders, dengan estimasi tambahan GMV sekitar Rp6,80 miliar.</a:t>
            </a:r>
          </a:p>
        </p:txBody>
      </p:sp>
      <p:sp>
        <p:nvSpPr>
          <p:cNvPr name="TextBox 61" id="61"/>
          <p:cNvSpPr txBox="true"/>
          <p:nvPr/>
        </p:nvSpPr>
        <p:spPr>
          <a:xfrm rot="0">
            <a:off x="9747504" y="6667393"/>
            <a:ext cx="7114032" cy="452080"/>
          </a:xfrm>
          <a:prstGeom prst="rect">
            <a:avLst/>
          </a:prstGeom>
        </p:spPr>
        <p:txBody>
          <a:bodyPr anchor="t" rtlCol="false" tIns="0" lIns="0" bIns="0" rIns="0">
            <a:spAutoFit/>
          </a:bodyPr>
          <a:lstStyle/>
          <a:p>
            <a:pPr algn="l">
              <a:lnSpc>
                <a:spcPts val="1857"/>
              </a:lnSpc>
            </a:pPr>
            <a:r>
              <a:rPr lang="en-US" sz="1326" b="true">
                <a:solidFill>
                  <a:srgbClr val="2E2E2E"/>
                </a:solidFill>
                <a:latin typeface="Nunito Bold"/>
                <a:ea typeface="Nunito Bold"/>
                <a:cs typeface="Nunito Bold"/>
                <a:sym typeface="Nunito Bold"/>
              </a:rPr>
              <a:t>Optimasi promo dari asumsi burn rate 15% menjadi 10%, dengan estimasi penghematan sekitar Rp15 miliar per tahun.</a:t>
            </a:r>
          </a:p>
        </p:txBody>
      </p:sp>
      <p:sp>
        <p:nvSpPr>
          <p:cNvPr name="TextBox 62" id="62"/>
          <p:cNvSpPr txBox="true"/>
          <p:nvPr/>
        </p:nvSpPr>
        <p:spPr>
          <a:xfrm rot="0">
            <a:off x="9747504" y="7336048"/>
            <a:ext cx="6967728" cy="452080"/>
          </a:xfrm>
          <a:prstGeom prst="rect">
            <a:avLst/>
          </a:prstGeom>
        </p:spPr>
        <p:txBody>
          <a:bodyPr anchor="t" rtlCol="false" tIns="0" lIns="0" bIns="0" rIns="0">
            <a:spAutoFit/>
          </a:bodyPr>
          <a:lstStyle/>
          <a:p>
            <a:pPr algn="l">
              <a:lnSpc>
                <a:spcPts val="1857"/>
              </a:lnSpc>
            </a:pPr>
            <a:r>
              <a:rPr lang="en-US" sz="1326" b="true">
                <a:solidFill>
                  <a:srgbClr val="2E2E2E"/>
                </a:solidFill>
                <a:latin typeface="Nunito Bold"/>
                <a:ea typeface="Nunito Bold"/>
                <a:cs typeface="Nunito Bold"/>
                <a:sym typeface="Nunito Bold"/>
              </a:rPr>
              <a:t>GMOV target Rp328 miliar atau +9,2%, jika seluruh rekomendasi berhasil diimplementasikan.</a:t>
            </a:r>
          </a:p>
        </p:txBody>
      </p:sp>
      <p:sp>
        <p:nvSpPr>
          <p:cNvPr name="TextBox 63" id="63"/>
          <p:cNvSpPr txBox="true"/>
          <p:nvPr/>
        </p:nvSpPr>
        <p:spPr>
          <a:xfrm rot="0">
            <a:off x="9601200" y="5573649"/>
            <a:ext cx="1353312" cy="209550"/>
          </a:xfrm>
          <a:prstGeom prst="rect">
            <a:avLst/>
          </a:prstGeom>
        </p:spPr>
        <p:txBody>
          <a:bodyPr anchor="t" rtlCol="false" tIns="0" lIns="0" bIns="0" rIns="0">
            <a:spAutoFit/>
          </a:bodyPr>
          <a:lstStyle/>
          <a:p>
            <a:pPr algn="l">
              <a:lnSpc>
                <a:spcPts val="1679"/>
              </a:lnSpc>
            </a:pPr>
            <a:r>
              <a:rPr lang="en-US" sz="1399" b="true">
                <a:solidFill>
                  <a:srgbClr val="2E2E2E"/>
                </a:solidFill>
                <a:latin typeface="Nunito Bold"/>
                <a:ea typeface="Nunito Bold"/>
                <a:cs typeface="Nunito Bold"/>
                <a:sym typeface="Nunito Bold"/>
              </a:rPr>
              <a:t>Baseline aktual</a:t>
            </a:r>
          </a:p>
        </p:txBody>
      </p:sp>
      <p:sp>
        <p:nvSpPr>
          <p:cNvPr name="TextBox 64" id="64"/>
          <p:cNvSpPr txBox="true"/>
          <p:nvPr/>
        </p:nvSpPr>
        <p:spPr>
          <a:xfrm rot="0">
            <a:off x="9747504" y="6124384"/>
            <a:ext cx="1243584" cy="209550"/>
          </a:xfrm>
          <a:prstGeom prst="rect">
            <a:avLst/>
          </a:prstGeom>
        </p:spPr>
        <p:txBody>
          <a:bodyPr anchor="t" rtlCol="false" tIns="0" lIns="0" bIns="0" rIns="0">
            <a:spAutoFit/>
          </a:bodyPr>
          <a:lstStyle/>
          <a:p>
            <a:pPr algn="l">
              <a:lnSpc>
                <a:spcPts val="1617"/>
              </a:lnSpc>
            </a:pPr>
            <a:r>
              <a:rPr lang="en-US" sz="1347" b="true">
                <a:solidFill>
                  <a:srgbClr val="2E2E2E"/>
                </a:solidFill>
                <a:latin typeface="Nunito Bold"/>
                <a:ea typeface="Nunito Bold"/>
                <a:cs typeface="Nunito Bold"/>
                <a:sym typeface="Nunito Bold"/>
              </a:rPr>
              <a:t>Skenario target</a:t>
            </a:r>
          </a:p>
        </p:txBody>
      </p:sp>
      <p:sp>
        <p:nvSpPr>
          <p:cNvPr name="TextBox 65" id="65"/>
          <p:cNvSpPr txBox="true"/>
          <p:nvPr/>
        </p:nvSpPr>
        <p:spPr>
          <a:xfrm rot="0">
            <a:off x="9747504" y="6690169"/>
            <a:ext cx="1426464" cy="209550"/>
          </a:xfrm>
          <a:prstGeom prst="rect">
            <a:avLst/>
          </a:prstGeom>
        </p:spPr>
        <p:txBody>
          <a:bodyPr anchor="t" rtlCol="false" tIns="0" lIns="0" bIns="0" rIns="0">
            <a:spAutoFit/>
          </a:bodyPr>
          <a:lstStyle/>
          <a:p>
            <a:pPr algn="l">
              <a:lnSpc>
                <a:spcPts val="1648"/>
              </a:lnSpc>
            </a:pPr>
            <a:r>
              <a:rPr lang="en-US" sz="1373" b="true">
                <a:solidFill>
                  <a:srgbClr val="2E2E2E"/>
                </a:solidFill>
                <a:latin typeface="Nunito Bold"/>
                <a:ea typeface="Nunito Bold"/>
                <a:cs typeface="Nunito Bold"/>
                <a:sym typeface="Nunito Bold"/>
              </a:rPr>
              <a:t>Skenario efisiensi</a:t>
            </a:r>
          </a:p>
        </p:txBody>
      </p:sp>
      <p:sp>
        <p:nvSpPr>
          <p:cNvPr name="TextBox 66" id="66"/>
          <p:cNvSpPr txBox="true"/>
          <p:nvPr/>
        </p:nvSpPr>
        <p:spPr>
          <a:xfrm rot="0">
            <a:off x="9747504" y="7358824"/>
            <a:ext cx="1554480" cy="209550"/>
          </a:xfrm>
          <a:prstGeom prst="rect">
            <a:avLst/>
          </a:prstGeom>
        </p:spPr>
        <p:txBody>
          <a:bodyPr anchor="t" rtlCol="false" tIns="0" lIns="0" bIns="0" rIns="0">
            <a:spAutoFit/>
          </a:bodyPr>
          <a:lstStyle/>
          <a:p>
            <a:pPr algn="l">
              <a:lnSpc>
                <a:spcPts val="1617"/>
              </a:lnSpc>
            </a:pPr>
            <a:r>
              <a:rPr lang="en-US" sz="1347" b="true">
                <a:solidFill>
                  <a:srgbClr val="2E2E2E"/>
                </a:solidFill>
                <a:latin typeface="Nunito Bold"/>
                <a:ea typeface="Nunito Bold"/>
                <a:cs typeface="Nunito Bold"/>
                <a:sym typeface="Nunito Bold"/>
              </a:rPr>
              <a:t>Skenario gabungan</a:t>
            </a:r>
          </a:p>
        </p:txBody>
      </p:sp>
      <p:sp>
        <p:nvSpPr>
          <p:cNvPr name="TextBox 67" id="67"/>
          <p:cNvSpPr txBox="true"/>
          <p:nvPr/>
        </p:nvSpPr>
        <p:spPr>
          <a:xfrm rot="0">
            <a:off x="15307056" y="5089588"/>
            <a:ext cx="2322576" cy="323850"/>
          </a:xfrm>
          <a:prstGeom prst="rect">
            <a:avLst/>
          </a:prstGeom>
        </p:spPr>
        <p:txBody>
          <a:bodyPr anchor="t" rtlCol="false" tIns="0" lIns="0" bIns="0" rIns="0">
            <a:spAutoFit/>
          </a:bodyPr>
          <a:lstStyle/>
          <a:p>
            <a:pPr algn="ctr">
              <a:lnSpc>
                <a:spcPts val="1310"/>
              </a:lnSpc>
            </a:pPr>
            <a:r>
              <a:rPr lang="en-US" b="true" sz="1092">
                <a:solidFill>
                  <a:srgbClr val="2E2E2E"/>
                </a:solidFill>
                <a:latin typeface="Nunito Bold"/>
                <a:ea typeface="Nunito Bold"/>
                <a:cs typeface="Nunito Bold"/>
                <a:sym typeface="Nunito Bold"/>
              </a:rPr>
              <a:t>TARGET / ASUMSI, BUKAN HASIL AKTUAL</a:t>
            </a:r>
          </a:p>
        </p:txBody>
      </p:sp>
      <p:sp>
        <p:nvSpPr>
          <p:cNvPr name="TextBox 68" id="68"/>
          <p:cNvSpPr txBox="true"/>
          <p:nvPr/>
        </p:nvSpPr>
        <p:spPr>
          <a:xfrm rot="0">
            <a:off x="9747504" y="5573649"/>
            <a:ext cx="987552" cy="209550"/>
          </a:xfrm>
          <a:prstGeom prst="rect">
            <a:avLst/>
          </a:prstGeom>
        </p:spPr>
        <p:txBody>
          <a:bodyPr anchor="t" rtlCol="false" tIns="0" lIns="0" bIns="0" rIns="0">
            <a:spAutoFit/>
          </a:bodyPr>
          <a:lstStyle/>
          <a:p>
            <a:pPr algn="l">
              <a:lnSpc>
                <a:spcPts val="874"/>
              </a:lnSpc>
            </a:pPr>
            <a:r>
              <a:rPr lang="en-US" sz="728" b="true">
                <a:solidFill>
                  <a:srgbClr val="2E2E2E"/>
                </a:solidFill>
                <a:latin typeface="Nunito Bold"/>
                <a:ea typeface="Nunito Bold"/>
                <a:cs typeface="Nunito Bold"/>
                <a:sym typeface="Nunito Bold"/>
              </a:rPr>
              <a:t>Total GMV Rp300,400 miliar e</a:t>
            </a:r>
          </a:p>
        </p:txBody>
      </p:sp>
      <p:sp>
        <p:nvSpPr>
          <p:cNvPr name="TextBox 69" id="69"/>
          <p:cNvSpPr txBox="true"/>
          <p:nvPr/>
        </p:nvSpPr>
        <p:spPr>
          <a:xfrm rot="0">
            <a:off x="9747504" y="5573649"/>
            <a:ext cx="987552" cy="209550"/>
          </a:xfrm>
          <a:prstGeom prst="rect">
            <a:avLst/>
          </a:prstGeom>
        </p:spPr>
        <p:txBody>
          <a:bodyPr anchor="t" rtlCol="false" tIns="0" lIns="0" bIns="0" rIns="0">
            <a:spAutoFit/>
          </a:bodyPr>
          <a:lstStyle/>
          <a:p>
            <a:pPr algn="l">
              <a:lnSpc>
                <a:spcPts val="874"/>
              </a:lnSpc>
            </a:pPr>
            <a:r>
              <a:rPr lang="en-US" sz="728" b="true">
                <a:solidFill>
                  <a:srgbClr val="2E2E2E"/>
                </a:solidFill>
                <a:latin typeface="Nunito Bold"/>
                <a:ea typeface="Nunito Bold"/>
                <a:cs typeface="Nunito Bold"/>
                <a:sym typeface="Nunito Bold"/>
              </a:rPr>
              <a:t>Total GMV Rp300,400 miliar e</a:t>
            </a:r>
          </a:p>
        </p:txBody>
      </p:sp>
      <p:sp>
        <p:nvSpPr>
          <p:cNvPr name="TextBox 70" id="70"/>
          <p:cNvSpPr txBox="true"/>
          <p:nvPr/>
        </p:nvSpPr>
        <p:spPr>
          <a:xfrm rot="0">
            <a:off x="9747504" y="6101608"/>
            <a:ext cx="7955280" cy="452080"/>
          </a:xfrm>
          <a:prstGeom prst="rect">
            <a:avLst/>
          </a:prstGeom>
        </p:spPr>
        <p:txBody>
          <a:bodyPr anchor="t" rtlCol="false" tIns="0" lIns="0" bIns="0" rIns="0">
            <a:spAutoFit/>
          </a:bodyPr>
          <a:lstStyle/>
          <a:p>
            <a:pPr algn="l">
              <a:lnSpc>
                <a:spcPts val="1857"/>
              </a:lnSpc>
            </a:pPr>
            <a:r>
              <a:rPr lang="en-US" sz="1326" b="true">
                <a:solidFill>
                  <a:srgbClr val="2E2E2E"/>
                </a:solidFill>
                <a:latin typeface="Nunito Bold"/>
                <a:ea typeface="Nunito Bold"/>
                <a:cs typeface="Nunito Bold"/>
                <a:sym typeface="Nunito Bold"/>
              </a:rPr>
              <a:t>Kelompok frekuensi 21-50 naik sekitar 11.5% menjadi 65.000 orders, dengan estimasi tambahan GMV sekitar Rp6,80 miliar.</a:t>
            </a:r>
          </a:p>
        </p:txBody>
      </p:sp>
      <p:sp>
        <p:nvSpPr>
          <p:cNvPr name="TextBox 71" id="71"/>
          <p:cNvSpPr txBox="true"/>
          <p:nvPr/>
        </p:nvSpPr>
        <p:spPr>
          <a:xfrm rot="0">
            <a:off x="9381744" y="8018526"/>
            <a:ext cx="8138160" cy="381000"/>
          </a:xfrm>
          <a:prstGeom prst="rect">
            <a:avLst/>
          </a:prstGeom>
        </p:spPr>
        <p:txBody>
          <a:bodyPr anchor="t" rtlCol="false" tIns="0" lIns="0" bIns="0" rIns="0">
            <a:spAutoFit/>
          </a:bodyPr>
          <a:lstStyle/>
          <a:p>
            <a:pPr algn="l">
              <a:lnSpc>
                <a:spcPts val="1563"/>
              </a:lnSpc>
            </a:pPr>
            <a:r>
              <a:rPr lang="en-US" sz="1303" b="true">
                <a:solidFill>
                  <a:srgbClr val="2E2E2E"/>
                </a:solidFill>
                <a:latin typeface="Nunito Bold"/>
                <a:ea typeface="Nunito Bold"/>
                <a:cs typeface="Nunito Bold"/>
                <a:sym typeface="Nunito Bold"/>
              </a:rPr>
              <a:t>Catatan: angka burn rate, penghematan, dan GMV target adalah asumsi target; perlu validasi melalui eksperimen dan okeolitoring KPI.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0"/>
            <a:ext cx="18288000" cy="218640"/>
          </a:xfrm>
          <a:custGeom>
            <a:avLst/>
            <a:gdLst/>
            <a:ahLst/>
            <a:cxnLst/>
            <a:rect r="r" b="b" t="t" l="l"/>
            <a:pathLst>
              <a:path h="218640" w="18288000">
                <a:moveTo>
                  <a:pt x="0" y="0"/>
                </a:moveTo>
                <a:lnTo>
                  <a:pt x="18288000" y="0"/>
                </a:lnTo>
                <a:lnTo>
                  <a:pt x="18288000" y="218640"/>
                </a:lnTo>
                <a:lnTo>
                  <a:pt x="0" y="218640"/>
                </a:lnTo>
                <a:lnTo>
                  <a:pt x="0" y="0"/>
                </a:lnTo>
                <a:close/>
              </a:path>
            </a:pathLst>
          </a:custGeom>
          <a:blipFill>
            <a:blip r:embed="rId3"/>
            <a:stretch>
              <a:fillRect l="0" t="0" r="0" b="0"/>
            </a:stretch>
          </a:blipFill>
        </p:spPr>
      </p:sp>
      <p:sp>
        <p:nvSpPr>
          <p:cNvPr name="TextBox 4" id="4"/>
          <p:cNvSpPr txBox="true"/>
          <p:nvPr/>
        </p:nvSpPr>
        <p:spPr>
          <a:xfrm rot="0">
            <a:off x="932688" y="792678"/>
            <a:ext cx="6912864" cy="677783"/>
          </a:xfrm>
          <a:prstGeom prst="rect">
            <a:avLst/>
          </a:prstGeom>
        </p:spPr>
        <p:txBody>
          <a:bodyPr anchor="t" rtlCol="false" tIns="0" lIns="0" bIns="0" rIns="0">
            <a:spAutoFit/>
          </a:bodyPr>
          <a:lstStyle/>
          <a:p>
            <a:pPr algn="l">
              <a:lnSpc>
                <a:spcPts val="5395"/>
              </a:lnSpc>
            </a:pPr>
            <a:r>
              <a:rPr lang="en-US" sz="4495" spc="-314">
                <a:solidFill>
                  <a:srgbClr val="00B636"/>
                </a:solidFill>
                <a:latin typeface="Lexend Mega"/>
                <a:ea typeface="Lexend Mega"/>
                <a:cs typeface="Lexend Mega"/>
                <a:sym typeface="Lexend Mega"/>
              </a:rPr>
              <a:t>RECOMMENDATION</a:t>
            </a:r>
          </a:p>
        </p:txBody>
      </p:sp>
      <p:sp>
        <p:nvSpPr>
          <p:cNvPr name="TextBox 5" id="5"/>
          <p:cNvSpPr txBox="true"/>
          <p:nvPr/>
        </p:nvSpPr>
        <p:spPr>
          <a:xfrm rot="0">
            <a:off x="932688" y="1512204"/>
            <a:ext cx="8906256" cy="344012"/>
          </a:xfrm>
          <a:prstGeom prst="rect">
            <a:avLst/>
          </a:prstGeom>
        </p:spPr>
        <p:txBody>
          <a:bodyPr anchor="t" rtlCol="false" tIns="0" lIns="0" bIns="0" rIns="0">
            <a:spAutoFit/>
          </a:bodyPr>
          <a:lstStyle/>
          <a:p>
            <a:pPr algn="l">
              <a:lnSpc>
                <a:spcPts val="2910"/>
              </a:lnSpc>
            </a:pPr>
            <a:r>
              <a:rPr lang="en-US" sz="1940" spc="38">
                <a:solidFill>
                  <a:srgbClr val="6B6B6B"/>
                </a:solidFill>
                <a:latin typeface="Lexend Deca"/>
                <a:ea typeface="Lexend Deca"/>
                <a:cs typeface="Lexend Deca"/>
                <a:sym typeface="Lexend Deca"/>
              </a:rPr>
              <a:t>Action plan untuk business stakeholder beserta pertimbangannya</a:t>
            </a:r>
          </a:p>
        </p:txBody>
      </p:sp>
      <p:sp>
        <p:nvSpPr>
          <p:cNvPr name="Freeform 6" id="6"/>
          <p:cNvSpPr/>
          <p:nvPr/>
        </p:nvSpPr>
        <p:spPr>
          <a:xfrm flipH="false" flipV="false" rot="0">
            <a:off x="864086" y="2142670"/>
            <a:ext cx="8279914" cy="2153601"/>
          </a:xfrm>
          <a:custGeom>
            <a:avLst/>
            <a:gdLst/>
            <a:ahLst/>
            <a:cxnLst/>
            <a:rect r="r" b="b" t="t" l="l"/>
            <a:pathLst>
              <a:path h="2153601" w="8279914">
                <a:moveTo>
                  <a:pt x="0" y="0"/>
                </a:moveTo>
                <a:lnTo>
                  <a:pt x="8279914" y="0"/>
                </a:lnTo>
                <a:lnTo>
                  <a:pt x="8279914" y="2153601"/>
                </a:lnTo>
                <a:lnTo>
                  <a:pt x="0" y="2153601"/>
                </a:lnTo>
                <a:lnTo>
                  <a:pt x="0" y="0"/>
                </a:lnTo>
                <a:close/>
              </a:path>
            </a:pathLst>
          </a:custGeom>
          <a:blipFill>
            <a:blip r:embed="rId4"/>
            <a:stretch>
              <a:fillRect l="0" t="0" r="0" b="0"/>
            </a:stretch>
          </a:blipFill>
        </p:spPr>
      </p:sp>
      <p:sp>
        <p:nvSpPr>
          <p:cNvPr name="Freeform 7" id="7"/>
          <p:cNvSpPr/>
          <p:nvPr/>
        </p:nvSpPr>
        <p:spPr>
          <a:xfrm flipH="false" flipV="false" rot="0">
            <a:off x="1082842" y="2569017"/>
            <a:ext cx="885962" cy="1289974"/>
          </a:xfrm>
          <a:custGeom>
            <a:avLst/>
            <a:gdLst/>
            <a:ahLst/>
            <a:cxnLst/>
            <a:rect r="r" b="b" t="t" l="l"/>
            <a:pathLst>
              <a:path h="1289974" w="885962">
                <a:moveTo>
                  <a:pt x="0" y="0"/>
                </a:moveTo>
                <a:lnTo>
                  <a:pt x="885962" y="0"/>
                </a:lnTo>
                <a:lnTo>
                  <a:pt x="885962" y="1289974"/>
                </a:lnTo>
                <a:lnTo>
                  <a:pt x="0" y="1289974"/>
                </a:lnTo>
                <a:lnTo>
                  <a:pt x="0" y="0"/>
                </a:lnTo>
                <a:close/>
              </a:path>
            </a:pathLst>
          </a:custGeom>
          <a:blipFill>
            <a:blip r:embed="rId5"/>
            <a:stretch>
              <a:fillRect l="0" t="0" r="0" b="0"/>
            </a:stretch>
          </a:blipFill>
        </p:spPr>
      </p:sp>
      <p:sp>
        <p:nvSpPr>
          <p:cNvPr name="TextBox 8" id="8"/>
          <p:cNvSpPr txBox="true"/>
          <p:nvPr/>
        </p:nvSpPr>
        <p:spPr>
          <a:xfrm rot="0">
            <a:off x="2615184" y="2574782"/>
            <a:ext cx="5998464" cy="1376203"/>
          </a:xfrm>
          <a:prstGeom prst="rect">
            <a:avLst/>
          </a:prstGeom>
        </p:spPr>
        <p:txBody>
          <a:bodyPr anchor="t" rtlCol="false" tIns="0" lIns="0" bIns="0" rIns="0">
            <a:spAutoFit/>
          </a:bodyPr>
          <a:lstStyle/>
          <a:p>
            <a:pPr algn="l">
              <a:lnSpc>
                <a:spcPts val="2785"/>
              </a:lnSpc>
            </a:pPr>
            <a:r>
              <a:rPr lang="en-US" sz="1857" spc="37">
                <a:solidFill>
                  <a:srgbClr val="00B636"/>
                </a:solidFill>
                <a:latin typeface="Lexend Deca"/>
                <a:ea typeface="Lexend Deca"/>
                <a:cs typeface="Lexend Deca"/>
                <a:sym typeface="Lexend Deca"/>
              </a:rPr>
              <a:t>Gunakan </a:t>
            </a:r>
            <a:r>
              <a:rPr lang="en-US" sz="1857" spc="37">
                <a:solidFill>
                  <a:srgbClr val="6B6B6B"/>
                </a:solidFill>
                <a:latin typeface="Lexend Deca"/>
                <a:ea typeface="Lexend Deca"/>
                <a:cs typeface="Lexend Deca"/>
                <a:sym typeface="Lexend Deca"/>
              </a:rPr>
              <a:t>tren bulanan untuk merencanakan kapasitas operasional dan kalender promosi, tetapi evaluasi dampaknya pada `net_revenue" agar tidak terjebak pada GMV semata.</a:t>
            </a:r>
          </a:p>
        </p:txBody>
      </p:sp>
      <p:sp>
        <p:nvSpPr>
          <p:cNvPr name="Freeform 9" id="9"/>
          <p:cNvSpPr/>
          <p:nvPr/>
        </p:nvSpPr>
        <p:spPr>
          <a:xfrm flipH="false" flipV="false" rot="0">
            <a:off x="9144000" y="2142670"/>
            <a:ext cx="8279914" cy="2153601"/>
          </a:xfrm>
          <a:custGeom>
            <a:avLst/>
            <a:gdLst/>
            <a:ahLst/>
            <a:cxnLst/>
            <a:rect r="r" b="b" t="t" l="l"/>
            <a:pathLst>
              <a:path h="2153601" w="8279914">
                <a:moveTo>
                  <a:pt x="0" y="0"/>
                </a:moveTo>
                <a:lnTo>
                  <a:pt x="8279914" y="0"/>
                </a:lnTo>
                <a:lnTo>
                  <a:pt x="8279914" y="2153601"/>
                </a:lnTo>
                <a:lnTo>
                  <a:pt x="0" y="2153601"/>
                </a:lnTo>
                <a:lnTo>
                  <a:pt x="0" y="0"/>
                </a:lnTo>
                <a:close/>
              </a:path>
            </a:pathLst>
          </a:custGeom>
          <a:blipFill>
            <a:blip r:embed="rId6"/>
            <a:stretch>
              <a:fillRect l="0" t="0" r="0" b="0"/>
            </a:stretch>
          </a:blipFill>
        </p:spPr>
      </p:sp>
      <p:sp>
        <p:nvSpPr>
          <p:cNvPr name="Freeform 10" id="10"/>
          <p:cNvSpPr/>
          <p:nvPr/>
        </p:nvSpPr>
        <p:spPr>
          <a:xfrm flipH="false" flipV="false" rot="0">
            <a:off x="9351818" y="2569017"/>
            <a:ext cx="1104718" cy="1289974"/>
          </a:xfrm>
          <a:custGeom>
            <a:avLst/>
            <a:gdLst/>
            <a:ahLst/>
            <a:cxnLst/>
            <a:rect r="r" b="b" t="t" l="l"/>
            <a:pathLst>
              <a:path h="1289974" w="1104718">
                <a:moveTo>
                  <a:pt x="0" y="0"/>
                </a:moveTo>
                <a:lnTo>
                  <a:pt x="1104718" y="0"/>
                </a:lnTo>
                <a:lnTo>
                  <a:pt x="1104718" y="1289974"/>
                </a:lnTo>
                <a:lnTo>
                  <a:pt x="0" y="1289974"/>
                </a:lnTo>
                <a:lnTo>
                  <a:pt x="0" y="0"/>
                </a:lnTo>
                <a:close/>
              </a:path>
            </a:pathLst>
          </a:custGeom>
          <a:blipFill>
            <a:blip r:embed="rId7"/>
            <a:stretch>
              <a:fillRect l="0" t="0" r="0" b="0"/>
            </a:stretch>
          </a:blipFill>
        </p:spPr>
      </p:sp>
      <p:sp>
        <p:nvSpPr>
          <p:cNvPr name="TextBox 11" id="11"/>
          <p:cNvSpPr txBox="true"/>
          <p:nvPr/>
        </p:nvSpPr>
        <p:spPr>
          <a:xfrm rot="0">
            <a:off x="11009376" y="2410335"/>
            <a:ext cx="5522976" cy="1674236"/>
          </a:xfrm>
          <a:prstGeom prst="rect">
            <a:avLst/>
          </a:prstGeom>
        </p:spPr>
        <p:txBody>
          <a:bodyPr anchor="t" rtlCol="false" tIns="0" lIns="0" bIns="0" rIns="0">
            <a:spAutoFit/>
          </a:bodyPr>
          <a:lstStyle/>
          <a:p>
            <a:pPr algn="l">
              <a:lnSpc>
                <a:spcPts val="2672"/>
              </a:lnSpc>
            </a:pPr>
            <a:r>
              <a:rPr lang="en-US" sz="1781" spc="35">
                <a:solidFill>
                  <a:srgbClr val="00B636"/>
                </a:solidFill>
                <a:latin typeface="Lexend Deca"/>
                <a:ea typeface="Lexend Deca"/>
                <a:cs typeface="Lexend Deca"/>
                <a:sym typeface="Lexend Deca"/>
              </a:rPr>
              <a:t>Jadikan </a:t>
            </a:r>
            <a:r>
              <a:rPr lang="en-US" sz="1781" spc="35">
                <a:solidFill>
                  <a:srgbClr val="6B6B6B"/>
                </a:solidFill>
                <a:latin typeface="Lexend Deca"/>
                <a:ea typeface="Lexend Deca"/>
                <a:cs typeface="Lexend Deca"/>
                <a:sym typeface="Lexend Deca"/>
              </a:rPr>
              <a:t>median dan persentil ke-90 waktu pengiriman sebagai </a:t>
            </a:r>
            <a:r>
              <a:rPr lang="en-US" sz="1781" spc="35">
                <a:solidFill>
                  <a:srgbClr val="00B636"/>
                </a:solidFill>
                <a:latin typeface="Lexend Deca"/>
                <a:ea typeface="Lexend Deca"/>
                <a:cs typeface="Lexend Deca"/>
                <a:sym typeface="Lexend Deca"/>
              </a:rPr>
              <a:t>KPI</a:t>
            </a:r>
            <a:r>
              <a:rPr lang="en-US" sz="1781" spc="35">
                <a:solidFill>
                  <a:srgbClr val="6B6B6B"/>
                </a:solidFill>
                <a:latin typeface="Lexend Deca"/>
                <a:ea typeface="Lexend Deca"/>
                <a:cs typeface="Lexend Deca"/>
                <a:sym typeface="Lexend Deca"/>
              </a:rPr>
              <a:t> kurir, karena rata-rata dapat terpengaruh outlier dan tidak menggambarkan pengalaman pengguna yang paling buruk.</a:t>
            </a:r>
          </a:p>
        </p:txBody>
      </p:sp>
      <p:sp>
        <p:nvSpPr>
          <p:cNvPr name="Freeform 12" id="12"/>
          <p:cNvSpPr/>
          <p:nvPr/>
        </p:nvSpPr>
        <p:spPr>
          <a:xfrm flipH="false" flipV="false" rot="0">
            <a:off x="864086" y="4285339"/>
            <a:ext cx="8279914" cy="2153601"/>
          </a:xfrm>
          <a:custGeom>
            <a:avLst/>
            <a:gdLst/>
            <a:ahLst/>
            <a:cxnLst/>
            <a:rect r="r" b="b" t="t" l="l"/>
            <a:pathLst>
              <a:path h="2153601" w="8279914">
                <a:moveTo>
                  <a:pt x="0" y="0"/>
                </a:moveTo>
                <a:lnTo>
                  <a:pt x="8279914" y="0"/>
                </a:lnTo>
                <a:lnTo>
                  <a:pt x="8279914" y="2153601"/>
                </a:lnTo>
                <a:lnTo>
                  <a:pt x="0" y="2153601"/>
                </a:lnTo>
                <a:lnTo>
                  <a:pt x="0" y="0"/>
                </a:lnTo>
                <a:close/>
              </a:path>
            </a:pathLst>
          </a:custGeom>
          <a:blipFill>
            <a:blip r:embed="rId8"/>
            <a:stretch>
              <a:fillRect l="0" t="0" r="0" b="0"/>
            </a:stretch>
          </a:blipFill>
        </p:spPr>
      </p:sp>
      <p:sp>
        <p:nvSpPr>
          <p:cNvPr name="Freeform 13" id="13"/>
          <p:cNvSpPr/>
          <p:nvPr/>
        </p:nvSpPr>
        <p:spPr>
          <a:xfrm flipH="false" flipV="false" rot="0">
            <a:off x="1082842" y="4711687"/>
            <a:ext cx="885962" cy="1289974"/>
          </a:xfrm>
          <a:custGeom>
            <a:avLst/>
            <a:gdLst/>
            <a:ahLst/>
            <a:cxnLst/>
            <a:rect r="r" b="b" t="t" l="l"/>
            <a:pathLst>
              <a:path h="1289974" w="885962">
                <a:moveTo>
                  <a:pt x="0" y="0"/>
                </a:moveTo>
                <a:lnTo>
                  <a:pt x="885962" y="0"/>
                </a:lnTo>
                <a:lnTo>
                  <a:pt x="885962" y="1289974"/>
                </a:lnTo>
                <a:lnTo>
                  <a:pt x="0" y="1289974"/>
                </a:lnTo>
                <a:lnTo>
                  <a:pt x="0" y="0"/>
                </a:lnTo>
                <a:close/>
              </a:path>
            </a:pathLst>
          </a:custGeom>
          <a:blipFill>
            <a:blip r:embed="rId9"/>
            <a:stretch>
              <a:fillRect l="0" t="0" r="0" b="0"/>
            </a:stretch>
          </a:blipFill>
        </p:spPr>
      </p:sp>
      <p:sp>
        <p:nvSpPr>
          <p:cNvPr name="TextBox 14" id="14"/>
          <p:cNvSpPr txBox="true"/>
          <p:nvPr/>
        </p:nvSpPr>
        <p:spPr>
          <a:xfrm rot="0">
            <a:off x="1371600" y="5051496"/>
            <a:ext cx="347472" cy="677783"/>
          </a:xfrm>
          <a:prstGeom prst="rect">
            <a:avLst/>
          </a:prstGeom>
        </p:spPr>
        <p:txBody>
          <a:bodyPr anchor="t" rtlCol="false" tIns="0" lIns="0" bIns="0" rIns="0">
            <a:spAutoFit/>
          </a:bodyPr>
          <a:lstStyle/>
          <a:p>
            <a:pPr algn="ctr">
              <a:lnSpc>
                <a:spcPts val="5395"/>
              </a:lnSpc>
            </a:pPr>
            <a:r>
              <a:rPr lang="en-US" sz="4495" spc="89">
                <a:solidFill>
                  <a:srgbClr val="FFFFFF"/>
                </a:solidFill>
                <a:latin typeface="Lexend Deca"/>
                <a:ea typeface="Lexend Deca"/>
                <a:cs typeface="Lexend Deca"/>
                <a:sym typeface="Lexend Deca"/>
              </a:rPr>
              <a:t>2</a:t>
            </a:r>
          </a:p>
        </p:txBody>
      </p:sp>
      <p:sp>
        <p:nvSpPr>
          <p:cNvPr name="TextBox 15" id="15"/>
          <p:cNvSpPr txBox="true"/>
          <p:nvPr/>
        </p:nvSpPr>
        <p:spPr>
          <a:xfrm rot="0">
            <a:off x="2615184" y="4868816"/>
            <a:ext cx="5449824" cy="1026379"/>
          </a:xfrm>
          <a:prstGeom prst="rect">
            <a:avLst/>
          </a:prstGeom>
        </p:spPr>
        <p:txBody>
          <a:bodyPr anchor="t" rtlCol="false" tIns="0" lIns="0" bIns="0" rIns="0">
            <a:spAutoFit/>
          </a:bodyPr>
          <a:lstStyle/>
          <a:p>
            <a:pPr algn="l">
              <a:lnSpc>
                <a:spcPts val="2785"/>
              </a:lnSpc>
            </a:pPr>
            <a:r>
              <a:rPr lang="en-US" sz="1857" spc="37">
                <a:solidFill>
                  <a:srgbClr val="00B636"/>
                </a:solidFill>
                <a:latin typeface="Lexend Deca"/>
                <a:ea typeface="Lexend Deca"/>
                <a:cs typeface="Lexend Deca"/>
                <a:sym typeface="Lexend Deca"/>
              </a:rPr>
              <a:t>Prioritaskan </a:t>
            </a:r>
            <a:r>
              <a:rPr lang="en-US" sz="1857" spc="37">
                <a:solidFill>
                  <a:srgbClr val="6B6B6B"/>
                </a:solidFill>
                <a:latin typeface="Lexend Deca"/>
                <a:ea typeface="Lexend Deca"/>
                <a:cs typeface="Lexend Deca"/>
                <a:sym typeface="Lexend Deca"/>
              </a:rPr>
              <a:t>eksperimen promosi pada lokasi dan segmen pengguna dengan potensi "CLV" tinggi, bukan hanya volume transaksi.</a:t>
            </a:r>
          </a:p>
        </p:txBody>
      </p:sp>
      <p:sp>
        <p:nvSpPr>
          <p:cNvPr name="Freeform 16" id="16"/>
          <p:cNvSpPr/>
          <p:nvPr/>
        </p:nvSpPr>
        <p:spPr>
          <a:xfrm flipH="false" flipV="false" rot="0">
            <a:off x="9144000" y="4285339"/>
            <a:ext cx="8279914" cy="2153601"/>
          </a:xfrm>
          <a:custGeom>
            <a:avLst/>
            <a:gdLst/>
            <a:ahLst/>
            <a:cxnLst/>
            <a:rect r="r" b="b" t="t" l="l"/>
            <a:pathLst>
              <a:path h="2153601" w="8279914">
                <a:moveTo>
                  <a:pt x="0" y="0"/>
                </a:moveTo>
                <a:lnTo>
                  <a:pt x="8279914" y="0"/>
                </a:lnTo>
                <a:lnTo>
                  <a:pt x="8279914" y="2153601"/>
                </a:lnTo>
                <a:lnTo>
                  <a:pt x="0" y="2153601"/>
                </a:lnTo>
                <a:lnTo>
                  <a:pt x="0" y="0"/>
                </a:lnTo>
                <a:close/>
              </a:path>
            </a:pathLst>
          </a:custGeom>
          <a:blipFill>
            <a:blip r:embed="rId10"/>
            <a:stretch>
              <a:fillRect l="0" t="0" r="0" b="0"/>
            </a:stretch>
          </a:blipFill>
        </p:spPr>
      </p:sp>
      <p:sp>
        <p:nvSpPr>
          <p:cNvPr name="Freeform 17" id="17"/>
          <p:cNvSpPr/>
          <p:nvPr/>
        </p:nvSpPr>
        <p:spPr>
          <a:xfrm flipH="false" flipV="false" rot="0">
            <a:off x="9351818" y="4711687"/>
            <a:ext cx="1104718" cy="1289974"/>
          </a:xfrm>
          <a:custGeom>
            <a:avLst/>
            <a:gdLst/>
            <a:ahLst/>
            <a:cxnLst/>
            <a:rect r="r" b="b" t="t" l="l"/>
            <a:pathLst>
              <a:path h="1289974" w="1104718">
                <a:moveTo>
                  <a:pt x="0" y="0"/>
                </a:moveTo>
                <a:lnTo>
                  <a:pt x="1104718" y="0"/>
                </a:lnTo>
                <a:lnTo>
                  <a:pt x="1104718" y="1289974"/>
                </a:lnTo>
                <a:lnTo>
                  <a:pt x="0" y="1289974"/>
                </a:lnTo>
                <a:lnTo>
                  <a:pt x="0" y="0"/>
                </a:lnTo>
                <a:close/>
              </a:path>
            </a:pathLst>
          </a:custGeom>
          <a:blipFill>
            <a:blip r:embed="rId11"/>
            <a:stretch>
              <a:fillRect l="0" t="0" r="0" b="0"/>
            </a:stretch>
          </a:blipFill>
        </p:spPr>
      </p:sp>
      <p:sp>
        <p:nvSpPr>
          <p:cNvPr name="TextBox 18" id="18"/>
          <p:cNvSpPr txBox="true"/>
          <p:nvPr/>
        </p:nvSpPr>
        <p:spPr>
          <a:xfrm rot="0">
            <a:off x="9784080" y="5051496"/>
            <a:ext cx="347472" cy="677783"/>
          </a:xfrm>
          <a:prstGeom prst="rect">
            <a:avLst/>
          </a:prstGeom>
        </p:spPr>
        <p:txBody>
          <a:bodyPr anchor="t" rtlCol="false" tIns="0" lIns="0" bIns="0" rIns="0">
            <a:spAutoFit/>
          </a:bodyPr>
          <a:lstStyle/>
          <a:p>
            <a:pPr algn="ctr">
              <a:lnSpc>
                <a:spcPts val="5395"/>
              </a:lnSpc>
            </a:pPr>
            <a:r>
              <a:rPr lang="en-US" sz="4495" spc="89">
                <a:solidFill>
                  <a:srgbClr val="FFFFFF"/>
                </a:solidFill>
                <a:latin typeface="Lexend Deca"/>
                <a:ea typeface="Lexend Deca"/>
                <a:cs typeface="Lexend Deca"/>
                <a:sym typeface="Lexend Deca"/>
              </a:rPr>
              <a:t>5</a:t>
            </a:r>
          </a:p>
        </p:txBody>
      </p:sp>
      <p:sp>
        <p:nvSpPr>
          <p:cNvPr name="TextBox 19" id="19"/>
          <p:cNvSpPr txBox="true"/>
          <p:nvPr/>
        </p:nvSpPr>
        <p:spPr>
          <a:xfrm rot="0">
            <a:off x="11009376" y="5047937"/>
            <a:ext cx="5779008" cy="873878"/>
          </a:xfrm>
          <a:prstGeom prst="rect">
            <a:avLst/>
          </a:prstGeom>
        </p:spPr>
        <p:txBody>
          <a:bodyPr anchor="t" rtlCol="false" tIns="0" lIns="0" bIns="0" rIns="0">
            <a:spAutoFit/>
          </a:bodyPr>
          <a:lstStyle/>
          <a:p>
            <a:pPr algn="l">
              <a:lnSpc>
                <a:spcPts val="2333"/>
              </a:lnSpc>
            </a:pPr>
            <a:r>
              <a:rPr lang="en-US" sz="1555" spc="31">
                <a:solidFill>
                  <a:srgbClr val="00B636"/>
                </a:solidFill>
                <a:latin typeface="Lexend Deca"/>
                <a:ea typeface="Lexend Deca"/>
                <a:cs typeface="Lexend Deca"/>
                <a:sym typeface="Lexend Deca"/>
              </a:rPr>
              <a:t>Gunakan </a:t>
            </a:r>
            <a:r>
              <a:rPr lang="en-US" sz="1555" spc="31">
                <a:solidFill>
                  <a:srgbClr val="6B6B6B"/>
                </a:solidFill>
                <a:latin typeface="Lexend Deca"/>
                <a:ea typeface="Lexend Deca"/>
                <a:cs typeface="Lexend Deca"/>
                <a:sym typeface="Lexend Deca"/>
              </a:rPr>
              <a:t>cohort retention untuk menentukan apakah kampanye akuisisi menghasilkan pengguna yang kembali bertransaksi atau hanya sekadar promo-hunter.</a:t>
            </a:r>
          </a:p>
        </p:txBody>
      </p:sp>
      <p:sp>
        <p:nvSpPr>
          <p:cNvPr name="Freeform 20" id="20"/>
          <p:cNvSpPr/>
          <p:nvPr/>
        </p:nvSpPr>
        <p:spPr>
          <a:xfrm flipH="false" flipV="false" rot="0">
            <a:off x="864086" y="6428009"/>
            <a:ext cx="8279914" cy="2153601"/>
          </a:xfrm>
          <a:custGeom>
            <a:avLst/>
            <a:gdLst/>
            <a:ahLst/>
            <a:cxnLst/>
            <a:rect r="r" b="b" t="t" l="l"/>
            <a:pathLst>
              <a:path h="2153601" w="8279914">
                <a:moveTo>
                  <a:pt x="0" y="0"/>
                </a:moveTo>
                <a:lnTo>
                  <a:pt x="8279914" y="0"/>
                </a:lnTo>
                <a:lnTo>
                  <a:pt x="8279914" y="2153601"/>
                </a:lnTo>
                <a:lnTo>
                  <a:pt x="0" y="2153601"/>
                </a:lnTo>
                <a:lnTo>
                  <a:pt x="0" y="0"/>
                </a:lnTo>
                <a:close/>
              </a:path>
            </a:pathLst>
          </a:custGeom>
          <a:blipFill>
            <a:blip r:embed="rId12"/>
            <a:stretch>
              <a:fillRect l="0" t="0" r="0" b="0"/>
            </a:stretch>
          </a:blipFill>
        </p:spPr>
      </p:sp>
      <p:sp>
        <p:nvSpPr>
          <p:cNvPr name="Freeform 21" id="21"/>
          <p:cNvSpPr/>
          <p:nvPr/>
        </p:nvSpPr>
        <p:spPr>
          <a:xfrm flipH="false" flipV="false" rot="0">
            <a:off x="1082842" y="6854356"/>
            <a:ext cx="885962" cy="1289974"/>
          </a:xfrm>
          <a:custGeom>
            <a:avLst/>
            <a:gdLst/>
            <a:ahLst/>
            <a:cxnLst/>
            <a:rect r="r" b="b" t="t" l="l"/>
            <a:pathLst>
              <a:path h="1289974" w="885962">
                <a:moveTo>
                  <a:pt x="0" y="0"/>
                </a:moveTo>
                <a:lnTo>
                  <a:pt x="885962" y="0"/>
                </a:lnTo>
                <a:lnTo>
                  <a:pt x="885962" y="1289974"/>
                </a:lnTo>
                <a:lnTo>
                  <a:pt x="0" y="1289974"/>
                </a:lnTo>
                <a:lnTo>
                  <a:pt x="0" y="0"/>
                </a:lnTo>
                <a:close/>
              </a:path>
            </a:pathLst>
          </a:custGeom>
          <a:blipFill>
            <a:blip r:embed="rId13"/>
            <a:stretch>
              <a:fillRect l="0" t="0" r="0" b="0"/>
            </a:stretch>
          </a:blipFill>
        </p:spPr>
      </p:sp>
      <p:sp>
        <p:nvSpPr>
          <p:cNvPr name="TextBox 22" id="22"/>
          <p:cNvSpPr txBox="true"/>
          <p:nvPr/>
        </p:nvSpPr>
        <p:spPr>
          <a:xfrm rot="0">
            <a:off x="1371600" y="7139757"/>
            <a:ext cx="347472" cy="677783"/>
          </a:xfrm>
          <a:prstGeom prst="rect">
            <a:avLst/>
          </a:prstGeom>
        </p:spPr>
        <p:txBody>
          <a:bodyPr anchor="t" rtlCol="false" tIns="0" lIns="0" bIns="0" rIns="0">
            <a:spAutoFit/>
          </a:bodyPr>
          <a:lstStyle/>
          <a:p>
            <a:pPr algn="ctr">
              <a:lnSpc>
                <a:spcPts val="5395"/>
              </a:lnSpc>
            </a:pPr>
            <a:r>
              <a:rPr lang="en-US" sz="4495" spc="89">
                <a:solidFill>
                  <a:srgbClr val="FFFFFF"/>
                </a:solidFill>
                <a:latin typeface="Lexend Deca"/>
                <a:ea typeface="Lexend Deca"/>
                <a:cs typeface="Lexend Deca"/>
                <a:sym typeface="Lexend Deca"/>
              </a:rPr>
              <a:t>3</a:t>
            </a:r>
          </a:p>
        </p:txBody>
      </p:sp>
      <p:sp>
        <p:nvSpPr>
          <p:cNvPr name="TextBox 23" id="23"/>
          <p:cNvSpPr txBox="true"/>
          <p:nvPr/>
        </p:nvSpPr>
        <p:spPr>
          <a:xfrm rot="0">
            <a:off x="2615184" y="6802739"/>
            <a:ext cx="5779008" cy="1376203"/>
          </a:xfrm>
          <a:prstGeom prst="rect">
            <a:avLst/>
          </a:prstGeom>
        </p:spPr>
        <p:txBody>
          <a:bodyPr anchor="t" rtlCol="false" tIns="0" lIns="0" bIns="0" rIns="0">
            <a:spAutoFit/>
          </a:bodyPr>
          <a:lstStyle/>
          <a:p>
            <a:pPr algn="l">
              <a:lnSpc>
                <a:spcPts val="2785"/>
              </a:lnSpc>
            </a:pPr>
            <a:r>
              <a:rPr lang="en-US" sz="1857" spc="37">
                <a:solidFill>
                  <a:srgbClr val="00B636"/>
                </a:solidFill>
                <a:latin typeface="Lexend Deca"/>
                <a:ea typeface="Lexend Deca"/>
                <a:cs typeface="Lexend Deca"/>
                <a:sym typeface="Lexend Deca"/>
              </a:rPr>
              <a:t>Pastikan </a:t>
            </a:r>
            <a:r>
              <a:rPr lang="en-US" sz="1857" spc="37">
                <a:solidFill>
                  <a:srgbClr val="6B6B6B"/>
                </a:solidFill>
                <a:latin typeface="Lexend Deca"/>
                <a:ea typeface="Lexend Deca"/>
                <a:cs typeface="Lexend Deca"/>
                <a:sym typeface="Lexend Deca"/>
              </a:rPr>
              <a:t>metode pembayaran yang paling banyak digunakan tetap tersedia dan stabil; metode dengan nilai order rata-arta tinggi layak diuji dengan insentif khusus.</a:t>
            </a:r>
          </a:p>
        </p:txBody>
      </p:sp>
      <p:sp>
        <p:nvSpPr>
          <p:cNvPr name="Freeform 24" id="24"/>
          <p:cNvSpPr/>
          <p:nvPr/>
        </p:nvSpPr>
        <p:spPr>
          <a:xfrm flipH="false" flipV="false" rot="0">
            <a:off x="9144000" y="6428009"/>
            <a:ext cx="8279914" cy="2153601"/>
          </a:xfrm>
          <a:custGeom>
            <a:avLst/>
            <a:gdLst/>
            <a:ahLst/>
            <a:cxnLst/>
            <a:rect r="r" b="b" t="t" l="l"/>
            <a:pathLst>
              <a:path h="2153601" w="8279914">
                <a:moveTo>
                  <a:pt x="0" y="0"/>
                </a:moveTo>
                <a:lnTo>
                  <a:pt x="8279914" y="0"/>
                </a:lnTo>
                <a:lnTo>
                  <a:pt x="8279914" y="2153601"/>
                </a:lnTo>
                <a:lnTo>
                  <a:pt x="0" y="2153601"/>
                </a:lnTo>
                <a:lnTo>
                  <a:pt x="0" y="0"/>
                </a:lnTo>
                <a:close/>
              </a:path>
            </a:pathLst>
          </a:custGeom>
          <a:blipFill>
            <a:blip r:embed="rId14"/>
            <a:stretch>
              <a:fillRect l="0" t="0" r="0" b="0"/>
            </a:stretch>
          </a:blipFill>
        </p:spPr>
      </p:sp>
      <p:sp>
        <p:nvSpPr>
          <p:cNvPr name="Freeform 25" id="25"/>
          <p:cNvSpPr/>
          <p:nvPr/>
        </p:nvSpPr>
        <p:spPr>
          <a:xfrm flipH="false" flipV="false" rot="0">
            <a:off x="9351818" y="6854356"/>
            <a:ext cx="1104718" cy="1289974"/>
          </a:xfrm>
          <a:custGeom>
            <a:avLst/>
            <a:gdLst/>
            <a:ahLst/>
            <a:cxnLst/>
            <a:rect r="r" b="b" t="t" l="l"/>
            <a:pathLst>
              <a:path h="1289974" w="1104718">
                <a:moveTo>
                  <a:pt x="0" y="0"/>
                </a:moveTo>
                <a:lnTo>
                  <a:pt x="1104718" y="0"/>
                </a:lnTo>
                <a:lnTo>
                  <a:pt x="1104718" y="1289974"/>
                </a:lnTo>
                <a:lnTo>
                  <a:pt x="0" y="1289974"/>
                </a:lnTo>
                <a:lnTo>
                  <a:pt x="0" y="0"/>
                </a:lnTo>
                <a:close/>
              </a:path>
            </a:pathLst>
          </a:custGeom>
          <a:blipFill>
            <a:blip r:embed="rId15"/>
            <a:stretch>
              <a:fillRect l="0" t="0" r="0" b="0"/>
            </a:stretch>
          </a:blipFill>
        </p:spPr>
      </p:sp>
      <p:sp>
        <p:nvSpPr>
          <p:cNvPr name="TextBox 26" id="26"/>
          <p:cNvSpPr txBox="true"/>
          <p:nvPr/>
        </p:nvSpPr>
        <p:spPr>
          <a:xfrm rot="0">
            <a:off x="11009376" y="6823313"/>
            <a:ext cx="5449824" cy="1376203"/>
          </a:xfrm>
          <a:prstGeom prst="rect">
            <a:avLst/>
          </a:prstGeom>
        </p:spPr>
        <p:txBody>
          <a:bodyPr anchor="t" rtlCol="false" tIns="0" lIns="0" bIns="0" rIns="0">
            <a:spAutoFit/>
          </a:bodyPr>
          <a:lstStyle/>
          <a:p>
            <a:pPr algn="l">
              <a:lnSpc>
                <a:spcPts val="2785"/>
              </a:lnSpc>
            </a:pPr>
            <a:r>
              <a:rPr lang="en-US" sz="1857" spc="37">
                <a:solidFill>
                  <a:srgbClr val="00B636"/>
                </a:solidFill>
                <a:latin typeface="Lexend Deca"/>
                <a:ea typeface="Lexend Deca"/>
                <a:cs typeface="Lexend Deca"/>
                <a:sym typeface="Lexend Deca"/>
              </a:rPr>
              <a:t>Hasil </a:t>
            </a:r>
            <a:r>
              <a:rPr lang="en-US" sz="1857" spc="37">
                <a:solidFill>
                  <a:srgbClr val="6B6B6B"/>
                </a:solidFill>
                <a:latin typeface="Lexend Deca"/>
                <a:ea typeface="Lexend Deca"/>
                <a:cs typeface="Lexend Deca"/>
                <a:sym typeface="Lexend Deca"/>
              </a:rPr>
              <a:t>analisis ini bersifat deskriptif dan observasional. Keputusan bisnis sebaiknya dikonfirmasi dengan eksperimen A/B, margin kontribusi, dan biaya operasional.</a:t>
            </a:r>
          </a:p>
        </p:txBody>
      </p:sp>
      <p:sp>
        <p:nvSpPr>
          <p:cNvPr name="TextBox 27" id="27"/>
          <p:cNvSpPr txBox="true"/>
          <p:nvPr/>
        </p:nvSpPr>
        <p:spPr>
          <a:xfrm rot="0">
            <a:off x="1408176" y="2850078"/>
            <a:ext cx="274320" cy="677783"/>
          </a:xfrm>
          <a:prstGeom prst="rect">
            <a:avLst/>
          </a:prstGeom>
        </p:spPr>
        <p:txBody>
          <a:bodyPr anchor="t" rtlCol="false" tIns="0" lIns="0" bIns="0" rIns="0">
            <a:spAutoFit/>
          </a:bodyPr>
          <a:lstStyle/>
          <a:p>
            <a:pPr algn="ctr">
              <a:lnSpc>
                <a:spcPts val="5395"/>
              </a:lnSpc>
            </a:pPr>
            <a:r>
              <a:rPr lang="en-US" sz="4495" spc="89">
                <a:solidFill>
                  <a:srgbClr val="FFFFFF"/>
                </a:solidFill>
                <a:latin typeface="Lexend Deca"/>
                <a:ea typeface="Lexend Deca"/>
                <a:cs typeface="Lexend Deca"/>
                <a:sym typeface="Lexend Deca"/>
              </a:rPr>
              <a:t>1</a:t>
            </a:r>
          </a:p>
        </p:txBody>
      </p:sp>
      <p:sp>
        <p:nvSpPr>
          <p:cNvPr name="TextBox 28" id="28"/>
          <p:cNvSpPr txBox="true"/>
          <p:nvPr/>
        </p:nvSpPr>
        <p:spPr>
          <a:xfrm rot="0">
            <a:off x="9747504" y="2850078"/>
            <a:ext cx="365760" cy="677783"/>
          </a:xfrm>
          <a:prstGeom prst="rect">
            <a:avLst/>
          </a:prstGeom>
        </p:spPr>
        <p:txBody>
          <a:bodyPr anchor="t" rtlCol="false" tIns="0" lIns="0" bIns="0" rIns="0">
            <a:spAutoFit/>
          </a:bodyPr>
          <a:lstStyle/>
          <a:p>
            <a:pPr algn="ctr">
              <a:lnSpc>
                <a:spcPts val="5395"/>
              </a:lnSpc>
            </a:pPr>
            <a:r>
              <a:rPr lang="en-US" sz="4495" spc="89">
                <a:solidFill>
                  <a:srgbClr val="FFFFFF"/>
                </a:solidFill>
                <a:latin typeface="Lexend Deca"/>
                <a:ea typeface="Lexend Deca"/>
                <a:cs typeface="Lexend Deca"/>
                <a:sym typeface="Lexend Deca"/>
              </a:rPr>
              <a:t>4</a:t>
            </a:r>
          </a:p>
        </p:txBody>
      </p:sp>
      <p:sp>
        <p:nvSpPr>
          <p:cNvPr name="TextBox 29" id="29"/>
          <p:cNvSpPr txBox="true"/>
          <p:nvPr/>
        </p:nvSpPr>
        <p:spPr>
          <a:xfrm rot="0">
            <a:off x="9747504" y="7160331"/>
            <a:ext cx="365760" cy="677783"/>
          </a:xfrm>
          <a:prstGeom prst="rect">
            <a:avLst/>
          </a:prstGeom>
        </p:spPr>
        <p:txBody>
          <a:bodyPr anchor="t" rtlCol="false" tIns="0" lIns="0" bIns="0" rIns="0">
            <a:spAutoFit/>
          </a:bodyPr>
          <a:lstStyle/>
          <a:p>
            <a:pPr algn="ctr">
              <a:lnSpc>
                <a:spcPts val="5395"/>
              </a:lnSpc>
            </a:pPr>
            <a:r>
              <a:rPr lang="en-US" sz="4495" spc="89">
                <a:solidFill>
                  <a:srgbClr val="FFFFFF"/>
                </a:solidFill>
                <a:latin typeface="Lexend Deca"/>
                <a:ea typeface="Lexend Deca"/>
                <a:cs typeface="Lexend Deca"/>
                <a:sym typeface="Lexend Deca"/>
              </a:rPr>
              <a:t>6</a:t>
            </a:r>
          </a:p>
        </p:txBody>
      </p:sp>
      <p:sp>
        <p:nvSpPr>
          <p:cNvPr name="TextBox 30" id="30"/>
          <p:cNvSpPr txBox="true"/>
          <p:nvPr/>
        </p:nvSpPr>
        <p:spPr>
          <a:xfrm rot="0">
            <a:off x="932688" y="454455"/>
            <a:ext cx="2450592" cy="256569"/>
          </a:xfrm>
          <a:prstGeom prst="rect">
            <a:avLst/>
          </a:prstGeom>
        </p:spPr>
        <p:txBody>
          <a:bodyPr anchor="t" rtlCol="false" tIns="0" lIns="0" bIns="0" rIns="0">
            <a:spAutoFit/>
          </a:bodyPr>
          <a:lstStyle/>
          <a:p>
            <a:pPr algn="l">
              <a:lnSpc>
                <a:spcPts val="2159"/>
              </a:lnSpc>
            </a:pPr>
            <a:r>
              <a:rPr lang="en-US" sz="1439" spc="28">
                <a:solidFill>
                  <a:srgbClr val="00B636"/>
                </a:solidFill>
                <a:latin typeface="Lexend Deca"/>
                <a:ea typeface="Lexend Deca"/>
                <a:cs typeface="Lexend Deca"/>
                <a:sym typeface="Lexend Deca"/>
              </a:rPr>
              <a:t>10 • RECOMMENDATION</a:t>
            </a:r>
          </a:p>
        </p:txBody>
      </p:sp>
      <p:grpSp>
        <p:nvGrpSpPr>
          <p:cNvPr name="Group 31" id="31"/>
          <p:cNvGrpSpPr/>
          <p:nvPr/>
        </p:nvGrpSpPr>
        <p:grpSpPr>
          <a:xfrm rot="0">
            <a:off x="866775" y="8715375"/>
            <a:ext cx="16554450" cy="1381125"/>
            <a:chOff x="0" y="0"/>
            <a:chExt cx="22072600" cy="1841500"/>
          </a:xfrm>
        </p:grpSpPr>
        <p:sp>
          <p:nvSpPr>
            <p:cNvPr name="Freeform 32" id="32"/>
            <p:cNvSpPr/>
            <p:nvPr/>
          </p:nvSpPr>
          <p:spPr>
            <a:xfrm flipH="false" flipV="false" rot="0">
              <a:off x="0" y="0"/>
              <a:ext cx="22072600" cy="1841500"/>
            </a:xfrm>
            <a:custGeom>
              <a:avLst/>
              <a:gdLst/>
              <a:ahLst/>
              <a:cxnLst/>
              <a:rect r="r" b="b" t="t" l="l"/>
              <a:pathLst>
                <a:path h="1841500" w="22072600">
                  <a:moveTo>
                    <a:pt x="177800" y="0"/>
                  </a:moveTo>
                  <a:lnTo>
                    <a:pt x="21894800" y="0"/>
                  </a:lnTo>
                  <a:cubicBezTo>
                    <a:pt x="21992996" y="0"/>
                    <a:pt x="22072600" y="79604"/>
                    <a:pt x="22072600" y="177800"/>
                  </a:cubicBezTo>
                  <a:lnTo>
                    <a:pt x="22072600" y="1663700"/>
                  </a:lnTo>
                  <a:cubicBezTo>
                    <a:pt x="22072600" y="1761896"/>
                    <a:pt x="21992996" y="1841500"/>
                    <a:pt x="21894800" y="1841500"/>
                  </a:cubicBezTo>
                  <a:lnTo>
                    <a:pt x="177800" y="1841500"/>
                  </a:lnTo>
                  <a:cubicBezTo>
                    <a:pt x="79604" y="1841500"/>
                    <a:pt x="0" y="1761896"/>
                    <a:pt x="0" y="1663700"/>
                  </a:cubicBezTo>
                  <a:lnTo>
                    <a:pt x="0" y="177800"/>
                  </a:lnTo>
                  <a:cubicBezTo>
                    <a:pt x="0" y="79604"/>
                    <a:pt x="79604" y="0"/>
                    <a:pt x="177800" y="0"/>
                  </a:cubicBezTo>
                  <a:close/>
                </a:path>
              </a:pathLst>
            </a:custGeom>
            <a:solidFill>
              <a:srgbClr val="EFFAF1"/>
            </a:solidFill>
            <a:ln w="19050" cap="sq">
              <a:solidFill>
                <a:srgbClr val="B7E6C0"/>
              </a:solidFill>
              <a:prstDash val="solid"/>
              <a:miter/>
            </a:ln>
          </p:spPr>
        </p:sp>
        <p:sp>
          <p:nvSpPr>
            <p:cNvPr name="TextBox 33" id="33"/>
            <p:cNvSpPr txBox="true"/>
            <p:nvPr/>
          </p:nvSpPr>
          <p:spPr>
            <a:xfrm>
              <a:off x="0" y="-38100"/>
              <a:ext cx="22072600" cy="1879600"/>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1152525" y="8810625"/>
            <a:ext cx="6667500" cy="273685"/>
          </a:xfrm>
          <a:prstGeom prst="rect">
            <a:avLst/>
          </a:prstGeom>
        </p:spPr>
        <p:txBody>
          <a:bodyPr anchor="t" rtlCol="false" tIns="0" lIns="0" bIns="0" rIns="0">
            <a:spAutoFit/>
          </a:bodyPr>
          <a:lstStyle/>
          <a:p>
            <a:pPr algn="l">
              <a:lnSpc>
                <a:spcPts val="2239"/>
              </a:lnSpc>
            </a:pPr>
            <a:r>
              <a:rPr lang="en-US" sz="1599">
                <a:solidFill>
                  <a:srgbClr val="00B636"/>
                </a:solidFill>
                <a:latin typeface="Lexend Deca"/>
                <a:ea typeface="Lexend Deca"/>
                <a:cs typeface="Lexend Deca"/>
                <a:sym typeface="Lexend Deca"/>
              </a:rPr>
              <a:t>ACTION PLAN STAKEHOLDER</a:t>
            </a:r>
          </a:p>
        </p:txBody>
      </p:sp>
      <p:sp>
        <p:nvSpPr>
          <p:cNvPr name="TextBox 35" id="35"/>
          <p:cNvSpPr txBox="true"/>
          <p:nvPr/>
        </p:nvSpPr>
        <p:spPr>
          <a:xfrm rot="0">
            <a:off x="1152525" y="9182100"/>
            <a:ext cx="7334250" cy="184328"/>
          </a:xfrm>
          <a:prstGeom prst="rect">
            <a:avLst/>
          </a:prstGeom>
        </p:spPr>
        <p:txBody>
          <a:bodyPr anchor="t" rtlCol="false" tIns="0" lIns="0" bIns="0" rIns="0">
            <a:spAutoFit/>
          </a:bodyPr>
          <a:lstStyle/>
          <a:p>
            <a:pPr algn="l">
              <a:lnSpc>
                <a:spcPts val="1557"/>
              </a:lnSpc>
            </a:pPr>
            <a:r>
              <a:rPr lang="en-US" sz="1320">
                <a:solidFill>
                  <a:srgbClr val="3F4A42"/>
                </a:solidFill>
                <a:latin typeface="Lexend Deca"/>
                <a:ea typeface="Lexend Deca"/>
                <a:cs typeface="Lexend Deca"/>
                <a:sym typeface="Lexend Deca"/>
              </a:rPr>
              <a:t>1. Tetapkan owner dan timeline untuk setiap inisiatif.</a:t>
            </a:r>
          </a:p>
        </p:txBody>
      </p:sp>
      <p:sp>
        <p:nvSpPr>
          <p:cNvPr name="TextBox 36" id="36"/>
          <p:cNvSpPr txBox="true"/>
          <p:nvPr/>
        </p:nvSpPr>
        <p:spPr>
          <a:xfrm rot="0">
            <a:off x="1152525" y="9436100"/>
            <a:ext cx="7334250" cy="374828"/>
          </a:xfrm>
          <a:prstGeom prst="rect">
            <a:avLst/>
          </a:prstGeom>
        </p:spPr>
        <p:txBody>
          <a:bodyPr anchor="t" rtlCol="false" tIns="0" lIns="0" bIns="0" rIns="0">
            <a:spAutoFit/>
          </a:bodyPr>
          <a:lstStyle/>
          <a:p>
            <a:pPr algn="l">
              <a:lnSpc>
                <a:spcPts val="1557"/>
              </a:lnSpc>
            </a:pPr>
            <a:r>
              <a:rPr lang="en-US" sz="1320">
                <a:solidFill>
                  <a:srgbClr val="3F4A42"/>
                </a:solidFill>
                <a:latin typeface="Lexend Deca"/>
                <a:ea typeface="Lexend Deca"/>
                <a:cs typeface="Lexend Deca"/>
                <a:sym typeface="Lexend Deca"/>
              </a:rPr>
              <a:t>2. Prioritaskan eksperimen berdasarkan potensi net_revenue, CLV, dan dampak operasional.</a:t>
            </a:r>
          </a:p>
        </p:txBody>
      </p:sp>
      <p:sp>
        <p:nvSpPr>
          <p:cNvPr name="TextBox 37" id="37"/>
          <p:cNvSpPr txBox="true"/>
          <p:nvPr/>
        </p:nvSpPr>
        <p:spPr>
          <a:xfrm rot="0">
            <a:off x="1152525" y="9801225"/>
            <a:ext cx="7334250" cy="184328"/>
          </a:xfrm>
          <a:prstGeom prst="rect">
            <a:avLst/>
          </a:prstGeom>
        </p:spPr>
        <p:txBody>
          <a:bodyPr anchor="t" rtlCol="false" tIns="0" lIns="0" bIns="0" rIns="0">
            <a:spAutoFit/>
          </a:bodyPr>
          <a:lstStyle/>
          <a:p>
            <a:pPr algn="l">
              <a:lnSpc>
                <a:spcPts val="1557"/>
              </a:lnSpc>
            </a:pPr>
            <a:r>
              <a:rPr lang="en-US" sz="1320">
                <a:solidFill>
                  <a:srgbClr val="3F4A42"/>
                </a:solidFill>
                <a:latin typeface="Lexend Deca"/>
                <a:ea typeface="Lexend Deca"/>
                <a:cs typeface="Lexend Deca"/>
                <a:sym typeface="Lexend Deca"/>
              </a:rPr>
              <a:t>3. Definisikan KPI dan baseline sebelum implementasi.</a:t>
            </a:r>
          </a:p>
        </p:txBody>
      </p:sp>
      <p:sp>
        <p:nvSpPr>
          <p:cNvPr name="TextBox 38" id="38"/>
          <p:cNvSpPr txBox="true"/>
          <p:nvPr/>
        </p:nvSpPr>
        <p:spPr>
          <a:xfrm rot="0">
            <a:off x="9334500" y="9182100"/>
            <a:ext cx="7810500" cy="184328"/>
          </a:xfrm>
          <a:prstGeom prst="rect">
            <a:avLst/>
          </a:prstGeom>
        </p:spPr>
        <p:txBody>
          <a:bodyPr anchor="t" rtlCol="false" tIns="0" lIns="0" bIns="0" rIns="0">
            <a:spAutoFit/>
          </a:bodyPr>
          <a:lstStyle/>
          <a:p>
            <a:pPr algn="l">
              <a:lnSpc>
                <a:spcPts val="1557"/>
              </a:lnSpc>
            </a:pPr>
            <a:r>
              <a:rPr lang="en-US" sz="1320">
                <a:solidFill>
                  <a:srgbClr val="3F4A42"/>
                </a:solidFill>
                <a:latin typeface="Lexend Deca"/>
                <a:ea typeface="Lexend Deca"/>
                <a:cs typeface="Lexend Deca"/>
                <a:sym typeface="Lexend Deca"/>
              </a:rPr>
              <a:t>4. Validasi hasil melalui eksperimen A/B, margin kontribusi, dan biaya operasional.</a:t>
            </a:r>
          </a:p>
        </p:txBody>
      </p:sp>
      <p:sp>
        <p:nvSpPr>
          <p:cNvPr name="TextBox 39" id="39"/>
          <p:cNvSpPr txBox="true"/>
          <p:nvPr/>
        </p:nvSpPr>
        <p:spPr>
          <a:xfrm rot="0">
            <a:off x="9334500" y="9436100"/>
            <a:ext cx="7810500" cy="184328"/>
          </a:xfrm>
          <a:prstGeom prst="rect">
            <a:avLst/>
          </a:prstGeom>
        </p:spPr>
        <p:txBody>
          <a:bodyPr anchor="t" rtlCol="false" tIns="0" lIns="0" bIns="0" rIns="0">
            <a:spAutoFit/>
          </a:bodyPr>
          <a:lstStyle/>
          <a:p>
            <a:pPr algn="l">
              <a:lnSpc>
                <a:spcPts val="1557"/>
              </a:lnSpc>
            </a:pPr>
            <a:r>
              <a:rPr lang="en-US" sz="1320">
                <a:solidFill>
                  <a:srgbClr val="3F4A42"/>
                </a:solidFill>
                <a:latin typeface="Lexend Deca"/>
                <a:ea typeface="Lexend Deca"/>
                <a:cs typeface="Lexend Deca"/>
                <a:sym typeface="Lexend Deca"/>
              </a:rPr>
              <a:t>5. Review hasil secara berkala dan scale up hanya pada inisiatif yang terbukti berdampak.</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1096625" y="0"/>
            <a:ext cx="7191375" cy="5572125"/>
          </a:xfrm>
          <a:custGeom>
            <a:avLst/>
            <a:gdLst/>
            <a:ahLst/>
            <a:cxnLst/>
            <a:rect r="r" b="b" t="t" l="l"/>
            <a:pathLst>
              <a:path h="5572125" w="7191375">
                <a:moveTo>
                  <a:pt x="0" y="0"/>
                </a:moveTo>
                <a:lnTo>
                  <a:pt x="7191375" y="0"/>
                </a:lnTo>
                <a:lnTo>
                  <a:pt x="7191375" y="5572125"/>
                </a:lnTo>
                <a:lnTo>
                  <a:pt x="0" y="5572125"/>
                </a:lnTo>
                <a:lnTo>
                  <a:pt x="0" y="0"/>
                </a:lnTo>
                <a:close/>
              </a:path>
            </a:pathLst>
          </a:custGeom>
          <a:blipFill>
            <a:blip r:embed="rId3"/>
            <a:stretch>
              <a:fillRect l="0" t="0" r="0" b="0"/>
            </a:stretch>
          </a:blipFill>
        </p:spPr>
      </p:sp>
      <p:sp>
        <p:nvSpPr>
          <p:cNvPr name="Freeform 4" id="4"/>
          <p:cNvSpPr/>
          <p:nvPr/>
        </p:nvSpPr>
        <p:spPr>
          <a:xfrm flipH="false" flipV="false" rot="0">
            <a:off x="0" y="8143875"/>
            <a:ext cx="5448300" cy="2143125"/>
          </a:xfrm>
          <a:custGeom>
            <a:avLst/>
            <a:gdLst/>
            <a:ahLst/>
            <a:cxnLst/>
            <a:rect r="r" b="b" t="t" l="l"/>
            <a:pathLst>
              <a:path h="2143125" w="5448300">
                <a:moveTo>
                  <a:pt x="0" y="0"/>
                </a:moveTo>
                <a:lnTo>
                  <a:pt x="5448300" y="0"/>
                </a:lnTo>
                <a:lnTo>
                  <a:pt x="5448300" y="2143125"/>
                </a:lnTo>
                <a:lnTo>
                  <a:pt x="0" y="2143125"/>
                </a:lnTo>
                <a:lnTo>
                  <a:pt x="0" y="0"/>
                </a:lnTo>
                <a:close/>
              </a:path>
            </a:pathLst>
          </a:custGeom>
          <a:blipFill>
            <a:blip r:embed="rId4"/>
            <a:stretch>
              <a:fillRect l="0" t="0" r="0" b="0"/>
            </a:stretch>
          </a:blipFill>
        </p:spPr>
      </p:sp>
      <p:sp>
        <p:nvSpPr>
          <p:cNvPr name="Freeform 5" id="5"/>
          <p:cNvSpPr/>
          <p:nvPr/>
        </p:nvSpPr>
        <p:spPr>
          <a:xfrm flipH="false" flipV="false" rot="0">
            <a:off x="6743700" y="9210675"/>
            <a:ext cx="2190750" cy="1076325"/>
          </a:xfrm>
          <a:custGeom>
            <a:avLst/>
            <a:gdLst/>
            <a:ahLst/>
            <a:cxnLst/>
            <a:rect r="r" b="b" t="t" l="l"/>
            <a:pathLst>
              <a:path h="1076325" w="2190750">
                <a:moveTo>
                  <a:pt x="0" y="0"/>
                </a:moveTo>
                <a:lnTo>
                  <a:pt x="2190750" y="0"/>
                </a:lnTo>
                <a:lnTo>
                  <a:pt x="2190750" y="1076325"/>
                </a:lnTo>
                <a:lnTo>
                  <a:pt x="0" y="1076325"/>
                </a:lnTo>
                <a:lnTo>
                  <a:pt x="0" y="0"/>
                </a:lnTo>
                <a:close/>
              </a:path>
            </a:pathLst>
          </a:custGeom>
          <a:blipFill>
            <a:blip r:embed="rId5"/>
            <a:stretch>
              <a:fillRect l="0" t="0" r="0" b="0"/>
            </a:stretch>
          </a:blipFill>
        </p:spPr>
      </p:sp>
      <p:sp>
        <p:nvSpPr>
          <p:cNvPr name="Freeform 6" id="6"/>
          <p:cNvSpPr/>
          <p:nvPr/>
        </p:nvSpPr>
        <p:spPr>
          <a:xfrm flipH="false" flipV="false" rot="0">
            <a:off x="16325850" y="1285875"/>
            <a:ext cx="1752600" cy="1504950"/>
          </a:xfrm>
          <a:custGeom>
            <a:avLst/>
            <a:gdLst/>
            <a:ahLst/>
            <a:cxnLst/>
            <a:rect r="r" b="b" t="t" l="l"/>
            <a:pathLst>
              <a:path h="1504950" w="1752600">
                <a:moveTo>
                  <a:pt x="0" y="0"/>
                </a:moveTo>
                <a:lnTo>
                  <a:pt x="1752600" y="0"/>
                </a:lnTo>
                <a:lnTo>
                  <a:pt x="1752600" y="1504950"/>
                </a:lnTo>
                <a:lnTo>
                  <a:pt x="0" y="1504950"/>
                </a:lnTo>
                <a:lnTo>
                  <a:pt x="0" y="0"/>
                </a:lnTo>
                <a:close/>
              </a:path>
            </a:pathLst>
          </a:custGeom>
          <a:blipFill>
            <a:blip r:embed="rId6"/>
            <a:stretch>
              <a:fillRect l="0" t="0" r="0" b="0"/>
            </a:stretch>
          </a:blipFill>
        </p:spPr>
      </p:sp>
      <p:sp>
        <p:nvSpPr>
          <p:cNvPr name="TextBox 7" id="7"/>
          <p:cNvSpPr txBox="true"/>
          <p:nvPr/>
        </p:nvSpPr>
        <p:spPr>
          <a:xfrm rot="0">
            <a:off x="804672" y="722090"/>
            <a:ext cx="3255264" cy="707707"/>
          </a:xfrm>
          <a:prstGeom prst="rect">
            <a:avLst/>
          </a:prstGeom>
        </p:spPr>
        <p:txBody>
          <a:bodyPr anchor="t" rtlCol="false" tIns="0" lIns="0" bIns="0" rIns="0">
            <a:spAutoFit/>
          </a:bodyPr>
          <a:lstStyle/>
          <a:p>
            <a:pPr algn="l">
              <a:lnSpc>
                <a:spcPts val="5362"/>
              </a:lnSpc>
            </a:pPr>
            <a:r>
              <a:rPr lang="en-US" sz="5362" spc="-107">
                <a:solidFill>
                  <a:srgbClr val="00A837"/>
                </a:solidFill>
                <a:latin typeface="Nunito Sans"/>
                <a:ea typeface="Nunito Sans"/>
                <a:cs typeface="Nunito Sans"/>
                <a:sym typeface="Nunito Sans"/>
              </a:rPr>
              <a:t>tokopedia</a:t>
            </a:r>
          </a:p>
        </p:txBody>
      </p:sp>
      <p:sp>
        <p:nvSpPr>
          <p:cNvPr name="TextBox 8" id="8"/>
          <p:cNvSpPr txBox="true"/>
          <p:nvPr/>
        </p:nvSpPr>
        <p:spPr>
          <a:xfrm rot="0">
            <a:off x="877824" y="3284288"/>
            <a:ext cx="8485632" cy="1470144"/>
          </a:xfrm>
          <a:prstGeom prst="rect">
            <a:avLst/>
          </a:prstGeom>
        </p:spPr>
        <p:txBody>
          <a:bodyPr anchor="t" rtlCol="false" tIns="0" lIns="0" bIns="0" rIns="0">
            <a:spAutoFit/>
          </a:bodyPr>
          <a:lstStyle/>
          <a:p>
            <a:pPr algn="l">
              <a:lnSpc>
                <a:spcPts val="11004"/>
              </a:lnSpc>
            </a:pPr>
            <a:r>
              <a:rPr lang="en-US" b="true" sz="11004" spc="-220">
                <a:solidFill>
                  <a:srgbClr val="00A837"/>
                </a:solidFill>
                <a:latin typeface="Nunito Sans Bold"/>
                <a:ea typeface="Nunito Sans Bold"/>
                <a:cs typeface="Nunito Sans Bold"/>
                <a:sym typeface="Nunito Sans Bold"/>
              </a:rPr>
              <a:t>Terima Kasih</a:t>
            </a:r>
          </a:p>
        </p:txBody>
      </p:sp>
      <p:sp>
        <p:nvSpPr>
          <p:cNvPr name="Freeform 9" id="9"/>
          <p:cNvSpPr/>
          <p:nvPr/>
        </p:nvSpPr>
        <p:spPr>
          <a:xfrm flipH="false" flipV="false" rot="0">
            <a:off x="866775" y="4924425"/>
            <a:ext cx="1971675" cy="219075"/>
          </a:xfrm>
          <a:custGeom>
            <a:avLst/>
            <a:gdLst/>
            <a:ahLst/>
            <a:cxnLst/>
            <a:rect r="r" b="b" t="t" l="l"/>
            <a:pathLst>
              <a:path h="219075" w="1971675">
                <a:moveTo>
                  <a:pt x="0" y="0"/>
                </a:moveTo>
                <a:lnTo>
                  <a:pt x="1971675" y="0"/>
                </a:lnTo>
                <a:lnTo>
                  <a:pt x="1971675" y="219075"/>
                </a:lnTo>
                <a:lnTo>
                  <a:pt x="0" y="219075"/>
                </a:lnTo>
                <a:lnTo>
                  <a:pt x="0" y="0"/>
                </a:lnTo>
                <a:close/>
              </a:path>
            </a:pathLst>
          </a:custGeom>
          <a:blipFill>
            <a:blip r:embed="rId7"/>
            <a:stretch>
              <a:fillRect l="0" t="0" r="0" b="0"/>
            </a:stretch>
          </a:blipFill>
        </p:spPr>
      </p:sp>
      <p:sp>
        <p:nvSpPr>
          <p:cNvPr name="TextBox 10" id="10"/>
          <p:cNvSpPr txBox="true"/>
          <p:nvPr/>
        </p:nvSpPr>
        <p:spPr>
          <a:xfrm rot="0">
            <a:off x="1554480" y="6846438"/>
            <a:ext cx="1481328" cy="660157"/>
          </a:xfrm>
          <a:prstGeom prst="rect">
            <a:avLst/>
          </a:prstGeom>
        </p:spPr>
        <p:txBody>
          <a:bodyPr anchor="t" rtlCol="false" tIns="0" lIns="0" bIns="0" rIns="0">
            <a:spAutoFit/>
          </a:bodyPr>
          <a:lstStyle/>
          <a:p>
            <a:pPr algn="ctr">
              <a:lnSpc>
                <a:spcPts val="4990"/>
              </a:lnSpc>
            </a:pPr>
            <a:r>
              <a:rPr lang="en-US" sz="4990" spc="-99">
                <a:solidFill>
                  <a:srgbClr val="FFFFFF"/>
                </a:solidFill>
                <a:latin typeface="Nunito Sans"/>
                <a:ea typeface="Nunito Sans"/>
                <a:cs typeface="Nunito Sans"/>
                <a:sym typeface="Nunito Sans"/>
              </a:rPr>
              <a:t>Q&amp;A</a:t>
            </a:r>
          </a:p>
        </p:txBody>
      </p:sp>
      <p:sp>
        <p:nvSpPr>
          <p:cNvPr name="Freeform 11" id="11"/>
          <p:cNvSpPr/>
          <p:nvPr/>
        </p:nvSpPr>
        <p:spPr>
          <a:xfrm flipH="false" flipV="false" rot="0">
            <a:off x="11828663" y="3429000"/>
            <a:ext cx="4431899" cy="5143500"/>
          </a:xfrm>
          <a:custGeom>
            <a:avLst/>
            <a:gdLst/>
            <a:ahLst/>
            <a:cxnLst/>
            <a:rect r="r" b="b" t="t" l="l"/>
            <a:pathLst>
              <a:path h="5143500" w="4431899">
                <a:moveTo>
                  <a:pt x="0" y="0"/>
                </a:moveTo>
                <a:lnTo>
                  <a:pt x="4431899" y="0"/>
                </a:lnTo>
                <a:lnTo>
                  <a:pt x="4431899" y="5143500"/>
                </a:lnTo>
                <a:lnTo>
                  <a:pt x="0" y="5143500"/>
                </a:lnTo>
                <a:lnTo>
                  <a:pt x="0" y="0"/>
                </a:lnTo>
                <a:close/>
              </a:path>
            </a:pathLst>
          </a:custGeom>
          <a:blipFill>
            <a:blip r:embed="rId8"/>
            <a:stretch>
              <a:fillRect l="-15774" t="-15048" r="-12112" b="-18203"/>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DAHVKfh6ob8</dc:identifier>
  <dcterms:modified xsi:type="dcterms:W3CDTF">2011-08-01T06:04:30Z</dcterms:modified>
  <cp:revision>1</cp:revision>
  <dc:title>Capstone Project Module 2 - Tokopedia (Firman Christian - JCDSAHSK-006)</dc:title>
</cp:coreProperties>
</file>